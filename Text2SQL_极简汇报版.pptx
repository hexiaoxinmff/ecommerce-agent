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731520"/>
            <a:ext cx="109728" cy="5074920"/>
          </a:xfrm>
          <a:prstGeom prst="rect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078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263EB"/>
                </a:solidFill>
              </a:rPr>
              <a:t>Text2SQL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32688" y="1572768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</a:rPr>
              <a:t>基于 Text2SQL 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</a:rPr>
              <a:t>电商智能数据分析 Agent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50976" y="32461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F7278"/>
                </a:solidFill>
              </a:rPr>
              <a:t>从自然语言，到真实业务查询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32688" y="3895344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EBE7DE"/>
          </a:solidFill>
          <a:ln w="12700">
            <a:solidFill>
              <a:srgbClr val="EBE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396849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1D1F"/>
                </a:solidFill>
              </a:rPr>
              <a:t>极简汇报版 · v1.1 Business Runtime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0976" y="4681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A7AB"/>
                </a:solidFill>
              </a:rPr>
              <a:t>核心主线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4974336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自然语言 → Agent → SQL → 真实数据库 → 结果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263EB"/>
                </a:solidFill>
              </a:rPr>
              <a:t>01 · WHY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D1F"/>
                </a:solidFill>
              </a:rPr>
              <a:t>业务问题，不应该从 SQL 开始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278"/>
                </a:solidFill>
              </a:rPr>
              <a:t>让不会 SQL 的业务人员，也能直接查询真实结构化数据。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5216" y="18745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03911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① 不会写 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395728"/>
            <a:ext cx="3026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业务人员知道“要什么”，却不一定知道“怎么查”。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79976" y="18745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203911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② 数据结构复杂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81144" y="2395728"/>
            <a:ext cx="3026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表、字段、JOIN、聚合关系，本身就是一层门槛。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74736" y="18745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03911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③ 结果难验证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75904" y="2395728"/>
            <a:ext cx="3026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生成 SQL ≠ 查询正确，还要验证、执行、留痕。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68096" y="4754880"/>
            <a:ext cx="10698480" cy="0"/>
          </a:xfrm>
          <a:prstGeom prst="line">
            <a:avLst/>
          </a:prstGeom>
          <a:noFill/>
          <a:ln w="16510">
            <a:solidFill>
              <a:srgbClr val="E3DF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983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63EB"/>
                </a:solidFill>
              </a:rPr>
              <a:t>项目目标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49103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</a:rPr>
              <a:t>自然语言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0" y="4956048"/>
            <a:ext cx="566928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86784" y="4910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</a:rPr>
              <a:t>可验证查询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97296" y="4956048"/>
            <a:ext cx="566928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910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</a:rPr>
              <a:t>真实数据结果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59952" y="4956048"/>
            <a:ext cx="566928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54896" y="49103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63EB"/>
                </a:solidFill>
              </a:rPr>
              <a:t>可追溯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263EB"/>
                </a:solidFill>
              </a:rPr>
              <a:t>02 · WHAT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D1F"/>
                </a:solidFill>
              </a:rPr>
              <a:t>它不是“回答问题”，而是“完成一次查询任务”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278"/>
                </a:solidFill>
              </a:rPr>
              <a:t>核心区别：模型参与推理，系统负责真正执行。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2677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自然语言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624328"/>
            <a:ext cx="1261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用户提出业务问题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441448" y="2852928"/>
            <a:ext cx="310896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2103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22677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Schema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15768" y="2624328"/>
            <a:ext cx="1261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理解表、字段、关系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297680" y="2852928"/>
            <a:ext cx="310896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2103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2677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Few-shot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624328"/>
            <a:ext cx="1261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检索相似正确示例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153912" y="2852928"/>
            <a:ext cx="310896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2103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2677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8232" y="2624328"/>
            <a:ext cx="1261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生成可执行查询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010144" y="2852928"/>
            <a:ext cx="310896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2103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EAF6EF"/>
          </a:solidFill>
          <a:ln w="12700">
            <a:solidFill>
              <a:srgbClr val="CBE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22677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安全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84464" y="2624328"/>
            <a:ext cx="1261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验证 + 只读约束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866376" y="2852928"/>
            <a:ext cx="310896" cy="310896"/>
          </a:xfrm>
          <a:prstGeom prst="chevron">
            <a:avLst/>
          </a:prstGeom>
          <a:solidFill>
            <a:srgbClr val="2B8A5E"/>
          </a:solidFill>
          <a:ln w="12700">
            <a:solidFill>
              <a:srgbClr val="2B8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39528" y="2103120"/>
            <a:ext cx="1664208" cy="1828800"/>
          </a:xfrm>
          <a:prstGeom prst="roundRect">
            <a:avLst>
              <a:gd name="adj" fmla="val 4396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0696" y="22677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结果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140696" y="2624328"/>
            <a:ext cx="1261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真实数据库返回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58368" y="446227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EEEAE2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4690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63EB"/>
                </a:solidFill>
              </a:rPr>
              <a:t>一句话理解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47088" y="4608576"/>
            <a:ext cx="9006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</a:rPr>
              <a:t>大模型负责“理解与生成”，确定性代码负责“约束与执行”。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263EB"/>
                </a:solidFill>
              </a:rPr>
              <a:t>03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D1F"/>
                </a:solidFill>
              </a:rPr>
              <a:t>系统架构：前端、Agent、数据库三层闭环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278"/>
                </a:solidFill>
              </a:rPr>
              <a:t>当前后端已形成 18 个 REST 端点。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148840" cy="342900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03911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Web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26334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EAF0FF"/>
          </a:solidFill>
          <a:ln w="12700">
            <a:solidFill>
              <a:srgbClr val="D8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72491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63EB"/>
                </a:solidFill>
              </a:rPr>
              <a:t>React 19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1248" y="313639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2278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TypeScript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41248" y="363931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730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Vite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1248" y="414223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2336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ECharts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1874520"/>
            <a:ext cx="2148840" cy="342900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203911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API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49040" y="26334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EAF0FF"/>
          </a:solidFill>
          <a:ln w="12700">
            <a:solidFill>
              <a:srgbClr val="D8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72491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63EB"/>
                </a:solidFill>
              </a:rPr>
              <a:t>FastAPI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49040" y="313639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2278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Auth / History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49040" y="363931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3730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Insights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49040" y="414223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42336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Health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73952" y="1874520"/>
            <a:ext cx="2148840" cy="342900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03911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Agent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56832" y="26334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EAF0FF"/>
          </a:solidFill>
          <a:ln w="12700">
            <a:solidFill>
              <a:srgbClr val="D8E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272491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63EB"/>
                </a:solidFill>
              </a:rPr>
              <a:t>LangGraph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56832" y="313639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32278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Schema Link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56832" y="363931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48272" y="3730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Few-shot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56832" y="414223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42336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SQL / Repair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81744" y="1874520"/>
            <a:ext cx="2148840" cy="342900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82912" y="203911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Data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564624" y="263347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EAF0FF"/>
          </a:solidFill>
          <a:ln w="12700">
            <a:solidFill>
              <a:srgbClr val="D8E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6064" y="272491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63EB"/>
                </a:solidFill>
              </a:rPr>
              <a:t>SQLite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564624" y="313639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56064" y="32278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ecommerce.db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564624" y="363931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56064" y="3730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app.db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564624" y="414223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1EFEA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56064" y="42336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Trace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926080" y="3584448"/>
            <a:ext cx="411480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33872" y="3584448"/>
            <a:ext cx="411480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41664" y="3584448"/>
            <a:ext cx="411480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" y="56509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278"/>
                </a:solidFill>
              </a:rPr>
              <a:t>5 张核心业务表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011680" y="5623560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users · categories · products · orders · order_items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811512" y="55869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263EB"/>
                </a:solidFill>
              </a:rPr>
              <a:t>18 endpoints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263EB"/>
                </a:solidFill>
              </a:rPr>
              <a:t>04 ·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D1F"/>
                </a:solidFill>
              </a:rPr>
              <a:t>Agent 核心：一个有边界的执行流程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278"/>
                </a:solidFill>
              </a:rPr>
              <a:t>不是“模型想怎么做就怎么做”，而是“模型在规则里完成任务”。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" y="1920240"/>
            <a:ext cx="402336" cy="402336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0710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43584" y="1911096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理解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43584" y="21762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7278"/>
                </a:solidFill>
              </a:rPr>
              <a:t>识别用户意图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670048" y="1920240"/>
            <a:ext cx="402336" cy="402336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200710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1911096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Schema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1762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7278"/>
                </a:solidFill>
              </a:rPr>
              <a:t>定位表 / 字段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626864" y="1920240"/>
            <a:ext cx="402336" cy="402336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00710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57216" y="1911096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Few-shot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57216" y="21762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7278"/>
                </a:solidFill>
              </a:rPr>
              <a:t>检索相似示例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583680" y="1920240"/>
            <a:ext cx="402336" cy="402336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00710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14032" y="1911096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14032" y="21762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7278"/>
                </a:solidFill>
              </a:rPr>
              <a:t>生成候选 SQL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540496" y="1920240"/>
            <a:ext cx="402336" cy="402336"/>
          </a:xfrm>
          <a:prstGeom prst="ellipse">
            <a:avLst/>
          </a:prstGeom>
          <a:solidFill>
            <a:srgbClr val="2B8A5E"/>
          </a:solidFill>
          <a:ln w="12700">
            <a:solidFill>
              <a:srgbClr val="2B8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77072" y="200710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70848" y="1911096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Validate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70848" y="21762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7278"/>
                </a:solidFill>
              </a:rPr>
              <a:t>安全与结构检查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0222992" y="1920240"/>
            <a:ext cx="402336" cy="402336"/>
          </a:xfrm>
          <a:prstGeom prst="ellipse">
            <a:avLst/>
          </a:prstGeom>
          <a:solidFill>
            <a:srgbClr val="2B8A5E"/>
          </a:solidFill>
          <a:ln w="12700">
            <a:solidFill>
              <a:srgbClr val="2B8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59568" y="200710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53344" y="1911096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Execute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53344" y="21762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7278"/>
                </a:solidFill>
              </a:rPr>
              <a:t>真实只读执行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1005840" y="4160520"/>
            <a:ext cx="10058400" cy="1115568"/>
          </a:xfrm>
          <a:prstGeom prst="roundRect">
            <a:avLst>
              <a:gd name="adj" fmla="val 6557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61872" y="44439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00"/>
                </a:solidFill>
              </a:rPr>
              <a:t>必要时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03120" y="4462272"/>
            <a:ext cx="384048" cy="310896"/>
          </a:xfrm>
          <a:prstGeom prst="chevron">
            <a:avLst/>
          </a:prstGeom>
          <a:solidFill>
            <a:srgbClr val="B56A00"/>
          </a:solidFill>
          <a:ln w="12700">
            <a:solidFill>
              <a:srgbClr val="B56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15184" y="43891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Repair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767328" y="440740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失败 SQL → 错误信息 → 有限修复 → 再执行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26880" y="43799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63EB"/>
                </a:solidFill>
              </a:rPr>
              <a:t>有界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012680" y="44348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278"/>
                </a:solidFill>
              </a:rPr>
              <a:t>避免无限循环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263EB"/>
                </a:solidFill>
              </a:rPr>
              <a:t>05 ·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D1F"/>
                </a:solidFill>
              </a:rPr>
              <a:t>SQL 不能“生成出来就直接执行”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278"/>
                </a:solidFill>
              </a:rPr>
              <a:t>系统把高风险的执行边界放在确定性代码里。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" y="1792224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47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63EB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AST 结构校验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191109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7278"/>
                </a:solidFill>
              </a:rPr>
              <a:t>判断 SQL 是否符合结构约束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94944" y="2596896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75234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63EB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706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只读白名单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27157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7278"/>
                </a:solidFill>
              </a:rPr>
              <a:t>仅允许 SELECT / WITH 等读取操作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94944" y="3401568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55701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63EB"/>
                </a:solidFill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3511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表 / 字段校验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352044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7278"/>
                </a:solidFill>
              </a:rPr>
              <a:t>检查 Schema 与语义约束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94944" y="4206240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EAF6EF"/>
          </a:solidFill>
          <a:ln w="12700">
            <a:solidFill>
              <a:srgbClr val="CDE9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3616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8A5E"/>
                </a:solidFill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4315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数据库只读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43251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7278"/>
                </a:solidFill>
              </a:rPr>
              <a:t>mode=ro + query_only=ON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94944" y="5010912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51663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63EB"/>
                </a:solidFill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17320" y="5120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结果与次数限制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0128" y="512978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F7278"/>
                </a:solidFill>
              </a:rPr>
              <a:t>限制结果规模，限制 Repair / Execute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13232" y="6007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63EB"/>
                </a:solidFill>
              </a:rPr>
              <a:t>原则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25880" y="5925312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LLM 负责“会不会写”，程序负责“能不能执行”。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263EB"/>
                </a:solidFill>
              </a:rPr>
              <a:t>06 · REAL BUSINESS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D1F"/>
                </a:solidFill>
              </a:rPr>
              <a:t>从 Demo 数据，走到真实业务数据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278"/>
                </a:solidFill>
              </a:rPr>
              <a:t>Dashboard 现在通过后端 API 读取真实 SQLite，不再依赖静态业务数字。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568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核心 KPI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04672" y="222199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263EB"/>
                </a:solidFill>
              </a:rPr>
              <a:t>¥766,292.18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10128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9568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业务指标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456432" y="222199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234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61888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19568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注册用户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108192" y="222199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8A5E"/>
                </a:solidFill>
              </a:rPr>
              <a:t>2,000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13648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952" y="19568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人均指标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8759952" y="222199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¥3,274.75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4672" y="3657600"/>
            <a:ext cx="1737360" cy="1115568"/>
          </a:xfrm>
          <a:prstGeom prst="roundRect">
            <a:avLst>
              <a:gd name="adj" fmla="val 4918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5020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</a:rPr>
              <a:t>登录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4261104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真实 Session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615184" y="4050792"/>
            <a:ext cx="292608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3657600"/>
            <a:ext cx="1737360" cy="1115568"/>
          </a:xfrm>
          <a:prstGeom prst="roundRect">
            <a:avLst>
              <a:gd name="adj" fmla="val 4918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395020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</a:rPr>
              <a:t>Dashboard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127248" y="4261104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真实 KPI / 图表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828032" y="4050792"/>
            <a:ext cx="292608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3657600"/>
            <a:ext cx="1737360" cy="1115568"/>
          </a:xfrm>
          <a:prstGeom prst="roundRect">
            <a:avLst>
              <a:gd name="adj" fmla="val 4918"/>
            </a:avLst>
          </a:prstGeom>
          <a:solidFill>
            <a:srgbClr val="EAF0FF"/>
          </a:solidFill>
          <a:ln w="12700">
            <a:solidFill>
              <a:srgbClr val="CBC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395020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263EB"/>
                </a:solidFill>
              </a:rPr>
              <a:t>Agent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40096" y="4261104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真实 LLM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040880" y="4050792"/>
            <a:ext cx="292608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3216" y="3657600"/>
            <a:ext cx="1737360" cy="1115568"/>
          </a:xfrm>
          <a:prstGeom prst="roundRect">
            <a:avLst>
              <a:gd name="adj" fmla="val 4918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2944" y="395020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</a:rPr>
              <a:t>SQLite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52944" y="4261104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真实数据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253728" y="4050792"/>
            <a:ext cx="292608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56064" y="3657600"/>
            <a:ext cx="1737360" cy="1115568"/>
          </a:xfrm>
          <a:prstGeom prst="roundRect">
            <a:avLst>
              <a:gd name="adj" fmla="val 4918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65792" y="395020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</a:rPr>
              <a:t>History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765792" y="4261104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真实留痕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804672" y="5266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63EB"/>
                </a:solidFill>
              </a:rPr>
              <a:t>真实浏览器业务闭环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16352" y="5202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8A5E"/>
                </a:solidFill>
              </a:rPr>
              <a:t>55 / 55 PASS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4846320" y="52760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278"/>
                </a:solidFill>
              </a:rPr>
              <a:t>后端故障时显示明确错误，不回退到静态假数据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263EB"/>
                </a:solidFill>
              </a:rPr>
              <a:t>07 · LIVE QUERY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D1F"/>
                </a:solidFill>
              </a:rPr>
              <a:t>真实业务查询：从一句话，到真实 SQL，再到真实结果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278"/>
                </a:solidFill>
              </a:rPr>
              <a:t>示例问题：平台注册用户有多少？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18470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63EB"/>
                </a:solidFill>
              </a:rPr>
              <a:t>用户问题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2130552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35915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1D1F"/>
                </a:solidFill>
              </a:rPr>
              <a:t>“平台注册用户有多少？”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669280" y="3090672"/>
            <a:ext cx="566928" cy="310896"/>
          </a:xfrm>
          <a:prstGeom prst="chevron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6210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63EB"/>
                </a:solidFill>
              </a:rPr>
              <a:t>真实生成 SQL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3913632"/>
            <a:ext cx="7223760" cy="1078992"/>
          </a:xfrm>
          <a:prstGeom prst="roundRect">
            <a:avLst>
              <a:gd name="adj" fmla="val 4237"/>
            </a:avLst>
          </a:prstGeom>
          <a:solidFill>
            <a:srgbClr val="10131A"/>
          </a:solidFill>
          <a:ln w="12700">
            <a:solidFill>
              <a:srgbClr val="101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418795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6F7F9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SELECT COUNT(*) AS total_registered_users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6F7F9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FROM users;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57616" y="36210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8A5E"/>
                </a:solidFill>
              </a:rPr>
              <a:t>真实数据库结果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0" y="3913632"/>
            <a:ext cx="3273552" cy="1078992"/>
          </a:xfrm>
          <a:prstGeom prst="roundRect">
            <a:avLst>
              <a:gd name="adj" fmla="val 5085"/>
            </a:avLst>
          </a:prstGeom>
          <a:solidFill>
            <a:srgbClr val="EAF6EF"/>
          </a:solidFill>
          <a:ln w="12700">
            <a:solidFill>
              <a:srgbClr val="CBE8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4178808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B8A5E"/>
                </a:solidFill>
              </a:rPr>
              <a:t>2,000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2926080" y="5458968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278"/>
                </a:solidFill>
              </a:rPr>
              <a:t>Bailian · qwen3.7-flash · SQLite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263EB"/>
                </a:solidFill>
              </a:rPr>
              <a:t>08 ·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D1F"/>
                </a:solidFill>
              </a:rPr>
              <a:t>两条口径：正式评测 ≠ 业务 Runtime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278"/>
                </a:solidFill>
              </a:rPr>
              <a:t>答辩时必须把这两个口径分开。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856232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02082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正式评测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377440"/>
            <a:ext cx="48097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ECO-SQL-Bench v1.1 · 100 题 · Mimo V2.5 Pro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932688" y="2596896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72491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EX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78992" y="2990088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263EB"/>
                </a:solidFill>
              </a:rPr>
              <a:t>90.0%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05456" y="2596896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72491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Exec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651760" y="2990088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99.0%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078224" y="2596896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72491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F7278"/>
                </a:solidFill>
              </a:rPr>
              <a:t>Pass@1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224528" y="2990088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90.0%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404164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7278"/>
                </a:solidFill>
              </a:rPr>
              <a:t>Easy 100%  ·  Medium 100%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F7278"/>
                </a:solidFill>
              </a:rPr>
              <a:t>Hard 86.67%  ·  Extra Hard 60%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10512" y="477316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48463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63EB"/>
                </a:solidFill>
              </a:rPr>
              <a:t>正式成绩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27648" y="1856232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FFFDFC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202082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业务 Runtime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28816" y="2377440"/>
            <a:ext cx="48097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7278"/>
                </a:solidFill>
              </a:rPr>
              <a:t>Bailian · qwen3.7-flash · 真实浏览器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784848" y="2770632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B8A5E"/>
                </a:solidFill>
              </a:rPr>
              <a:t>55 / 55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812280" y="3547872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真实业务闭环验收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20840" y="409651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278"/>
                </a:solidFill>
              </a:rPr>
              <a:t>登录 → Dashboard → Agent → SQL → SQLite → History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773168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48463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8A5E"/>
                </a:solidFill>
              </a:rPr>
              <a:t>运行验证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263EB"/>
                </a:solidFill>
              </a:rPr>
              <a:t>09 ·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D1F"/>
                </a:solidFill>
              </a:rPr>
              <a:t>它和直接问 ChatGPT，有什么区别？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278"/>
                </a:solidFill>
              </a:rPr>
              <a:t>关键不在“会回答”，而在“能不能真正完成一次业务查询”。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856232"/>
            <a:ext cx="5248656" cy="3429000"/>
          </a:xfrm>
          <a:prstGeom prst="roundRect">
            <a:avLst>
              <a:gd name="adj" fmla="val 2133"/>
            </a:avLst>
          </a:prstGeom>
          <a:solidFill>
            <a:srgbClr val="F2F0EB"/>
          </a:solidFill>
          <a:ln w="12700">
            <a:solidFill>
              <a:srgbClr val="E3DF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0208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普通聊天式问答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知道你的真实业务库？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01768" y="24871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真正执行 SQL？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01768" y="3081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有程序级安全边界？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01768" y="36758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留下查询 History / Trace？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01768" y="42702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</a:rPr>
              <a:t>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1856232"/>
            <a:ext cx="5248656" cy="3429000"/>
          </a:xfrm>
          <a:prstGeom prst="roundRect">
            <a:avLst>
              <a:gd name="adj" fmla="val 2133"/>
            </a:avLst>
          </a:prstGeom>
          <a:solidFill>
            <a:srgbClr val="EAF0FF"/>
          </a:solidFill>
          <a:ln w="12700">
            <a:solidFill>
              <a:srgbClr val="D4D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20208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本项目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9672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知道真实业务 Schema？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0" y="24871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5E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9672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真实执行 SQL？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07040" y="3081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5E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9672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只读 + AST + 有界 Repair？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07040" y="36758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5E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9672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History / Trace 可追溯？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0" y="42702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5E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所以它不是“给 AI 套一个聊天框”，而是把模型接进真实业务数据链路。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E3DF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20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4263EB"/>
                </a:solidFill>
              </a:rPr>
              <a:t>10 · NOW &amp; NEXT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D1F"/>
                </a:solidFill>
              </a:rPr>
              <a:t>现在到哪一步？下一步做什么？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278"/>
                </a:solidFill>
              </a:rPr>
              <a:t>项目已经跨过“能演示”，进入“真实业务原型”。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" y="1810512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EAF6EF"/>
          </a:solidFill>
          <a:ln w="12700">
            <a:solidFill>
              <a:srgbClr val="EAF6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836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8A5E"/>
                </a:solidFill>
              </a:rPr>
              <a:t>NOW · 已完成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219456" cy="219456"/>
          </a:xfrm>
          <a:prstGeom prst="ellipse">
            <a:avLst/>
          </a:prstGeom>
          <a:solidFill>
            <a:srgbClr val="2B8A5E"/>
          </a:solidFill>
          <a:ln w="12700">
            <a:solidFill>
              <a:srgbClr val="2B8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56032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07008" y="24780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真实前后端闭环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035808"/>
            <a:ext cx="219456" cy="219456"/>
          </a:xfrm>
          <a:prstGeom prst="ellipse">
            <a:avLst/>
          </a:prstGeom>
          <a:solidFill>
            <a:srgbClr val="2B8A5E"/>
          </a:solidFill>
          <a:ln w="12700">
            <a:solidFill>
              <a:srgbClr val="2B8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308152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07008" y="2999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真实业务 Dashboard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557016"/>
            <a:ext cx="219456" cy="219456"/>
          </a:xfrm>
          <a:prstGeom prst="ellipse">
            <a:avLst/>
          </a:prstGeom>
          <a:solidFill>
            <a:srgbClr val="2B8A5E"/>
          </a:solidFill>
          <a:ln w="12700">
            <a:solidFill>
              <a:srgbClr val="2B8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360273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07008" y="3520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真实 LLM + SQL + SQLite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078224"/>
            <a:ext cx="219456" cy="219456"/>
          </a:xfrm>
          <a:prstGeom prst="ellipse">
            <a:avLst/>
          </a:prstGeom>
          <a:solidFill>
            <a:srgbClr val="2B8A5E"/>
          </a:solidFill>
          <a:ln w="12700">
            <a:solidFill>
              <a:srgbClr val="2B8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412394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07008" y="40416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登录 / History / Trace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599432"/>
            <a:ext cx="219456" cy="219456"/>
          </a:xfrm>
          <a:prstGeom prst="ellipse">
            <a:avLst/>
          </a:prstGeom>
          <a:solidFill>
            <a:srgbClr val="2B8A5E"/>
          </a:solidFill>
          <a:ln w="12700">
            <a:solidFill>
              <a:srgbClr val="2B8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464515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07008" y="4562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正式评测 90.0% EX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44768" y="1810512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8836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63EB"/>
                </a:solidFill>
              </a:rPr>
              <a:t>NEXT · 产品化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54496" y="2542032"/>
            <a:ext cx="164592" cy="164592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450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更细的用户 / 数据权限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54496" y="3163824"/>
            <a:ext cx="164592" cy="164592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072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日志与可观测性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54496" y="3785616"/>
            <a:ext cx="164592" cy="164592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6941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正式部署与持久化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54496" y="4407408"/>
            <a:ext cx="164592" cy="164592"/>
          </a:xfrm>
          <a:prstGeom prst="ellipse">
            <a:avLst/>
          </a:prstGeom>
          <a:solidFill>
            <a:srgbClr val="4263EB"/>
          </a:solidFill>
          <a:ln w="12700">
            <a:solidFill>
              <a:srgbClr val="42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3159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并发 / 限流 / 成本控制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44768" y="4983480"/>
            <a:ext cx="5157216" cy="658368"/>
          </a:xfrm>
          <a:prstGeom prst="roundRect">
            <a:avLst>
              <a:gd name="adj" fmla="val 6944"/>
            </a:avLst>
          </a:prstGeom>
          <a:solidFill>
            <a:srgbClr val="EBE8E0"/>
          </a:solidFill>
          <a:ln w="12700">
            <a:solidFill>
              <a:srgbClr val="E0DB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519379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D1F"/>
                </a:solidFill>
              </a:rPr>
              <a:t>最终定位：可真实运行的 Text2SQL 智能数据分析系统原型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Text2SQL 的电商智能数据分析 Agent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731520"/>
            <a:ext cx="109728" cy="5074920"/>
          </a:xfrm>
          <a:prstGeom prst="rect">
            <a:avLst/>
          </a:prstGeom>
          <a:solidFill>
            <a:srgbClr val="4263EB"/>
          </a:solidFill>
          <a:ln w="12700">
            <a:solidFill>
              <a:srgbClr val="42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10515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spc="110">
                <a:solidFill>
                  <a:srgbClr val="42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11 ·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408176"/>
            <a:ext cx="94183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1D1D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感谢聆听</a:t>
            </a:r>
          </a:p>
          <a:p>
            <a:pPr algn="l"/>
            <a:r>
              <a:rPr sz="3600" b="1">
                <a:solidFill>
                  <a:srgbClr val="1D1D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欢迎提问与交流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3179064"/>
            <a:ext cx="6766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6F72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从自然语言，到真实业务查询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3826760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EBE7DE"/>
          </a:solidFill>
          <a:ln w="12700">
            <a:solidFill>
              <a:srgbClr val="EB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873200"/>
            <a:ext cx="3291840" cy="231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D1D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基于 Text2SQL 的电商智能数据分析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45262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一句话总结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818888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让模型理解问题，让系统完成任务。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92240"/>
            <a:ext cx="11155680" cy="0"/>
          </a:xfrm>
          <a:prstGeom prst="line">
            <a:avLst/>
          </a:prstGeom>
          <a:ln w="12700">
            <a:solidFill>
              <a:srgbClr val="E3D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0352" y="6547104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基于 Text2SQL 的电商智能数据分析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37392" y="65288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A5A7A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Text2SQL 的电商智能数据分析 Agent</dc:title>
  <dc:subject>Text2SQL 电商智能数据分析 Agent 极简汇报版</dc:subject>
  <dc:creator>OpenAI</dc:creator>
  <cp:lastModifiedBy>OpenAI</cp:lastModifiedBy>
  <cp:revision>1</cp:revision>
  <dcterms:created xsi:type="dcterms:W3CDTF">2026-09-29T06:33:11Z</dcterms:created>
  <dcterms:modified xsi:type="dcterms:W3CDTF">2026-09-29T06:33:11Z</dcterms:modified>
</cp:coreProperties>
</file>