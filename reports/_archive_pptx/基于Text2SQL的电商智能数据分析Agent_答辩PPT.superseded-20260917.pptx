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2363724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2502896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585" b="1" kern="0" spc="180" dirty="0">
                <a:solidFill>
                  <a:srgbClr val="F3F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课程项目答辩 · 2026</a:t>
            </a:r>
            <a:endParaRPr lang="en-US" sz="1585" dirty="0"/>
          </a:p>
        </p:txBody>
      </p:sp>
      <p:sp>
        <p:nvSpPr>
          <p:cNvPr id="8" name="Text 6"/>
          <p:cNvSpPr/>
          <p:nvPr/>
        </p:nvSpPr>
        <p:spPr>
          <a:xfrm>
            <a:off x="9579163" y="720090"/>
            <a:ext cx="4724979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基于 TEXT2SQL 的电商智能数据分析 AGENT</a:t>
            </a:r>
            <a:endParaRPr lang="en-US" sz="1585" dirty="0"/>
          </a:p>
        </p:txBody>
      </p:sp>
      <p:sp>
        <p:nvSpPr>
          <p:cNvPr id="9" name="Text 7"/>
          <p:cNvSpPr/>
          <p:nvPr/>
        </p:nvSpPr>
        <p:spPr>
          <a:xfrm>
            <a:off x="914400" y="1450193"/>
            <a:ext cx="5947623" cy="12847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30"/>
              </a:lnSpc>
              <a:buNone/>
            </a:pPr>
            <a:r>
              <a:rPr lang="en-US" sz="9120" b="1" kern="0" spc="-200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Text2SQL</a:t>
            </a:r>
            <a:endParaRPr lang="en-US" sz="9120" dirty="0"/>
          </a:p>
        </p:txBody>
      </p:sp>
      <p:sp>
        <p:nvSpPr>
          <p:cNvPr id="10" name="Text 8"/>
          <p:cNvSpPr/>
          <p:nvPr/>
        </p:nvSpPr>
        <p:spPr>
          <a:xfrm>
            <a:off x="914400" y="2559040"/>
            <a:ext cx="4585442" cy="12847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30"/>
              </a:lnSpc>
              <a:buNone/>
            </a:pPr>
            <a:r>
              <a:rPr lang="en-US" sz="9120" b="1" kern="0" spc="-200" dirty="0">
                <a:solidFill>
                  <a:srgbClr val="274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电商智能</a:t>
            </a:r>
            <a:endParaRPr lang="en-US" sz="9120" dirty="0"/>
          </a:p>
        </p:txBody>
      </p:sp>
      <p:sp>
        <p:nvSpPr>
          <p:cNvPr id="11" name="Text 9"/>
          <p:cNvSpPr/>
          <p:nvPr/>
        </p:nvSpPr>
        <p:spPr>
          <a:xfrm>
            <a:off x="5408402" y="2559040"/>
            <a:ext cx="4585442" cy="12847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30"/>
              </a:lnSpc>
              <a:buNone/>
            </a:pPr>
            <a:r>
              <a:rPr lang="en-US" sz="9120" b="1" kern="0" spc="-200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数据分析</a:t>
            </a:r>
            <a:endParaRPr lang="en-US" sz="9120" dirty="0"/>
          </a:p>
        </p:txBody>
      </p:sp>
      <p:sp>
        <p:nvSpPr>
          <p:cNvPr id="12" name="Text 10"/>
          <p:cNvSpPr/>
          <p:nvPr/>
        </p:nvSpPr>
        <p:spPr>
          <a:xfrm>
            <a:off x="914400" y="3743325"/>
            <a:ext cx="3636294" cy="12847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30"/>
              </a:lnSpc>
              <a:buNone/>
            </a:pPr>
            <a:r>
              <a:rPr lang="en-US" sz="9120" b="1" kern="0" spc="-200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</a:t>
            </a:r>
            <a:endParaRPr lang="en-US" sz="9120" dirty="0"/>
          </a:p>
        </p:txBody>
      </p:sp>
      <p:sp>
        <p:nvSpPr>
          <p:cNvPr id="13" name="Text 11"/>
          <p:cNvSpPr/>
          <p:nvPr/>
        </p:nvSpPr>
        <p:spPr>
          <a:xfrm>
            <a:off x="914400" y="5093171"/>
            <a:ext cx="9028146" cy="3108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860" kern="0" spc="-12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面向电商业务的自然语言数据分析与可验证 SQL Agent</a:t>
            </a:r>
            <a:endParaRPr lang="en-US" sz="1860" dirty="0"/>
          </a:p>
        </p:txBody>
      </p:sp>
      <p:sp>
        <p:nvSpPr>
          <p:cNvPr id="14" name="Shape 12"/>
          <p:cNvSpPr/>
          <p:nvPr/>
        </p:nvSpPr>
        <p:spPr>
          <a:xfrm>
            <a:off x="914400" y="5914065"/>
            <a:ext cx="12801600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6150254"/>
            <a:ext cx="3964930" cy="9058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7737" y="6150254"/>
            <a:ext cx="11593" cy="905805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979443"/>
            <a:ext cx="2236074" cy="9722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45"/>
              </a:lnSpc>
              <a:buNone/>
            </a:pPr>
            <a:r>
              <a:rPr lang="en-US" sz="5545" b="1" kern="0" spc="-126" dirty="0">
                <a:solidFill>
                  <a:srgbClr val="2742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90.0%</a:t>
            </a:r>
            <a:endParaRPr lang="en-US" sz="5545" dirty="0"/>
          </a:p>
        </p:txBody>
      </p:sp>
      <p:sp>
        <p:nvSpPr>
          <p:cNvPr id="18" name="Text 16"/>
          <p:cNvSpPr/>
          <p:nvPr/>
        </p:nvSpPr>
        <p:spPr>
          <a:xfrm>
            <a:off x="2854482" y="6366510"/>
            <a:ext cx="414589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800" b="1" kern="0" spc="-22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6781830"/>
            <a:ext cx="3743919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CLEAN BASELINE</a:t>
            </a:r>
            <a:endParaRPr lang="en-US" sz="1585" dirty="0"/>
          </a:p>
        </p:txBody>
      </p:sp>
      <p:sp>
        <p:nvSpPr>
          <p:cNvPr id="20" name="Shape 18"/>
          <p:cNvSpPr/>
          <p:nvPr/>
        </p:nvSpPr>
        <p:spPr>
          <a:xfrm>
            <a:off x="5184099" y="6150254"/>
            <a:ext cx="3965021" cy="9058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37528" y="6150254"/>
            <a:ext cx="11593" cy="905805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4099" y="5979443"/>
            <a:ext cx="2236074" cy="9722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45"/>
              </a:lnSpc>
              <a:buNone/>
            </a:pPr>
            <a:r>
              <a:rPr lang="en-US" sz="5545" b="1" kern="0" spc="-126" dirty="0">
                <a:solidFill>
                  <a:srgbClr val="F3F2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99.0%</a:t>
            </a:r>
            <a:endParaRPr lang="en-US" sz="5545" dirty="0"/>
          </a:p>
        </p:txBody>
      </p:sp>
      <p:sp>
        <p:nvSpPr>
          <p:cNvPr id="23" name="Text 21"/>
          <p:cNvSpPr/>
          <p:nvPr/>
        </p:nvSpPr>
        <p:spPr>
          <a:xfrm>
            <a:off x="7124182" y="6366510"/>
            <a:ext cx="653887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800" b="1" kern="0" spc="-22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Exec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84099" y="6781830"/>
            <a:ext cx="3744011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执行成功率</a:t>
            </a:r>
            <a:endParaRPr lang="en-US" sz="1585" dirty="0"/>
          </a:p>
        </p:txBody>
      </p:sp>
      <p:sp>
        <p:nvSpPr>
          <p:cNvPr id="25" name="Text 23"/>
          <p:cNvSpPr/>
          <p:nvPr/>
        </p:nvSpPr>
        <p:spPr>
          <a:xfrm>
            <a:off x="9453890" y="5979443"/>
            <a:ext cx="1461577" cy="9722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45"/>
              </a:lnSpc>
              <a:buNone/>
            </a:pPr>
            <a:r>
              <a:rPr lang="en-US" sz="5545" b="1" kern="0" spc="-126" dirty="0">
                <a:solidFill>
                  <a:srgbClr val="F3F2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100</a:t>
            </a:r>
            <a:endParaRPr lang="en-US" sz="5545" dirty="0"/>
          </a:p>
        </p:txBody>
      </p:sp>
      <p:sp>
        <p:nvSpPr>
          <p:cNvPr id="26" name="Text 24"/>
          <p:cNvSpPr/>
          <p:nvPr/>
        </p:nvSpPr>
        <p:spPr>
          <a:xfrm>
            <a:off x="10642427" y="6367973"/>
            <a:ext cx="329184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800" b="1" kern="0" spc="-22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53890" y="6781830"/>
            <a:ext cx="3743919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评测集 ECO-SQL-BENCH</a:t>
            </a:r>
            <a:endParaRPr lang="en-US" sz="1585" dirty="0"/>
          </a:p>
        </p:txBody>
      </p:sp>
      <p:sp>
        <p:nvSpPr>
          <p:cNvPr id="28" name="Text 26"/>
          <p:cNvSpPr/>
          <p:nvPr/>
        </p:nvSpPr>
        <p:spPr>
          <a:xfrm>
            <a:off x="914400" y="7254210"/>
            <a:ext cx="1523116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报告人：何钊新</a:t>
            </a:r>
            <a:endParaRPr lang="en-US" sz="1585" dirty="0"/>
          </a:p>
        </p:txBody>
      </p:sp>
      <p:sp>
        <p:nvSpPr>
          <p:cNvPr id="29" name="Text 27"/>
          <p:cNvSpPr/>
          <p:nvPr/>
        </p:nvSpPr>
        <p:spPr>
          <a:xfrm>
            <a:off x="2606772" y="7254210"/>
            <a:ext cx="1957365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嘉应学院·数据科学</a:t>
            </a:r>
            <a:endParaRPr lang="en-US" sz="1585" dirty="0"/>
          </a:p>
        </p:txBody>
      </p:sp>
      <p:sp>
        <p:nvSpPr>
          <p:cNvPr id="30" name="Text 28"/>
          <p:cNvSpPr/>
          <p:nvPr/>
        </p:nvSpPr>
        <p:spPr>
          <a:xfrm>
            <a:off x="4618177" y="7254210"/>
            <a:ext cx="1822719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与大数据技术本科</a:t>
            </a:r>
            <a:endParaRPr lang="en-US" sz="1585" dirty="0"/>
          </a:p>
        </p:txBody>
      </p:sp>
      <p:sp>
        <p:nvSpPr>
          <p:cNvPr id="31" name="Text 29"/>
          <p:cNvSpPr/>
          <p:nvPr/>
        </p:nvSpPr>
        <p:spPr>
          <a:xfrm>
            <a:off x="12326021" y="7254210"/>
            <a:ext cx="1548856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 年 9 月</a:t>
            </a:r>
            <a:endParaRPr lang="en-US" sz="15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226850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235354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585" b="1" kern="0" spc="180" dirty="0">
                <a:solidFill>
                  <a:srgbClr val="F3F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背景与问题</a:t>
            </a:r>
            <a:endParaRPr lang="en-US" sz="1585" dirty="0"/>
          </a:p>
        </p:txBody>
      </p:sp>
      <p:sp>
        <p:nvSpPr>
          <p:cNvPr id="8" name="Text 6"/>
          <p:cNvSpPr/>
          <p:nvPr/>
        </p:nvSpPr>
        <p:spPr>
          <a:xfrm>
            <a:off x="11777381" y="720090"/>
            <a:ext cx="2174489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为什么需要这个系统？</a:t>
            </a:r>
            <a:endParaRPr lang="en-US" sz="1585" dirty="0"/>
          </a:p>
        </p:txBody>
      </p:sp>
      <p:sp>
        <p:nvSpPr>
          <p:cNvPr id="9" name="Text 7"/>
          <p:cNvSpPr/>
          <p:nvPr/>
        </p:nvSpPr>
        <p:spPr>
          <a:xfrm>
            <a:off x="914400" y="1403649"/>
            <a:ext cx="2883560" cy="5379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传统提数链路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3706520" y="1403649"/>
            <a:ext cx="2883560" cy="5379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6E8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三个核心痛点</a:t>
            </a:r>
            <a:endParaRPr lang="en-US" sz="372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6710" y="960120"/>
            <a:ext cx="1417320" cy="1417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49710" y="2213212"/>
            <a:ext cx="1007059" cy="7894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970"/>
              </a:lnSpc>
              <a:buNone/>
            </a:pPr>
            <a:r>
              <a:rPr lang="en-US" sz="5520" b="1" kern="0" spc="-138" dirty="0">
                <a:solidFill>
                  <a:srgbClr val="F3F2EE">
                    <a:alpha val="2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5520" dirty="0"/>
          </a:p>
        </p:txBody>
      </p:sp>
      <p:sp>
        <p:nvSpPr>
          <p:cNvPr id="13" name="Text 10"/>
          <p:cNvSpPr/>
          <p:nvPr/>
        </p:nvSpPr>
        <p:spPr>
          <a:xfrm>
            <a:off x="1249710" y="3015600"/>
            <a:ext cx="1664966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不会 SQL 的门槛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249710" y="3299657"/>
            <a:ext cx="1584930" cy="8579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760"/>
              </a:lnSpc>
              <a:buNone/>
            </a:pPr>
            <a:r>
              <a:rPr lang="en-US" sz="6000" b="1" kern="0" spc="-150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1249710" y="4198376"/>
            <a:ext cx="3682929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1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业务人员不会 SQL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49710" y="4608210"/>
            <a:ext cx="343659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运营/管理层提数依赖分析师排期，响应周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1249710" y="4873386"/>
            <a:ext cx="460858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期长</a:t>
            </a:r>
            <a:endParaRPr lang="en-US" sz="1440" dirty="0"/>
          </a:p>
        </p:txBody>
      </p:sp>
      <p:sp>
        <p:nvSpPr>
          <p:cNvPr id="18" name="Shape 15"/>
          <p:cNvSpPr/>
          <p:nvPr/>
        </p:nvSpPr>
        <p:spPr>
          <a:xfrm>
            <a:off x="1249710" y="7056150"/>
            <a:ext cx="426750" cy="3045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76510" y="2018904"/>
            <a:ext cx="4269791" cy="512859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76510" y="2018904"/>
            <a:ext cx="11593" cy="5128595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19410" y="2213212"/>
            <a:ext cx="1007059" cy="7894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970"/>
              </a:lnSpc>
              <a:buNone/>
            </a:pPr>
            <a:r>
              <a:rPr lang="en-US" sz="5520" b="1" kern="0" spc="-138" dirty="0">
                <a:solidFill>
                  <a:srgbClr val="F3F2EE">
                    <a:alpha val="2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5520" dirty="0"/>
          </a:p>
        </p:txBody>
      </p:sp>
      <p:sp>
        <p:nvSpPr>
          <p:cNvPr id="22" name="Text 19"/>
          <p:cNvSpPr/>
          <p:nvPr/>
        </p:nvSpPr>
        <p:spPr>
          <a:xfrm>
            <a:off x="5519410" y="3015600"/>
            <a:ext cx="1198230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生成 ≠ 可信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5519410" y="3299657"/>
            <a:ext cx="1584930" cy="8579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760"/>
              </a:lnSpc>
              <a:buNone/>
            </a:pPr>
            <a:r>
              <a:rPr lang="en-US" sz="6000" b="1" kern="0" spc="-150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</a:t>
            </a:r>
            <a:endParaRPr lang="en-US" sz="6000" dirty="0"/>
          </a:p>
        </p:txBody>
      </p:sp>
      <p:sp>
        <p:nvSpPr>
          <p:cNvPr id="24" name="Text 21"/>
          <p:cNvSpPr/>
          <p:nvPr/>
        </p:nvSpPr>
        <p:spPr>
          <a:xfrm>
            <a:off x="5519410" y="4198376"/>
            <a:ext cx="368311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1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 需执行验证纠错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519410" y="4577669"/>
            <a:ext cx="3444270" cy="2926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生成后要能执行、安全校验、自动修复</a:t>
            </a:r>
            <a:endParaRPr lang="en-US" sz="1440" dirty="0"/>
          </a:p>
        </p:txBody>
      </p:sp>
      <p:sp>
        <p:nvSpPr>
          <p:cNvPr id="26" name="Shape 23"/>
          <p:cNvSpPr/>
          <p:nvPr/>
        </p:nvSpPr>
        <p:spPr>
          <a:xfrm>
            <a:off x="5519410" y="7056150"/>
            <a:ext cx="426750" cy="3045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446301" y="2018904"/>
            <a:ext cx="4269699" cy="512859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446301" y="2018904"/>
            <a:ext cx="11593" cy="5128595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89201" y="2213212"/>
            <a:ext cx="1007059" cy="7894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970"/>
              </a:lnSpc>
              <a:buNone/>
            </a:pPr>
            <a:r>
              <a:rPr lang="en-US" sz="5520" b="1" kern="0" spc="-138" dirty="0">
                <a:solidFill>
                  <a:srgbClr val="F3F2EE">
                    <a:alpha val="22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5520" dirty="0"/>
          </a:p>
        </p:txBody>
      </p:sp>
      <p:sp>
        <p:nvSpPr>
          <p:cNvPr id="30" name="Text 27"/>
          <p:cNvSpPr/>
          <p:nvPr/>
        </p:nvSpPr>
        <p:spPr>
          <a:xfrm>
            <a:off x="9789201" y="3015600"/>
            <a:ext cx="1082878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本项目定位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9789201" y="3299657"/>
            <a:ext cx="1584930" cy="8579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760"/>
              </a:lnSpc>
              <a:buNone/>
            </a:pPr>
            <a:r>
              <a:rPr lang="en-US" sz="6000" b="1" kern="0" spc="-150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答案</a:t>
            </a:r>
            <a:endParaRPr lang="en-US" sz="6000" dirty="0"/>
          </a:p>
        </p:txBody>
      </p:sp>
      <p:sp>
        <p:nvSpPr>
          <p:cNvPr id="32" name="Text 29"/>
          <p:cNvSpPr/>
          <p:nvPr/>
        </p:nvSpPr>
        <p:spPr>
          <a:xfrm>
            <a:off x="9789201" y="4198376"/>
            <a:ext cx="3682929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1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不是聊天机器人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789201" y="4608210"/>
            <a:ext cx="265176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是能执行、验证、纠错、评测的</a:t>
            </a:r>
            <a:endParaRPr lang="en-US" sz="1440" dirty="0"/>
          </a:p>
        </p:txBody>
      </p:sp>
      <p:sp>
        <p:nvSpPr>
          <p:cNvPr id="34" name="Text 31"/>
          <p:cNvSpPr/>
          <p:nvPr/>
        </p:nvSpPr>
        <p:spPr>
          <a:xfrm>
            <a:off x="9789201" y="4873386"/>
            <a:ext cx="1574597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Text2SQL Agent</a:t>
            </a:r>
            <a:endParaRPr lang="en-US" sz="1440" dirty="0"/>
          </a:p>
        </p:txBody>
      </p:sp>
      <p:sp>
        <p:nvSpPr>
          <p:cNvPr id="35" name="Shape 32"/>
          <p:cNvSpPr/>
          <p:nvPr/>
        </p:nvSpPr>
        <p:spPr>
          <a:xfrm>
            <a:off x="9789201" y="7056150"/>
            <a:ext cx="426750" cy="3045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14400" y="7147590"/>
            <a:ext cx="12801600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4400" y="7277070"/>
            <a:ext cx="5704393" cy="2788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业务问题 → 理解 SCHEMA → 手写 SQL → 检查 → 执行 → 分析</a:t>
            </a:r>
            <a:endParaRPr 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10819729" y="7277070"/>
            <a:ext cx="3262617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6E8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结论：需要的是 AGENT 而非生成器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853214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934733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585" b="1" kern="0" spc="180" dirty="0">
                <a:solidFill>
                  <a:srgbClr val="F3F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从提问到可信结论</a:t>
            </a:r>
            <a:endParaRPr lang="en-US" sz="1585" dirty="0"/>
          </a:p>
        </p:txBody>
      </p:sp>
      <p:sp>
        <p:nvSpPr>
          <p:cNvPr id="8" name="Text 6"/>
          <p:cNvSpPr/>
          <p:nvPr/>
        </p:nvSpPr>
        <p:spPr>
          <a:xfrm>
            <a:off x="9167683" y="720090"/>
            <a:ext cx="4639757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自然语言 → 可执行 SQL → 安全执行 → 可评测</a:t>
            </a:r>
            <a:endParaRPr lang="en-US" sz="1585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1952884" cy="53757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核心指标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2928183" y="1600200"/>
            <a:ext cx="370332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任务书 SQL 执行准确率目标 ≥85%，已达成</a:t>
            </a:r>
            <a:endParaRPr lang="en-US" sz="144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49445"/>
            <a:ext cx="12801600" cy="4572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715000" y="3588654"/>
            <a:ext cx="3200400" cy="1493490"/>
          </a:xfrm>
          <a:prstGeom prst="rect">
            <a:avLst/>
          </a:prstGeom>
          <a:solidFill>
            <a:srgbClr val="F3F2EE">
              <a:alpha val="6000"/>
            </a:srgbClr>
          </a:solidFill>
          <a:ln w="28575">
            <a:solidFill>
              <a:srgbClr val="F3F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66460" y="3922319"/>
            <a:ext cx="1051560" cy="3398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90.0%</a:t>
            </a:r>
            <a:endParaRPr lang="en-US" sz="2280" dirty="0"/>
          </a:p>
        </p:txBody>
      </p:sp>
      <p:sp>
        <p:nvSpPr>
          <p:cNvPr id="14" name="Shape 11"/>
          <p:cNvSpPr/>
          <p:nvPr/>
        </p:nvSpPr>
        <p:spPr>
          <a:xfrm>
            <a:off x="7018020" y="4028938"/>
            <a:ext cx="701070" cy="20574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86600" y="4028938"/>
            <a:ext cx="667541" cy="23317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990" b="1" kern="0" spc="113" dirty="0">
                <a:solidFill>
                  <a:srgbClr val="0D133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项目目标</a:t>
            </a:r>
            <a:endParaRPr lang="en-US" sz="990" dirty="0"/>
          </a:p>
        </p:txBody>
      </p:sp>
      <p:sp>
        <p:nvSpPr>
          <p:cNvPr id="16" name="Text 13"/>
          <p:cNvSpPr/>
          <p:nvPr/>
        </p:nvSpPr>
        <p:spPr>
          <a:xfrm>
            <a:off x="5966460" y="4265219"/>
            <a:ext cx="309122" cy="2179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20" kern="0" spc="77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5966460" y="4516679"/>
            <a:ext cx="2788920" cy="25932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25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ECO-SQL-Bench v1.1 执行准确率</a:t>
            </a:r>
            <a:endParaRPr lang="en-US" sz="1260" dirty="0"/>
          </a:p>
        </p:txBody>
      </p:sp>
      <p:sp>
        <p:nvSpPr>
          <p:cNvPr id="18" name="Shape 15"/>
          <p:cNvSpPr/>
          <p:nvPr/>
        </p:nvSpPr>
        <p:spPr>
          <a:xfrm>
            <a:off x="5867430" y="2049445"/>
            <a:ext cx="289563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65490" y="2357277"/>
            <a:ext cx="1371600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自然语言分析</a:t>
            </a:r>
            <a:endParaRPr lang="en-US" sz="1680" dirty="0"/>
          </a:p>
        </p:txBody>
      </p:sp>
      <p:sp>
        <p:nvSpPr>
          <p:cNvPr id="20" name="Text 17"/>
          <p:cNvSpPr/>
          <p:nvPr/>
        </p:nvSpPr>
        <p:spPr>
          <a:xfrm>
            <a:off x="6065490" y="2637861"/>
            <a:ext cx="818245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NL QUERY</a:t>
            </a:r>
            <a:endParaRPr lang="en-US" sz="990" dirty="0"/>
          </a:p>
        </p:txBody>
      </p:sp>
      <p:sp>
        <p:nvSpPr>
          <p:cNvPr id="21" name="Text 18"/>
          <p:cNvSpPr/>
          <p:nvPr/>
        </p:nvSpPr>
        <p:spPr>
          <a:xfrm>
            <a:off x="6065490" y="2866461"/>
            <a:ext cx="2590770" cy="2373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55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业务人员直接向数据提问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10820370" y="3695365"/>
            <a:ext cx="289563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018520" y="4003197"/>
            <a:ext cx="1501170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Schema 理解</a:t>
            </a:r>
            <a:endParaRPr lang="en-US" sz="1680" dirty="0"/>
          </a:p>
        </p:txBody>
      </p:sp>
      <p:sp>
        <p:nvSpPr>
          <p:cNvPr id="24" name="Text 21"/>
          <p:cNvSpPr/>
          <p:nvPr/>
        </p:nvSpPr>
        <p:spPr>
          <a:xfrm>
            <a:off x="11018520" y="4283781"/>
            <a:ext cx="667541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SCHEMA</a:t>
            </a:r>
            <a:endParaRPr lang="en-US" sz="990" dirty="0"/>
          </a:p>
        </p:txBody>
      </p:sp>
      <p:sp>
        <p:nvSpPr>
          <p:cNvPr id="25" name="Text 22"/>
          <p:cNvSpPr/>
          <p:nvPr/>
        </p:nvSpPr>
        <p:spPr>
          <a:xfrm>
            <a:off x="11018520" y="4512381"/>
            <a:ext cx="2590770" cy="2373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55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表/字段/口径结构化管理</a:t>
            </a:r>
            <a:endParaRPr lang="en-US" sz="1140" dirty="0"/>
          </a:p>
        </p:txBody>
      </p:sp>
      <p:sp>
        <p:nvSpPr>
          <p:cNvPr id="26" name="Shape 23"/>
          <p:cNvSpPr/>
          <p:nvPr/>
        </p:nvSpPr>
        <p:spPr>
          <a:xfrm>
            <a:off x="5867430" y="5341285"/>
            <a:ext cx="289563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65490" y="5649117"/>
            <a:ext cx="1790670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Text2SQL+安全</a:t>
            </a:r>
            <a:endParaRPr lang="en-US" sz="1680" dirty="0"/>
          </a:p>
        </p:txBody>
      </p:sp>
      <p:sp>
        <p:nvSpPr>
          <p:cNvPr id="28" name="Text 25"/>
          <p:cNvSpPr/>
          <p:nvPr/>
        </p:nvSpPr>
        <p:spPr>
          <a:xfrm>
            <a:off x="6065490" y="5929701"/>
            <a:ext cx="942632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GEN+GUARD</a:t>
            </a:r>
            <a:endParaRPr lang="en-US" sz="990" dirty="0"/>
          </a:p>
        </p:txBody>
      </p:sp>
      <p:sp>
        <p:nvSpPr>
          <p:cNvPr id="29" name="Text 26"/>
          <p:cNvSpPr/>
          <p:nvPr/>
        </p:nvSpPr>
        <p:spPr>
          <a:xfrm>
            <a:off x="6065490" y="6158301"/>
            <a:ext cx="2590770" cy="2373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55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 SQL + 独立安全校验层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914400" y="3695365"/>
            <a:ext cx="289563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12550" y="4003197"/>
            <a:ext cx="1573378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执行·修复·评测</a:t>
            </a:r>
            <a:endParaRPr lang="en-US" sz="1680" dirty="0"/>
          </a:p>
        </p:txBody>
      </p:sp>
      <p:sp>
        <p:nvSpPr>
          <p:cNvPr id="32" name="Text 29"/>
          <p:cNvSpPr/>
          <p:nvPr/>
        </p:nvSpPr>
        <p:spPr>
          <a:xfrm>
            <a:off x="1112550" y="4283781"/>
            <a:ext cx="476602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LOOP</a:t>
            </a:r>
            <a:endParaRPr lang="en-US" sz="990" dirty="0"/>
          </a:p>
        </p:txBody>
      </p:sp>
      <p:sp>
        <p:nvSpPr>
          <p:cNvPr id="33" name="Text 30"/>
          <p:cNvSpPr/>
          <p:nvPr/>
        </p:nvSpPr>
        <p:spPr>
          <a:xfrm>
            <a:off x="1112550" y="4512381"/>
            <a:ext cx="2590770" cy="2373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55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只读执行、有界 Repair、可评测</a:t>
            </a:r>
            <a:endParaRPr lang="en-US" sz="1140" dirty="0"/>
          </a:p>
        </p:txBody>
      </p:sp>
      <p:sp>
        <p:nvSpPr>
          <p:cNvPr id="34" name="Shape 31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14400" y="7254210"/>
            <a:ext cx="1388471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6E8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四个能力支柱</a:t>
            </a:r>
            <a:endParaRPr lang="en-US" sz="1585" dirty="0"/>
          </a:p>
        </p:txBody>
      </p:sp>
      <p:sp>
        <p:nvSpPr>
          <p:cNvPr id="37" name="Text 34"/>
          <p:cNvSpPr/>
          <p:nvPr/>
        </p:nvSpPr>
        <p:spPr>
          <a:xfrm>
            <a:off x="2214677" y="7275424"/>
            <a:ext cx="3800886" cy="2593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5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Exec 99.0% · Pass@1 90.0% · 0 Provider · 0 Timeout</a:t>
            </a:r>
            <a:endParaRPr lang="en-US" sz="126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30" y="8229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435699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468481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585" b="1" kern="0" spc="180" dirty="0">
                <a:solidFill>
                  <a:srgbClr val="F3F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系统总体架构</a:t>
            </a:r>
            <a:endParaRPr lang="en-US" sz="1585" dirty="0"/>
          </a:p>
        </p:txBody>
      </p:sp>
      <p:sp>
        <p:nvSpPr>
          <p:cNvPr id="8" name="Text 6"/>
          <p:cNvSpPr/>
          <p:nvPr/>
        </p:nvSpPr>
        <p:spPr>
          <a:xfrm>
            <a:off x="10879440" y="720090"/>
            <a:ext cx="3293486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MIMO 是外部 LLM PROVIDER</a:t>
            </a:r>
            <a:endParaRPr lang="en-US" sz="1585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5207356" cy="53757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外部调用 · 非系统内部层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6042081" y="1600200"/>
            <a:ext cx="317754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 → 前端 → API → Agent → 只读库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2425629" y="3040106"/>
            <a:ext cx="195560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</a:t>
            </a:r>
            <a:endParaRPr lang="en-US" sz="1055" dirty="0"/>
          </a:p>
        </p:txBody>
      </p:sp>
      <p:sp>
        <p:nvSpPr>
          <p:cNvPr id="12" name="Text 10"/>
          <p:cNvSpPr/>
          <p:nvPr/>
        </p:nvSpPr>
        <p:spPr>
          <a:xfrm>
            <a:off x="2509205" y="3040106"/>
            <a:ext cx="195560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1055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87767"/>
            <a:ext cx="6468283" cy="4876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084271" y="3009656"/>
            <a:ext cx="1791492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22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Mimo V2.5 Pro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875855" y="3078236"/>
            <a:ext cx="1200121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FFFFFF">
                    <a:alpha val="8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LLM PROVIDER</a:t>
            </a:r>
            <a:endParaRPr lang="en-US" sz="990" dirty="0"/>
          </a:p>
        </p:txBody>
      </p:sp>
      <p:sp>
        <p:nvSpPr>
          <p:cNvPr id="16" name="Text 13"/>
          <p:cNvSpPr/>
          <p:nvPr/>
        </p:nvSpPr>
        <p:spPr>
          <a:xfrm>
            <a:off x="2069836" y="3573567"/>
            <a:ext cx="195560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</a:t>
            </a:r>
            <a:endParaRPr lang="en-US" sz="1055" dirty="0"/>
          </a:p>
        </p:txBody>
      </p:sp>
      <p:sp>
        <p:nvSpPr>
          <p:cNvPr id="17" name="Text 14"/>
          <p:cNvSpPr/>
          <p:nvPr/>
        </p:nvSpPr>
        <p:spPr>
          <a:xfrm>
            <a:off x="2153412" y="3573567"/>
            <a:ext cx="195560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</a:t>
            </a:r>
            <a:endParaRPr lang="en-US" sz="1055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21136"/>
            <a:ext cx="6468283" cy="4876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728570" y="3567349"/>
            <a:ext cx="548640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22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3272638" y="3634466"/>
            <a:ext cx="476602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FFFFFF">
                    <a:alpha val="8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</a:t>
            </a:r>
            <a:endParaRPr lang="en-US" sz="990" dirty="0"/>
          </a:p>
        </p:txBody>
      </p:sp>
      <p:sp>
        <p:nvSpPr>
          <p:cNvPr id="21" name="Text 17"/>
          <p:cNvSpPr/>
          <p:nvPr/>
        </p:nvSpPr>
        <p:spPr>
          <a:xfrm>
            <a:off x="1714134" y="4106936"/>
            <a:ext cx="195560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</a:t>
            </a:r>
            <a:endParaRPr lang="en-US" sz="1055" dirty="0"/>
          </a:p>
        </p:txBody>
      </p:sp>
      <p:sp>
        <p:nvSpPr>
          <p:cNvPr id="22" name="Text 18"/>
          <p:cNvSpPr/>
          <p:nvPr/>
        </p:nvSpPr>
        <p:spPr>
          <a:xfrm>
            <a:off x="1797710" y="4106936"/>
            <a:ext cx="195560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</a:t>
            </a:r>
            <a:endParaRPr lang="en-US" sz="1055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54506"/>
            <a:ext cx="6468283" cy="4876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372777" y="4076487"/>
            <a:ext cx="1992752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22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React + ECharts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4365528" y="4145067"/>
            <a:ext cx="858479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FFFFFF">
                    <a:alpha val="8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FRONTEND</a:t>
            </a:r>
            <a:endParaRPr lang="en-US" sz="990" dirty="0"/>
          </a:p>
        </p:txBody>
      </p:sp>
      <p:sp>
        <p:nvSpPr>
          <p:cNvPr id="26" name="Text 21"/>
          <p:cNvSpPr/>
          <p:nvPr/>
        </p:nvSpPr>
        <p:spPr>
          <a:xfrm>
            <a:off x="1358341" y="4640306"/>
            <a:ext cx="195560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</a:t>
            </a:r>
            <a:endParaRPr lang="en-US" sz="1055" dirty="0"/>
          </a:p>
        </p:txBody>
      </p:sp>
      <p:sp>
        <p:nvSpPr>
          <p:cNvPr id="27" name="Text 22"/>
          <p:cNvSpPr/>
          <p:nvPr/>
        </p:nvSpPr>
        <p:spPr>
          <a:xfrm>
            <a:off x="1441917" y="4640306"/>
            <a:ext cx="195560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</a:t>
            </a:r>
            <a:endParaRPr lang="en-US" sz="1055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87967"/>
            <a:ext cx="6468283" cy="48765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017075" y="4609856"/>
            <a:ext cx="1072134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22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FastAPI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3052633" y="4678436"/>
            <a:ext cx="381133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FFFFFF">
                    <a:alpha val="82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API</a:t>
            </a:r>
            <a:endParaRPr lang="en-US" sz="990" dirty="0"/>
          </a:p>
        </p:txBody>
      </p:sp>
      <p:sp>
        <p:nvSpPr>
          <p:cNvPr id="31" name="Text 25"/>
          <p:cNvSpPr/>
          <p:nvPr/>
        </p:nvSpPr>
        <p:spPr>
          <a:xfrm>
            <a:off x="1002548" y="5173767"/>
            <a:ext cx="195560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</a:t>
            </a:r>
            <a:endParaRPr lang="en-US" sz="1055" dirty="0"/>
          </a:p>
        </p:txBody>
      </p:sp>
      <p:sp>
        <p:nvSpPr>
          <p:cNvPr id="32" name="Text 26"/>
          <p:cNvSpPr/>
          <p:nvPr/>
        </p:nvSpPr>
        <p:spPr>
          <a:xfrm>
            <a:off x="1086124" y="5173767"/>
            <a:ext cx="195560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</a:t>
            </a:r>
            <a:endParaRPr lang="en-US" sz="1055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021336"/>
            <a:ext cx="6468283" cy="48765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661282" y="5143226"/>
            <a:ext cx="2183221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22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LangGraph Agent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3844503" y="5211806"/>
            <a:ext cx="1335824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ORCHESTRATION</a:t>
            </a:r>
            <a:endParaRPr lang="en-US" sz="990" dirty="0"/>
          </a:p>
        </p:txBody>
      </p:sp>
      <p:sp>
        <p:nvSpPr>
          <p:cNvPr id="36" name="Text 29"/>
          <p:cNvSpPr/>
          <p:nvPr/>
        </p:nvSpPr>
        <p:spPr>
          <a:xfrm>
            <a:off x="646938" y="5707136"/>
            <a:ext cx="195560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</a:t>
            </a:r>
            <a:endParaRPr lang="en-US" sz="1055" dirty="0"/>
          </a:p>
        </p:txBody>
      </p:sp>
      <p:sp>
        <p:nvSpPr>
          <p:cNvPr id="37" name="Text 30"/>
          <p:cNvSpPr/>
          <p:nvPr/>
        </p:nvSpPr>
        <p:spPr>
          <a:xfrm>
            <a:off x="730514" y="5707136"/>
            <a:ext cx="195560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</a:t>
            </a:r>
            <a:endParaRPr lang="en-US" sz="1055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554706"/>
            <a:ext cx="6468283" cy="48765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305489" y="5701010"/>
            <a:ext cx="1437894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22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只读</a:t>
            </a:r>
            <a:endParaRPr lang="en-US" sz="1800" dirty="0"/>
          </a:p>
        </p:txBody>
      </p:sp>
      <p:sp>
        <p:nvSpPr>
          <p:cNvPr id="40" name="Text 32"/>
          <p:cNvSpPr/>
          <p:nvPr/>
        </p:nvSpPr>
        <p:spPr>
          <a:xfrm>
            <a:off x="2710007" y="5768127"/>
            <a:ext cx="1229039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ECOMMERCE.DB</a:t>
            </a:r>
            <a:endParaRPr lang="en-US" sz="990" dirty="0"/>
          </a:p>
        </p:txBody>
      </p:sp>
      <p:sp>
        <p:nvSpPr>
          <p:cNvPr id="41" name="Shape 33"/>
          <p:cNvSpPr/>
          <p:nvPr/>
        </p:nvSpPr>
        <p:spPr>
          <a:xfrm>
            <a:off x="7778984" y="1912285"/>
            <a:ext cx="5937016" cy="51057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7778984" y="1912285"/>
            <a:ext cx="11593" cy="5105735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8091343" y="2444740"/>
            <a:ext cx="5624657" cy="6518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8091343" y="3085023"/>
            <a:ext cx="5624657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8091343" y="2619939"/>
            <a:ext cx="106710" cy="106710"/>
          </a:xfrm>
          <a:prstGeom prst="rect">
            <a:avLst/>
          </a:prstGeom>
          <a:solidFill>
            <a:srgbClr val="6E85FF"/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8319943" y="2551359"/>
            <a:ext cx="141732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Mimo V2.5 Pro</a:t>
            </a:r>
            <a:endParaRPr lang="en-US" sz="1440" dirty="0"/>
          </a:p>
        </p:txBody>
      </p:sp>
      <p:sp>
        <p:nvSpPr>
          <p:cNvPr id="47" name="Text 39"/>
          <p:cNvSpPr/>
          <p:nvPr/>
        </p:nvSpPr>
        <p:spPr>
          <a:xfrm>
            <a:off x="9722084" y="2589489"/>
            <a:ext cx="1127429" cy="1874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5" kern="0" spc="63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LLM PROVIDER</a:t>
            </a:r>
            <a:endParaRPr lang="en-US" sz="925" dirty="0"/>
          </a:p>
        </p:txBody>
      </p:sp>
      <p:sp>
        <p:nvSpPr>
          <p:cNvPr id="48" name="Text 40"/>
          <p:cNvSpPr/>
          <p:nvPr/>
        </p:nvSpPr>
        <p:spPr>
          <a:xfrm>
            <a:off x="8319943" y="2772369"/>
            <a:ext cx="2508733" cy="2373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55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OpenAI-compatible · 外部推理服务</a:t>
            </a:r>
            <a:endParaRPr lang="en-US" sz="1140" dirty="0"/>
          </a:p>
        </p:txBody>
      </p:sp>
      <p:sp>
        <p:nvSpPr>
          <p:cNvPr id="49" name="Shape 41"/>
          <p:cNvSpPr/>
          <p:nvPr/>
        </p:nvSpPr>
        <p:spPr>
          <a:xfrm>
            <a:off x="8091343" y="3096616"/>
            <a:ext cx="5624657" cy="720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8091343" y="3805478"/>
            <a:ext cx="5624657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8091343" y="3271815"/>
            <a:ext cx="106710" cy="106710"/>
          </a:xfrm>
          <a:prstGeom prst="rect">
            <a:avLst/>
          </a:prstGeom>
          <a:solidFill>
            <a:srgbClr val="6E85FF">
              <a:alpha val="84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8319943" y="3256636"/>
            <a:ext cx="460858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</a:t>
            </a:r>
            <a:endParaRPr lang="en-US" sz="1440" dirty="0"/>
          </a:p>
        </p:txBody>
      </p:sp>
      <p:sp>
        <p:nvSpPr>
          <p:cNvPr id="53" name="Text 45"/>
          <p:cNvSpPr/>
          <p:nvPr/>
        </p:nvSpPr>
        <p:spPr>
          <a:xfrm>
            <a:off x="8761964" y="3294675"/>
            <a:ext cx="452144" cy="1874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5" kern="0" spc="63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</a:t>
            </a:r>
            <a:endParaRPr lang="en-US" sz="925" dirty="0"/>
          </a:p>
        </p:txBody>
      </p:sp>
      <p:sp>
        <p:nvSpPr>
          <p:cNvPr id="54" name="Text 46"/>
          <p:cNvSpPr/>
          <p:nvPr/>
        </p:nvSpPr>
        <p:spPr>
          <a:xfrm>
            <a:off x="8319943" y="3492825"/>
            <a:ext cx="1671904" cy="2373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55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自然语言提问 / 结果消费</a:t>
            </a:r>
            <a:endParaRPr lang="en-US" sz="1140" dirty="0"/>
          </a:p>
        </p:txBody>
      </p:sp>
      <p:sp>
        <p:nvSpPr>
          <p:cNvPr id="55" name="Shape 47"/>
          <p:cNvSpPr/>
          <p:nvPr/>
        </p:nvSpPr>
        <p:spPr>
          <a:xfrm>
            <a:off x="8091343" y="3816980"/>
            <a:ext cx="5624657" cy="6518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8091343" y="4457263"/>
            <a:ext cx="5624657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8091343" y="3992270"/>
            <a:ext cx="106710" cy="106710"/>
          </a:xfrm>
          <a:prstGeom prst="rect">
            <a:avLst/>
          </a:prstGeom>
          <a:solidFill>
            <a:srgbClr val="6E85FF">
              <a:alpha val="69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8319943" y="3923690"/>
            <a:ext cx="158493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React + ECharts</a:t>
            </a:r>
            <a:endParaRPr lang="en-US" sz="1440" dirty="0"/>
          </a:p>
        </p:txBody>
      </p:sp>
      <p:sp>
        <p:nvSpPr>
          <p:cNvPr id="59" name="Text 51"/>
          <p:cNvSpPr/>
          <p:nvPr/>
        </p:nvSpPr>
        <p:spPr>
          <a:xfrm>
            <a:off x="9889693" y="3961821"/>
            <a:ext cx="808562" cy="1874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5" kern="0" spc="63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FRONTEND</a:t>
            </a:r>
            <a:endParaRPr lang="en-US" sz="925" dirty="0"/>
          </a:p>
        </p:txBody>
      </p:sp>
      <p:sp>
        <p:nvSpPr>
          <p:cNvPr id="60" name="Text 52"/>
          <p:cNvSpPr/>
          <p:nvPr/>
        </p:nvSpPr>
        <p:spPr>
          <a:xfrm>
            <a:off x="8319943" y="4144701"/>
            <a:ext cx="2261128" cy="2373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55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提问 · 结果 · Trace · 图表</a:t>
            </a:r>
            <a:endParaRPr lang="en-US" sz="1140" dirty="0"/>
          </a:p>
        </p:txBody>
      </p:sp>
      <p:sp>
        <p:nvSpPr>
          <p:cNvPr id="61" name="Shape 53"/>
          <p:cNvSpPr/>
          <p:nvPr/>
        </p:nvSpPr>
        <p:spPr>
          <a:xfrm>
            <a:off x="8091343" y="4468856"/>
            <a:ext cx="5624657" cy="6518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8091343" y="5109138"/>
            <a:ext cx="5624657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8091343" y="4644146"/>
            <a:ext cx="106710" cy="106710"/>
          </a:xfrm>
          <a:prstGeom prst="rect">
            <a:avLst/>
          </a:prstGeom>
          <a:solidFill>
            <a:srgbClr val="6E85FF">
              <a:alpha val="53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64" name="Text 56"/>
          <p:cNvSpPr/>
          <p:nvPr/>
        </p:nvSpPr>
        <p:spPr>
          <a:xfrm>
            <a:off x="8319943" y="4575566"/>
            <a:ext cx="879653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FastAPI</a:t>
            </a:r>
            <a:endParaRPr lang="en-US" sz="1440" dirty="0"/>
          </a:p>
        </p:txBody>
      </p:sp>
      <p:sp>
        <p:nvSpPr>
          <p:cNvPr id="65" name="Text 57"/>
          <p:cNvSpPr/>
          <p:nvPr/>
        </p:nvSpPr>
        <p:spPr>
          <a:xfrm>
            <a:off x="9120043" y="4613697"/>
            <a:ext cx="363040" cy="1874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5" kern="0" spc="63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API</a:t>
            </a:r>
            <a:endParaRPr lang="en-US" sz="925" dirty="0"/>
          </a:p>
        </p:txBody>
      </p:sp>
      <p:sp>
        <p:nvSpPr>
          <p:cNvPr id="66" name="Text 58"/>
          <p:cNvSpPr/>
          <p:nvPr/>
        </p:nvSpPr>
        <p:spPr>
          <a:xfrm>
            <a:off x="8319943" y="4796577"/>
            <a:ext cx="1977390" cy="2373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55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REST 路由 · /docs 自动文档</a:t>
            </a:r>
            <a:endParaRPr lang="en-US" sz="1140" dirty="0"/>
          </a:p>
        </p:txBody>
      </p:sp>
      <p:sp>
        <p:nvSpPr>
          <p:cNvPr id="67" name="Shape 59"/>
          <p:cNvSpPr/>
          <p:nvPr/>
        </p:nvSpPr>
        <p:spPr>
          <a:xfrm>
            <a:off x="8091343" y="5120731"/>
            <a:ext cx="5624657" cy="6518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8091343" y="5761014"/>
            <a:ext cx="5624657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8091343" y="5296022"/>
            <a:ext cx="106710" cy="106710"/>
          </a:xfrm>
          <a:prstGeom prst="rect">
            <a:avLst/>
          </a:prstGeom>
          <a:solidFill>
            <a:srgbClr val="6E85FF">
              <a:alpha val="38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70" name="Text 62"/>
          <p:cNvSpPr/>
          <p:nvPr/>
        </p:nvSpPr>
        <p:spPr>
          <a:xfrm>
            <a:off x="8319943" y="5227442"/>
            <a:ext cx="170691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LangGraph Agent</a:t>
            </a:r>
            <a:endParaRPr lang="en-US" sz="1440" dirty="0"/>
          </a:p>
        </p:txBody>
      </p:sp>
      <p:sp>
        <p:nvSpPr>
          <p:cNvPr id="71" name="Text 63"/>
          <p:cNvSpPr/>
          <p:nvPr/>
        </p:nvSpPr>
        <p:spPr>
          <a:xfrm>
            <a:off x="10011583" y="5265572"/>
            <a:ext cx="1254084" cy="1874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5" kern="0" spc="63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ORCHESTRATION</a:t>
            </a:r>
            <a:endParaRPr lang="en-US" sz="925" dirty="0"/>
          </a:p>
        </p:txBody>
      </p:sp>
      <p:sp>
        <p:nvSpPr>
          <p:cNvPr id="72" name="Text 64"/>
          <p:cNvSpPr/>
          <p:nvPr/>
        </p:nvSpPr>
        <p:spPr>
          <a:xfrm>
            <a:off x="8319943" y="5448452"/>
            <a:ext cx="3366546" cy="23737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5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Schema → Few-shot → 生成 → 安全 → 执行 → 修复</a:t>
            </a:r>
            <a:endParaRPr lang="en-US" sz="1140" dirty="0"/>
          </a:p>
        </p:txBody>
      </p:sp>
      <p:sp>
        <p:nvSpPr>
          <p:cNvPr id="73" name="Shape 65"/>
          <p:cNvSpPr/>
          <p:nvPr/>
        </p:nvSpPr>
        <p:spPr>
          <a:xfrm>
            <a:off x="8091343" y="5947898"/>
            <a:ext cx="106710" cy="106710"/>
          </a:xfrm>
          <a:prstGeom prst="rect">
            <a:avLst/>
          </a:prstGeom>
          <a:solidFill>
            <a:srgbClr val="6E85FF">
              <a:alpha val="25000"/>
            </a:srgbClr>
          </a:solidFill>
          <a:ln w="19050">
            <a:solidFill>
              <a:srgbClr val="6E85FF"/>
            </a:solidFill>
            <a:prstDash val="solid"/>
          </a:ln>
        </p:spPr>
      </p:sp>
      <p:sp>
        <p:nvSpPr>
          <p:cNvPr id="74" name="Text 66"/>
          <p:cNvSpPr/>
          <p:nvPr/>
        </p:nvSpPr>
        <p:spPr>
          <a:xfrm>
            <a:off x="8319943" y="5932627"/>
            <a:ext cx="1172261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只读</a:t>
            </a:r>
            <a:endParaRPr lang="en-US" sz="1440" dirty="0"/>
          </a:p>
        </p:txBody>
      </p:sp>
      <p:sp>
        <p:nvSpPr>
          <p:cNvPr id="75" name="Text 67"/>
          <p:cNvSpPr/>
          <p:nvPr/>
        </p:nvSpPr>
        <p:spPr>
          <a:xfrm>
            <a:off x="9424904" y="5970758"/>
            <a:ext cx="1154419" cy="1874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5" kern="0" spc="63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ECOMMERCE.DB</a:t>
            </a:r>
            <a:endParaRPr lang="en-US" sz="925" dirty="0"/>
          </a:p>
        </p:txBody>
      </p:sp>
      <p:sp>
        <p:nvSpPr>
          <p:cNvPr id="76" name="Text 68"/>
          <p:cNvSpPr/>
          <p:nvPr/>
        </p:nvSpPr>
        <p:spPr>
          <a:xfrm>
            <a:off x="8319943" y="6168908"/>
            <a:ext cx="2096171" cy="23737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55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mode=ro · query_only=ON</a:t>
            </a:r>
            <a:endParaRPr lang="en-US" sz="1140" dirty="0"/>
          </a:p>
        </p:txBody>
      </p:sp>
      <p:sp>
        <p:nvSpPr>
          <p:cNvPr id="77" name="Shape 69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8" name="Shape 70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9" name="Text 71"/>
          <p:cNvSpPr/>
          <p:nvPr/>
        </p:nvSpPr>
        <p:spPr>
          <a:xfrm>
            <a:off x="914400" y="7254210"/>
            <a:ext cx="1171346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6E8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实际技术栈</a:t>
            </a:r>
            <a:endParaRPr lang="en-US" sz="1585" dirty="0"/>
          </a:p>
        </p:txBody>
      </p:sp>
      <p:sp>
        <p:nvSpPr>
          <p:cNvPr id="80" name="Text 72"/>
          <p:cNvSpPr/>
          <p:nvPr/>
        </p:nvSpPr>
        <p:spPr>
          <a:xfrm>
            <a:off x="2020824" y="7275424"/>
            <a:ext cx="4006626" cy="2593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5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 3.12 · React 19 · Vite · ECharts 6 · LangGraph 1.2</a:t>
            </a:r>
            <a:endParaRPr lang="en-US" sz="1260" dirty="0"/>
          </a:p>
        </p:txBody>
      </p:sp>
      <p:pic>
        <p:nvPicPr>
          <p:cNvPr id="8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4970" y="83823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813530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950369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585" b="1" kern="0" spc="180" dirty="0">
                <a:solidFill>
                  <a:srgbClr val="F3F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AGENT 核心流程</a:t>
            </a:r>
            <a:endParaRPr lang="en-US" sz="1585" dirty="0"/>
          </a:p>
        </p:txBody>
      </p:sp>
      <p:sp>
        <p:nvSpPr>
          <p:cNvPr id="8" name="Text 6"/>
          <p:cNvSpPr/>
          <p:nvPr/>
        </p:nvSpPr>
        <p:spPr>
          <a:xfrm>
            <a:off x="11493917" y="720090"/>
            <a:ext cx="2634478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LANGGRAPH 有界状态图</a:t>
            </a:r>
            <a:endParaRPr lang="en-US" sz="1585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1952884" cy="53757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用户问题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2928183" y="1600200"/>
            <a:ext cx="4548226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repair_count≤1 · execute_count≤2 · 绝不无限循环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914400" y="2049445"/>
            <a:ext cx="2474915" cy="8534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049445"/>
            <a:ext cx="2474915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6290" y="2224644"/>
            <a:ext cx="383225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阶段</a:t>
            </a:r>
            <a:endParaRPr lang="en-US" sz="1055" dirty="0"/>
          </a:p>
        </p:txBody>
      </p:sp>
      <p:sp>
        <p:nvSpPr>
          <p:cNvPr id="14" name="Text 12"/>
          <p:cNvSpPr/>
          <p:nvPr/>
        </p:nvSpPr>
        <p:spPr>
          <a:xfrm>
            <a:off x="1036290" y="2407524"/>
            <a:ext cx="195560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1055" dirty="0"/>
          </a:p>
        </p:txBody>
      </p:sp>
      <p:sp>
        <p:nvSpPr>
          <p:cNvPr id="15" name="Text 13"/>
          <p:cNvSpPr/>
          <p:nvPr/>
        </p:nvSpPr>
        <p:spPr>
          <a:xfrm>
            <a:off x="1432956" y="2163745"/>
            <a:ext cx="1097280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Schema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32956" y="2407524"/>
            <a:ext cx="1010412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Linking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36290" y="2651394"/>
            <a:ext cx="452144" cy="1874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5" kern="0" spc="63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LINK</a:t>
            </a:r>
            <a:endParaRPr lang="en-US" sz="925" dirty="0"/>
          </a:p>
        </p:txBody>
      </p:sp>
      <p:sp>
        <p:nvSpPr>
          <p:cNvPr id="18" name="Shape 16"/>
          <p:cNvSpPr/>
          <p:nvPr/>
        </p:nvSpPr>
        <p:spPr>
          <a:xfrm>
            <a:off x="3496026" y="2049445"/>
            <a:ext cx="2474915" cy="8534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96026" y="2049445"/>
            <a:ext cx="2474915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7915" y="2293224"/>
            <a:ext cx="383225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阶段</a:t>
            </a:r>
            <a:endParaRPr lang="en-US" sz="1055" dirty="0"/>
          </a:p>
        </p:txBody>
      </p:sp>
      <p:sp>
        <p:nvSpPr>
          <p:cNvPr id="21" name="Text 19"/>
          <p:cNvSpPr/>
          <p:nvPr/>
        </p:nvSpPr>
        <p:spPr>
          <a:xfrm>
            <a:off x="3876416" y="2293224"/>
            <a:ext cx="195560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</a:t>
            </a:r>
            <a:endParaRPr lang="en-US" sz="1055" dirty="0"/>
          </a:p>
        </p:txBody>
      </p:sp>
      <p:sp>
        <p:nvSpPr>
          <p:cNvPr id="22" name="Text 20"/>
          <p:cNvSpPr/>
          <p:nvPr/>
        </p:nvSpPr>
        <p:spPr>
          <a:xfrm>
            <a:off x="4036253" y="2233788"/>
            <a:ext cx="1714500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Few-shot 检索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17915" y="2498964"/>
            <a:ext cx="808562" cy="1874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5" kern="0" spc="63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RETRIEVE</a:t>
            </a:r>
            <a:endParaRPr lang="en-US" sz="925" dirty="0"/>
          </a:p>
        </p:txBody>
      </p:sp>
      <p:sp>
        <p:nvSpPr>
          <p:cNvPr id="24" name="Shape 22"/>
          <p:cNvSpPr/>
          <p:nvPr/>
        </p:nvSpPr>
        <p:spPr>
          <a:xfrm>
            <a:off x="6077651" y="2049445"/>
            <a:ext cx="2474915" cy="8534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77651" y="2049445"/>
            <a:ext cx="2474915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541" y="2293224"/>
            <a:ext cx="383225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阶段</a:t>
            </a:r>
            <a:endParaRPr lang="en-US" sz="1055" dirty="0"/>
          </a:p>
        </p:txBody>
      </p:sp>
      <p:sp>
        <p:nvSpPr>
          <p:cNvPr id="27" name="Text 25"/>
          <p:cNvSpPr/>
          <p:nvPr/>
        </p:nvSpPr>
        <p:spPr>
          <a:xfrm>
            <a:off x="6458041" y="2293224"/>
            <a:ext cx="195560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</a:t>
            </a:r>
            <a:endParaRPr lang="en-US" sz="1055" dirty="0"/>
          </a:p>
        </p:txBody>
      </p:sp>
      <p:sp>
        <p:nvSpPr>
          <p:cNvPr id="28" name="Text 26"/>
          <p:cNvSpPr/>
          <p:nvPr/>
        </p:nvSpPr>
        <p:spPr>
          <a:xfrm>
            <a:off x="6617879" y="2233788"/>
            <a:ext cx="1097280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 生成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199541" y="2498964"/>
            <a:ext cx="808562" cy="1874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5" kern="0" spc="63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GENERATE</a:t>
            </a:r>
            <a:endParaRPr lang="en-US" sz="925" dirty="0"/>
          </a:p>
        </p:txBody>
      </p:sp>
      <p:sp>
        <p:nvSpPr>
          <p:cNvPr id="30" name="Shape 28"/>
          <p:cNvSpPr/>
          <p:nvPr/>
        </p:nvSpPr>
        <p:spPr>
          <a:xfrm>
            <a:off x="8659277" y="2049445"/>
            <a:ext cx="2474915" cy="8534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59277" y="2049445"/>
            <a:ext cx="2474915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81258" y="2293224"/>
            <a:ext cx="383225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阶段</a:t>
            </a:r>
            <a:endParaRPr lang="en-US" sz="1055" dirty="0"/>
          </a:p>
        </p:txBody>
      </p:sp>
      <p:sp>
        <p:nvSpPr>
          <p:cNvPr id="33" name="Text 31"/>
          <p:cNvSpPr/>
          <p:nvPr/>
        </p:nvSpPr>
        <p:spPr>
          <a:xfrm>
            <a:off x="9039667" y="2293224"/>
            <a:ext cx="195560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</a:t>
            </a:r>
            <a:endParaRPr lang="en-US" sz="1055" dirty="0"/>
          </a:p>
        </p:txBody>
      </p:sp>
      <p:sp>
        <p:nvSpPr>
          <p:cNvPr id="34" name="Text 32"/>
          <p:cNvSpPr/>
          <p:nvPr/>
        </p:nvSpPr>
        <p:spPr>
          <a:xfrm>
            <a:off x="9199504" y="2233788"/>
            <a:ext cx="1396746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Safety 校验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781258" y="2498964"/>
            <a:ext cx="630353" cy="1874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5" kern="0" spc="63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SAFETY</a:t>
            </a:r>
            <a:endParaRPr lang="en-US" sz="925" dirty="0"/>
          </a:p>
        </p:txBody>
      </p:sp>
      <p:sp>
        <p:nvSpPr>
          <p:cNvPr id="36" name="Shape 34"/>
          <p:cNvSpPr/>
          <p:nvPr/>
        </p:nvSpPr>
        <p:spPr>
          <a:xfrm>
            <a:off x="11240902" y="2049445"/>
            <a:ext cx="2474915" cy="8534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40902" y="2049445"/>
            <a:ext cx="2474915" cy="34779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362883" y="2293224"/>
            <a:ext cx="383225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阶段</a:t>
            </a:r>
            <a:endParaRPr lang="en-US" sz="1055" dirty="0"/>
          </a:p>
        </p:txBody>
      </p:sp>
      <p:sp>
        <p:nvSpPr>
          <p:cNvPr id="39" name="Text 37"/>
          <p:cNvSpPr/>
          <p:nvPr/>
        </p:nvSpPr>
        <p:spPr>
          <a:xfrm>
            <a:off x="11621292" y="2293224"/>
            <a:ext cx="195560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</a:t>
            </a:r>
            <a:endParaRPr lang="en-US" sz="1055" dirty="0"/>
          </a:p>
        </p:txBody>
      </p:sp>
      <p:sp>
        <p:nvSpPr>
          <p:cNvPr id="40" name="Text 38"/>
          <p:cNvSpPr/>
          <p:nvPr/>
        </p:nvSpPr>
        <p:spPr>
          <a:xfrm>
            <a:off x="11781130" y="2233788"/>
            <a:ext cx="1595628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 + Repair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362883" y="2498964"/>
            <a:ext cx="719458" cy="1874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5" kern="0" spc="63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EXECUTE</a:t>
            </a:r>
            <a:endParaRPr lang="en-US" sz="925" dirty="0"/>
          </a:p>
        </p:txBody>
      </p:sp>
      <p:sp>
        <p:nvSpPr>
          <p:cNvPr id="42" name="Text 40"/>
          <p:cNvSpPr/>
          <p:nvPr/>
        </p:nvSpPr>
        <p:spPr>
          <a:xfrm>
            <a:off x="914400" y="3009565"/>
            <a:ext cx="567162" cy="1798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60" kern="0" spc="5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执行行为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914400" y="3200034"/>
            <a:ext cx="2566355" cy="2300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识别表/字段/置信度</a:t>
            </a:r>
            <a:endParaRPr lang="en-US" sz="1140" dirty="0"/>
          </a:p>
        </p:txBody>
      </p:sp>
      <p:sp>
        <p:nvSpPr>
          <p:cNvPr id="44" name="Text 42"/>
          <p:cNvSpPr/>
          <p:nvPr/>
        </p:nvSpPr>
        <p:spPr>
          <a:xfrm>
            <a:off x="3496026" y="3009565"/>
            <a:ext cx="567162" cy="1798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60" kern="0" spc="5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执行行为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3496026" y="3200034"/>
            <a:ext cx="2566355" cy="2300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规则型 Top-K 示例</a:t>
            </a:r>
            <a:endParaRPr lang="en-US" sz="1140" dirty="0"/>
          </a:p>
        </p:txBody>
      </p:sp>
      <p:sp>
        <p:nvSpPr>
          <p:cNvPr id="46" name="Text 44"/>
          <p:cNvSpPr/>
          <p:nvPr/>
        </p:nvSpPr>
        <p:spPr>
          <a:xfrm>
            <a:off x="6077651" y="3009565"/>
            <a:ext cx="567162" cy="1798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60" kern="0" spc="5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执行行为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6077651" y="3200034"/>
            <a:ext cx="2566355" cy="2300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生成候选 SQL</a:t>
            </a:r>
            <a:endParaRPr lang="en-US" sz="1140" dirty="0"/>
          </a:p>
        </p:txBody>
      </p:sp>
      <p:sp>
        <p:nvSpPr>
          <p:cNvPr id="48" name="Text 46"/>
          <p:cNvSpPr/>
          <p:nvPr/>
        </p:nvSpPr>
        <p:spPr>
          <a:xfrm>
            <a:off x="8659277" y="3009565"/>
            <a:ext cx="567162" cy="1798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60" kern="0" spc="5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执行行为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8659277" y="3200034"/>
            <a:ext cx="2566355" cy="2300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独立校验层把关</a:t>
            </a:r>
            <a:endParaRPr lang="en-US" sz="1140" dirty="0"/>
          </a:p>
        </p:txBody>
      </p:sp>
      <p:sp>
        <p:nvSpPr>
          <p:cNvPr id="50" name="Text 48"/>
          <p:cNvSpPr/>
          <p:nvPr/>
        </p:nvSpPr>
        <p:spPr>
          <a:xfrm>
            <a:off x="11240902" y="3009565"/>
            <a:ext cx="567162" cy="1798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60" kern="0" spc="5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执行行为</a:t>
            </a:r>
            <a:endParaRPr lang="en-US" sz="860" dirty="0"/>
          </a:p>
        </p:txBody>
      </p:sp>
      <p:sp>
        <p:nvSpPr>
          <p:cNvPr id="51" name="Text 49"/>
          <p:cNvSpPr/>
          <p:nvPr/>
        </p:nvSpPr>
        <p:spPr>
          <a:xfrm>
            <a:off x="11240902" y="3200034"/>
            <a:ext cx="2566355" cy="2300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 → Repair≤1 → Re-check → 重执</a:t>
            </a:r>
            <a:endParaRPr lang="en-US" sz="1140" dirty="0"/>
          </a:p>
        </p:txBody>
      </p:sp>
      <p:sp>
        <p:nvSpPr>
          <p:cNvPr id="52" name="Text 50"/>
          <p:cNvSpPr/>
          <p:nvPr/>
        </p:nvSpPr>
        <p:spPr>
          <a:xfrm>
            <a:off x="914400" y="3555096"/>
            <a:ext cx="2335210" cy="1798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60" kern="0" spc="5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全链路 TRACE · 状态/失败/SKIP/耗时</a:t>
            </a:r>
            <a:endParaRPr lang="en-US" sz="860" dirty="0"/>
          </a:p>
        </p:txBody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768425"/>
            <a:ext cx="12801600" cy="3054187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2049170" y="3958438"/>
            <a:ext cx="417412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理解</a:t>
            </a:r>
            <a:endParaRPr lang="en-US" sz="1190" dirty="0"/>
          </a:p>
        </p:txBody>
      </p:sp>
      <p:sp>
        <p:nvSpPr>
          <p:cNvPr id="55" name="Shape 52"/>
          <p:cNvSpPr/>
          <p:nvPr/>
        </p:nvSpPr>
        <p:spPr>
          <a:xfrm>
            <a:off x="2125980" y="4225168"/>
            <a:ext cx="137160" cy="137160"/>
          </a:xfrm>
          <a:prstGeom prst="ellipse">
            <a:avLst/>
          </a:prstGeom>
          <a:solidFill>
            <a:srgbClr val="161513"/>
          </a:solidFill>
          <a:ln w="28575">
            <a:solidFill>
              <a:srgbClr val="6E85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609490" y="4056187"/>
            <a:ext cx="417412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辅助</a:t>
            </a:r>
            <a:endParaRPr lang="en-US" sz="1190" dirty="0"/>
          </a:p>
        </p:txBody>
      </p:sp>
      <p:sp>
        <p:nvSpPr>
          <p:cNvPr id="57" name="Shape 54"/>
          <p:cNvSpPr/>
          <p:nvPr/>
        </p:nvSpPr>
        <p:spPr>
          <a:xfrm>
            <a:off x="4686300" y="4322917"/>
            <a:ext cx="137160" cy="137160"/>
          </a:xfrm>
          <a:prstGeom prst="ellipse">
            <a:avLst/>
          </a:prstGeom>
          <a:solidFill>
            <a:srgbClr val="161513"/>
          </a:solidFill>
          <a:ln w="28575">
            <a:solidFill>
              <a:srgbClr val="6E85FF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69810" y="4056187"/>
            <a:ext cx="417412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生成</a:t>
            </a:r>
            <a:endParaRPr lang="en-US" sz="1190" dirty="0"/>
          </a:p>
        </p:txBody>
      </p:sp>
      <p:sp>
        <p:nvSpPr>
          <p:cNvPr id="59" name="Shape 56"/>
          <p:cNvSpPr/>
          <p:nvPr/>
        </p:nvSpPr>
        <p:spPr>
          <a:xfrm>
            <a:off x="7246620" y="4322917"/>
            <a:ext cx="137160" cy="137160"/>
          </a:xfrm>
          <a:prstGeom prst="ellipse">
            <a:avLst/>
          </a:prstGeom>
          <a:solidFill>
            <a:srgbClr val="161513"/>
          </a:solidFill>
          <a:ln w="28575">
            <a:solidFill>
              <a:srgbClr val="6E85F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730130" y="4056187"/>
            <a:ext cx="417412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把关</a:t>
            </a:r>
            <a:endParaRPr lang="en-US" sz="1190" dirty="0"/>
          </a:p>
        </p:txBody>
      </p:sp>
      <p:sp>
        <p:nvSpPr>
          <p:cNvPr id="61" name="Shape 58"/>
          <p:cNvSpPr/>
          <p:nvPr/>
        </p:nvSpPr>
        <p:spPr>
          <a:xfrm>
            <a:off x="9806940" y="4322917"/>
            <a:ext cx="137160" cy="137160"/>
          </a:xfrm>
          <a:prstGeom prst="ellipse">
            <a:avLst/>
          </a:prstGeom>
          <a:solidFill>
            <a:srgbClr val="161513"/>
          </a:solidFill>
          <a:ln w="28575">
            <a:solidFill>
              <a:srgbClr val="6E85FF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2290359" y="4837999"/>
            <a:ext cx="417412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纠错</a:t>
            </a:r>
            <a:endParaRPr lang="en-US" sz="1190" dirty="0"/>
          </a:p>
        </p:txBody>
      </p:sp>
      <p:sp>
        <p:nvSpPr>
          <p:cNvPr id="63" name="Shape 60"/>
          <p:cNvSpPr/>
          <p:nvPr/>
        </p:nvSpPr>
        <p:spPr>
          <a:xfrm>
            <a:off x="12367260" y="5104729"/>
            <a:ext cx="137160" cy="137160"/>
          </a:xfrm>
          <a:prstGeom prst="ellipse">
            <a:avLst/>
          </a:prstGeom>
          <a:solidFill>
            <a:srgbClr val="161513"/>
          </a:solidFill>
          <a:ln w="28575">
            <a:solidFill>
              <a:srgbClr val="6E85F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14400" y="6959773"/>
            <a:ext cx="2474915" cy="568757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914400" y="6959773"/>
            <a:ext cx="34779" cy="568757"/>
          </a:xfrm>
          <a:prstGeom prst="rect">
            <a:avLst/>
          </a:prstGeom>
          <a:solidFill>
            <a:srgbClr val="5F8F0C"/>
          </a:solidFill>
          <a:ln w="12700">
            <a:solidFill>
              <a:srgbClr val="5F8F0C">
                <a:alpha val="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059150" y="7051213"/>
            <a:ext cx="567162" cy="1798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60" kern="0" spc="59" dirty="0">
                <a:solidFill>
                  <a:srgbClr val="5F8F0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异常处理</a:t>
            </a:r>
            <a:endParaRPr lang="en-US" sz="860" dirty="0"/>
          </a:p>
        </p:txBody>
      </p:sp>
      <p:sp>
        <p:nvSpPr>
          <p:cNvPr id="67" name="Text 64"/>
          <p:cNvSpPr/>
          <p:nvPr/>
        </p:nvSpPr>
        <p:spPr>
          <a:xfrm>
            <a:off x="1059150" y="7241774"/>
            <a:ext cx="2299716" cy="2228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4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 → 受控拒答</a:t>
            </a:r>
            <a:endParaRPr lang="en-US" sz="1140" dirty="0"/>
          </a:p>
        </p:txBody>
      </p:sp>
      <p:sp>
        <p:nvSpPr>
          <p:cNvPr id="68" name="Shape 65"/>
          <p:cNvSpPr/>
          <p:nvPr/>
        </p:nvSpPr>
        <p:spPr>
          <a:xfrm>
            <a:off x="3496026" y="6959773"/>
            <a:ext cx="2474915" cy="568757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496026" y="6959773"/>
            <a:ext cx="34779" cy="568757"/>
          </a:xfrm>
          <a:prstGeom prst="rect">
            <a:avLst/>
          </a:prstGeom>
          <a:solidFill>
            <a:srgbClr val="5F8F0C"/>
          </a:solidFill>
          <a:ln w="12700">
            <a:solidFill>
              <a:srgbClr val="5F8F0C">
                <a:alpha val="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640775" y="7051213"/>
            <a:ext cx="567162" cy="1798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60" kern="0" spc="59" dirty="0">
                <a:solidFill>
                  <a:srgbClr val="5F8F0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异常处理</a:t>
            </a:r>
            <a:endParaRPr lang="en-US" sz="860" dirty="0"/>
          </a:p>
        </p:txBody>
      </p:sp>
      <p:sp>
        <p:nvSpPr>
          <p:cNvPr id="71" name="Text 68"/>
          <p:cNvSpPr/>
          <p:nvPr/>
        </p:nvSpPr>
        <p:spPr>
          <a:xfrm>
            <a:off x="3640775" y="7241774"/>
            <a:ext cx="2299716" cy="2228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4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无示例仍可生成</a:t>
            </a:r>
            <a:endParaRPr lang="en-US" sz="1140" dirty="0"/>
          </a:p>
        </p:txBody>
      </p:sp>
      <p:sp>
        <p:nvSpPr>
          <p:cNvPr id="72" name="Shape 69"/>
          <p:cNvSpPr/>
          <p:nvPr/>
        </p:nvSpPr>
        <p:spPr>
          <a:xfrm>
            <a:off x="6077651" y="6959773"/>
            <a:ext cx="2474915" cy="568757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6077651" y="6959773"/>
            <a:ext cx="34779" cy="568757"/>
          </a:xfrm>
          <a:prstGeom prst="rect">
            <a:avLst/>
          </a:prstGeom>
          <a:solidFill>
            <a:srgbClr val="5F8F0C"/>
          </a:solidFill>
          <a:ln w="12700">
            <a:solidFill>
              <a:srgbClr val="5F8F0C">
                <a:alpha val="0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222401" y="7051213"/>
            <a:ext cx="567162" cy="1798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60" kern="0" spc="59" dirty="0">
                <a:solidFill>
                  <a:srgbClr val="5F8F0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异常处理</a:t>
            </a:r>
            <a:endParaRPr lang="en-US" sz="860" dirty="0"/>
          </a:p>
        </p:txBody>
      </p:sp>
      <p:sp>
        <p:nvSpPr>
          <p:cNvPr id="75" name="Text 72"/>
          <p:cNvSpPr/>
          <p:nvPr/>
        </p:nvSpPr>
        <p:spPr>
          <a:xfrm>
            <a:off x="6222401" y="7241774"/>
            <a:ext cx="2299716" cy="2228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4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 Safety 校验</a:t>
            </a:r>
            <a:endParaRPr lang="en-US" sz="1140" dirty="0"/>
          </a:p>
        </p:txBody>
      </p:sp>
      <p:sp>
        <p:nvSpPr>
          <p:cNvPr id="76" name="Shape 73"/>
          <p:cNvSpPr/>
          <p:nvPr/>
        </p:nvSpPr>
        <p:spPr>
          <a:xfrm>
            <a:off x="8659277" y="6959773"/>
            <a:ext cx="2474915" cy="568757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8659277" y="6959773"/>
            <a:ext cx="34779" cy="568757"/>
          </a:xfrm>
          <a:prstGeom prst="rect">
            <a:avLst/>
          </a:prstGeom>
          <a:solidFill>
            <a:srgbClr val="5F8F0C"/>
          </a:solidFill>
          <a:ln w="12700">
            <a:solidFill>
              <a:srgbClr val="5F8F0C">
                <a:alpha val="0"/>
              </a:srgbClr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8804118" y="7051213"/>
            <a:ext cx="567162" cy="1798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60" kern="0" spc="59" dirty="0">
                <a:solidFill>
                  <a:srgbClr val="5F8F0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异常处理</a:t>
            </a:r>
            <a:endParaRPr lang="en-US" sz="860" dirty="0"/>
          </a:p>
        </p:txBody>
      </p:sp>
      <p:sp>
        <p:nvSpPr>
          <p:cNvPr id="79" name="Text 76"/>
          <p:cNvSpPr/>
          <p:nvPr/>
        </p:nvSpPr>
        <p:spPr>
          <a:xfrm>
            <a:off x="8804118" y="7241774"/>
            <a:ext cx="2299716" cy="2228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4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不安全 → 拦截</a:t>
            </a:r>
            <a:endParaRPr lang="en-US" sz="1140" dirty="0"/>
          </a:p>
        </p:txBody>
      </p:sp>
      <p:sp>
        <p:nvSpPr>
          <p:cNvPr id="80" name="Shape 77"/>
          <p:cNvSpPr/>
          <p:nvPr/>
        </p:nvSpPr>
        <p:spPr>
          <a:xfrm>
            <a:off x="11240902" y="6959773"/>
            <a:ext cx="2474915" cy="568757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1240902" y="6959773"/>
            <a:ext cx="34779" cy="568757"/>
          </a:xfrm>
          <a:prstGeom prst="rect">
            <a:avLst/>
          </a:prstGeom>
          <a:solidFill>
            <a:srgbClr val="5F8F0C"/>
          </a:solidFill>
          <a:ln w="12700">
            <a:solidFill>
              <a:srgbClr val="5F8F0C">
                <a:alpha val="0"/>
              </a:srgbClr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11385743" y="7051213"/>
            <a:ext cx="567162" cy="1798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60" kern="0" spc="59" dirty="0">
                <a:solidFill>
                  <a:srgbClr val="5F8F0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异常处理</a:t>
            </a:r>
            <a:endParaRPr lang="en-US" sz="860" dirty="0"/>
          </a:p>
        </p:txBody>
      </p:sp>
      <p:sp>
        <p:nvSpPr>
          <p:cNvPr id="83" name="Text 80"/>
          <p:cNvSpPr/>
          <p:nvPr/>
        </p:nvSpPr>
        <p:spPr>
          <a:xfrm>
            <a:off x="11385743" y="7241774"/>
            <a:ext cx="2299716" cy="22283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4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仍失败 → 完整诊断</a:t>
            </a:r>
            <a:endParaRPr lang="en-US" sz="1140" dirty="0"/>
          </a:p>
        </p:txBody>
      </p:sp>
      <p:pic>
        <p:nvPicPr>
          <p:cNvPr id="8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0690" y="838230"/>
            <a:ext cx="883950" cy="883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226850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235354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585" b="1" kern="0" spc="180" dirty="0">
                <a:solidFill>
                  <a:srgbClr val="F3F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数据库设计</a:t>
            </a:r>
            <a:endParaRPr lang="en-US" sz="1585" dirty="0"/>
          </a:p>
        </p:txBody>
      </p:sp>
      <p:sp>
        <p:nvSpPr>
          <p:cNvPr id="8" name="Text 6"/>
          <p:cNvSpPr/>
          <p:nvPr/>
        </p:nvSpPr>
        <p:spPr>
          <a:xfrm>
            <a:off x="10342687" y="720090"/>
            <a:ext cx="3603147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 张核心表 · 固定 SEED · 可复现</a:t>
            </a:r>
            <a:endParaRPr lang="en-US" sz="1585" dirty="0"/>
          </a:p>
        </p:txBody>
      </p:sp>
      <p:sp>
        <p:nvSpPr>
          <p:cNvPr id="9" name="Text 7"/>
          <p:cNvSpPr/>
          <p:nvPr/>
        </p:nvSpPr>
        <p:spPr>
          <a:xfrm>
            <a:off x="914400" y="1470726"/>
            <a:ext cx="12893040" cy="53757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ecommerce.db</a:t>
            </a:r>
            <a:endParaRPr lang="en-US" sz="3720" dirty="0"/>
          </a:p>
        </p:txBody>
      </p:sp>
      <p:sp>
        <p:nvSpPr>
          <p:cNvPr id="10" name="Shape 8"/>
          <p:cNvSpPr/>
          <p:nvPr/>
        </p:nvSpPr>
        <p:spPr>
          <a:xfrm>
            <a:off x="914400" y="2125614"/>
            <a:ext cx="12801600" cy="3504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452918"/>
            <a:ext cx="12801600" cy="23186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6290" y="2125614"/>
            <a:ext cx="278709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85" kern="0" spc="95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表</a:t>
            </a:r>
            <a:endParaRPr lang="en-US" sz="1385" dirty="0"/>
          </a:p>
        </p:txBody>
      </p:sp>
      <p:sp>
        <p:nvSpPr>
          <p:cNvPr id="13" name="Text 11"/>
          <p:cNvSpPr/>
          <p:nvPr/>
        </p:nvSpPr>
        <p:spPr>
          <a:xfrm>
            <a:off x="1844070" y="2125614"/>
            <a:ext cx="468693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85" kern="0" spc="95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行数</a:t>
            </a:r>
            <a:endParaRPr lang="en-US" sz="1385" dirty="0"/>
          </a:p>
        </p:txBody>
      </p:sp>
      <p:sp>
        <p:nvSpPr>
          <p:cNvPr id="14" name="Text 12"/>
          <p:cNvSpPr/>
          <p:nvPr/>
        </p:nvSpPr>
        <p:spPr>
          <a:xfrm>
            <a:off x="5280020" y="2125614"/>
            <a:ext cx="658677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85" kern="0" spc="95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所属域</a:t>
            </a:r>
            <a:endParaRPr lang="en-US" sz="1385" dirty="0"/>
          </a:p>
        </p:txBody>
      </p:sp>
      <p:sp>
        <p:nvSpPr>
          <p:cNvPr id="15" name="Text 13"/>
          <p:cNvSpPr/>
          <p:nvPr/>
        </p:nvSpPr>
        <p:spPr>
          <a:xfrm>
            <a:off x="9152138" y="2125614"/>
            <a:ext cx="848660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85" kern="0" spc="95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核心关系</a:t>
            </a:r>
            <a:endParaRPr lang="en-US" sz="1385" dirty="0"/>
          </a:p>
        </p:txBody>
      </p:sp>
      <p:sp>
        <p:nvSpPr>
          <p:cNvPr id="16" name="Shape 14"/>
          <p:cNvSpPr/>
          <p:nvPr/>
        </p:nvSpPr>
        <p:spPr>
          <a:xfrm>
            <a:off x="914400" y="2476104"/>
            <a:ext cx="12801600" cy="902238"/>
          </a:xfrm>
          <a:prstGeom prst="rect">
            <a:avLst/>
          </a:prstGeom>
          <a:solidFill>
            <a:srgbClr val="2742EC">
              <a:alpha val="7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  <a:effectLst>
            <a:outerShdw blurRad="76200" dist="28575" dir="16200000" algn="bl" rotWithShape="0">
              <a:srgbClr val="6E85FF">
                <a:alpha val="7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3366749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6290" y="2751978"/>
            <a:ext cx="431597" cy="370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80" b="1" dirty="0">
                <a:solidFill>
                  <a:srgbClr val="6E8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1980" dirty="0"/>
          </a:p>
        </p:txBody>
      </p:sp>
      <p:sp>
        <p:nvSpPr>
          <p:cNvPr id="19" name="Text 17"/>
          <p:cNvSpPr/>
          <p:nvPr/>
        </p:nvSpPr>
        <p:spPr>
          <a:xfrm>
            <a:off x="1844070" y="2801539"/>
            <a:ext cx="738378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E8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280020" y="2877708"/>
            <a:ext cx="3155777" cy="9144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80020" y="2877708"/>
            <a:ext cx="207203" cy="9144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0489" y="2805379"/>
            <a:ext cx="655930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680" b="1" dirty="0">
                <a:solidFill>
                  <a:srgbClr val="6E8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2000</a:t>
            </a:r>
            <a:endParaRPr lang="en-US" sz="1680" dirty="0"/>
          </a:p>
        </p:txBody>
      </p:sp>
      <p:sp>
        <p:nvSpPr>
          <p:cNvPr id="23" name="Text 21"/>
          <p:cNvSpPr/>
          <p:nvPr/>
        </p:nvSpPr>
        <p:spPr>
          <a:xfrm>
            <a:off x="9152138" y="2847259"/>
            <a:ext cx="617220" cy="2179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用户域</a:t>
            </a:r>
            <a:endParaRPr lang="en-US" sz="1380" dirty="0"/>
          </a:p>
        </p:txBody>
      </p:sp>
      <p:sp>
        <p:nvSpPr>
          <p:cNvPr id="24" name="Shape 22"/>
          <p:cNvSpPr/>
          <p:nvPr/>
        </p:nvSpPr>
        <p:spPr>
          <a:xfrm>
            <a:off x="12481560" y="2767249"/>
            <a:ext cx="1219170" cy="312450"/>
          </a:xfrm>
          <a:prstGeom prst="rect">
            <a:avLst/>
          </a:prstGeom>
          <a:solidFill>
            <a:srgbClr val="161513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588270" y="2767249"/>
            <a:ext cx="1203389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20" b="1" kern="0" spc="90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1—N orders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914400" y="3378434"/>
            <a:ext cx="12801600" cy="902330"/>
          </a:xfrm>
          <a:prstGeom prst="rect">
            <a:avLst/>
          </a:prstGeom>
          <a:solidFill>
            <a:srgbClr val="161513">
              <a:alpha val="1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4269171"/>
            <a:ext cx="12801600" cy="11593"/>
          </a:xfrm>
          <a:prstGeom prst="rect">
            <a:avLst/>
          </a:prstGeom>
          <a:solidFill>
            <a:srgbClr val="F3F2EE">
              <a:alpha val="6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6290" y="3654308"/>
            <a:ext cx="431597" cy="370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80" b="1" dirty="0">
                <a:solidFill>
                  <a:srgbClr val="F3F2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1980" dirty="0"/>
          </a:p>
        </p:txBody>
      </p:sp>
      <p:sp>
        <p:nvSpPr>
          <p:cNvPr id="29" name="Text 27"/>
          <p:cNvSpPr/>
          <p:nvPr/>
        </p:nvSpPr>
        <p:spPr>
          <a:xfrm>
            <a:off x="1844070" y="3703777"/>
            <a:ext cx="1367028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categories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280020" y="3780038"/>
            <a:ext cx="3155777" cy="9144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01608" y="3707618"/>
            <a:ext cx="382829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68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</a:t>
            </a:r>
            <a:endParaRPr lang="en-US" sz="1680" dirty="0"/>
          </a:p>
        </p:txBody>
      </p:sp>
      <p:sp>
        <p:nvSpPr>
          <p:cNvPr id="32" name="Text 30"/>
          <p:cNvSpPr/>
          <p:nvPr/>
        </p:nvSpPr>
        <p:spPr>
          <a:xfrm>
            <a:off x="9152138" y="3749497"/>
            <a:ext cx="617220" cy="2179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商品域</a:t>
            </a:r>
            <a:endParaRPr lang="en-US" sz="1380" dirty="0"/>
          </a:p>
        </p:txBody>
      </p:sp>
      <p:sp>
        <p:nvSpPr>
          <p:cNvPr id="33" name="Shape 31"/>
          <p:cNvSpPr/>
          <p:nvPr/>
        </p:nvSpPr>
        <p:spPr>
          <a:xfrm>
            <a:off x="12380976" y="3669487"/>
            <a:ext cx="1420429" cy="312450"/>
          </a:xfrm>
          <a:prstGeom prst="rect">
            <a:avLst/>
          </a:prstGeom>
          <a:solidFill>
            <a:srgbClr val="161513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487595" y="3669487"/>
            <a:ext cx="1427798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20" b="1" kern="0" spc="90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1—N products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914400" y="4280764"/>
            <a:ext cx="12801600" cy="90223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5171409"/>
            <a:ext cx="12801600" cy="11593"/>
          </a:xfrm>
          <a:prstGeom prst="rect">
            <a:avLst/>
          </a:prstGeom>
          <a:solidFill>
            <a:srgbClr val="F3F2EE">
              <a:alpha val="6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6290" y="4556638"/>
            <a:ext cx="431597" cy="370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80" b="1" dirty="0">
                <a:solidFill>
                  <a:srgbClr val="F3F2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endParaRPr lang="en-US" sz="1980" dirty="0"/>
          </a:p>
        </p:txBody>
      </p:sp>
      <p:sp>
        <p:nvSpPr>
          <p:cNvPr id="38" name="Text 36"/>
          <p:cNvSpPr/>
          <p:nvPr/>
        </p:nvSpPr>
        <p:spPr>
          <a:xfrm>
            <a:off x="1844070" y="4606199"/>
            <a:ext cx="1115568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280020" y="4682368"/>
            <a:ext cx="3155777" cy="9144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80020" y="4682368"/>
            <a:ext cx="51755" cy="91440"/>
          </a:xfrm>
          <a:prstGeom prst="rect">
            <a:avLst/>
          </a:prstGeom>
          <a:solidFill>
            <a:srgbClr val="161513">
              <a:alpha val="3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65058" y="4609948"/>
            <a:ext cx="519379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68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500</a:t>
            </a:r>
            <a:endParaRPr lang="en-US" sz="1680" dirty="0"/>
          </a:p>
        </p:txBody>
      </p:sp>
      <p:sp>
        <p:nvSpPr>
          <p:cNvPr id="42" name="Text 40"/>
          <p:cNvSpPr/>
          <p:nvPr/>
        </p:nvSpPr>
        <p:spPr>
          <a:xfrm>
            <a:off x="9152138" y="4651919"/>
            <a:ext cx="617220" cy="2179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商品域</a:t>
            </a:r>
            <a:endParaRPr lang="en-US" sz="1380" dirty="0"/>
          </a:p>
        </p:txBody>
      </p:sp>
      <p:sp>
        <p:nvSpPr>
          <p:cNvPr id="43" name="Shape 41"/>
          <p:cNvSpPr/>
          <p:nvPr/>
        </p:nvSpPr>
        <p:spPr>
          <a:xfrm>
            <a:off x="12230100" y="4571909"/>
            <a:ext cx="1722090" cy="312450"/>
          </a:xfrm>
          <a:prstGeom prst="rect">
            <a:avLst/>
          </a:prstGeom>
          <a:solidFill>
            <a:srgbClr val="161513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336810" y="4571909"/>
            <a:ext cx="1764411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20" b="1" kern="0" spc="90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1—N order_items</a:t>
            </a:r>
            <a:endParaRPr lang="en-US" sz="1320" dirty="0"/>
          </a:p>
        </p:txBody>
      </p:sp>
      <p:sp>
        <p:nvSpPr>
          <p:cNvPr id="45" name="Shape 43"/>
          <p:cNvSpPr/>
          <p:nvPr/>
        </p:nvSpPr>
        <p:spPr>
          <a:xfrm>
            <a:off x="914400" y="5183002"/>
            <a:ext cx="12801600" cy="902238"/>
          </a:xfrm>
          <a:prstGeom prst="rect">
            <a:avLst/>
          </a:prstGeom>
          <a:solidFill>
            <a:srgbClr val="161513">
              <a:alpha val="1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6073648"/>
            <a:ext cx="12801600" cy="11593"/>
          </a:xfrm>
          <a:prstGeom prst="rect">
            <a:avLst/>
          </a:prstGeom>
          <a:solidFill>
            <a:srgbClr val="F3F2EE">
              <a:alpha val="6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6290" y="5458877"/>
            <a:ext cx="431597" cy="370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80" b="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</a:t>
            </a:r>
            <a:endParaRPr lang="en-US" sz="1980" dirty="0"/>
          </a:p>
        </p:txBody>
      </p:sp>
      <p:sp>
        <p:nvSpPr>
          <p:cNvPr id="48" name="Text 46"/>
          <p:cNvSpPr/>
          <p:nvPr/>
        </p:nvSpPr>
        <p:spPr>
          <a:xfrm>
            <a:off x="1844070" y="5508437"/>
            <a:ext cx="864108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orders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280020" y="5584607"/>
            <a:ext cx="3155777" cy="9144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80020" y="5584607"/>
            <a:ext cx="1036107" cy="91440"/>
          </a:xfrm>
          <a:prstGeom prst="rect">
            <a:avLst/>
          </a:prstGeom>
          <a:solidFill>
            <a:srgbClr val="161513">
              <a:alpha val="4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51098" y="5512278"/>
            <a:ext cx="792480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68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10000</a:t>
            </a:r>
            <a:endParaRPr lang="en-US" sz="1680" dirty="0"/>
          </a:p>
        </p:txBody>
      </p:sp>
      <p:sp>
        <p:nvSpPr>
          <p:cNvPr id="52" name="Text 50"/>
          <p:cNvSpPr/>
          <p:nvPr/>
        </p:nvSpPr>
        <p:spPr>
          <a:xfrm>
            <a:off x="9152138" y="5554157"/>
            <a:ext cx="617220" cy="2179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交易域</a:t>
            </a:r>
            <a:endParaRPr lang="en-US" sz="1380" dirty="0"/>
          </a:p>
        </p:txBody>
      </p:sp>
      <p:sp>
        <p:nvSpPr>
          <p:cNvPr id="53" name="Shape 51"/>
          <p:cNvSpPr/>
          <p:nvPr/>
        </p:nvSpPr>
        <p:spPr>
          <a:xfrm>
            <a:off x="12230100" y="5474147"/>
            <a:ext cx="1722090" cy="312450"/>
          </a:xfrm>
          <a:prstGeom prst="rect">
            <a:avLst/>
          </a:prstGeom>
          <a:solidFill>
            <a:srgbClr val="161513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336810" y="5474147"/>
            <a:ext cx="1764411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20" b="1" kern="0" spc="90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1—N order_items</a:t>
            </a:r>
            <a:endParaRPr lang="en-US" sz="1320" dirty="0"/>
          </a:p>
        </p:txBody>
      </p:sp>
      <p:sp>
        <p:nvSpPr>
          <p:cNvPr id="55" name="Shape 53"/>
          <p:cNvSpPr/>
          <p:nvPr/>
        </p:nvSpPr>
        <p:spPr>
          <a:xfrm>
            <a:off x="914400" y="6085241"/>
            <a:ext cx="12801600" cy="90223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4400" y="6975886"/>
            <a:ext cx="12801600" cy="11593"/>
          </a:xfrm>
          <a:prstGeom prst="rect">
            <a:avLst/>
          </a:prstGeom>
          <a:solidFill>
            <a:srgbClr val="F3F2EE">
              <a:alpha val="6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36290" y="6361115"/>
            <a:ext cx="431597" cy="370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80" b="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</a:t>
            </a:r>
            <a:endParaRPr lang="en-US" sz="1980" dirty="0"/>
          </a:p>
        </p:txBody>
      </p:sp>
      <p:sp>
        <p:nvSpPr>
          <p:cNvPr id="58" name="Text 56"/>
          <p:cNvSpPr/>
          <p:nvPr/>
        </p:nvSpPr>
        <p:spPr>
          <a:xfrm>
            <a:off x="1844070" y="6410676"/>
            <a:ext cx="1492758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order_items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5280020" y="6486845"/>
            <a:ext cx="3155777" cy="91440"/>
          </a:xfrm>
          <a:prstGeom prst="rect">
            <a:avLst/>
          </a:prstGeom>
          <a:solidFill>
            <a:srgbClr val="161513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80020" y="6486845"/>
            <a:ext cx="3155777" cy="91440"/>
          </a:xfrm>
          <a:prstGeom prst="rect">
            <a:avLst/>
          </a:prstGeom>
          <a:solidFill>
            <a:srgbClr val="161513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51098" y="6414516"/>
            <a:ext cx="792480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68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30457</a:t>
            </a:r>
            <a:endParaRPr lang="en-US" sz="1680" dirty="0"/>
          </a:p>
        </p:txBody>
      </p:sp>
      <p:sp>
        <p:nvSpPr>
          <p:cNvPr id="62" name="Text 60"/>
          <p:cNvSpPr/>
          <p:nvPr/>
        </p:nvSpPr>
        <p:spPr>
          <a:xfrm>
            <a:off x="9152138" y="6456396"/>
            <a:ext cx="617220" cy="2179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交易域</a:t>
            </a:r>
            <a:endParaRPr lang="en-US" sz="1380" dirty="0"/>
          </a:p>
        </p:txBody>
      </p:sp>
      <p:sp>
        <p:nvSpPr>
          <p:cNvPr id="63" name="Shape 61"/>
          <p:cNvSpPr/>
          <p:nvPr/>
        </p:nvSpPr>
        <p:spPr>
          <a:xfrm>
            <a:off x="12730643" y="6376386"/>
            <a:ext cx="720913" cy="312450"/>
          </a:xfrm>
          <a:prstGeom prst="rect">
            <a:avLst/>
          </a:prstGeom>
          <a:solidFill>
            <a:srgbClr val="161513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837353" y="6376386"/>
            <a:ext cx="632536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20" b="1" kern="0" spc="90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明细行</a:t>
            </a:r>
            <a:endParaRPr lang="en-US" sz="1320" dirty="0"/>
          </a:p>
        </p:txBody>
      </p:sp>
      <p:sp>
        <p:nvSpPr>
          <p:cNvPr id="65" name="Shape 63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4400" y="7254210"/>
            <a:ext cx="95422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6E8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金额口径</a:t>
            </a:r>
            <a:endParaRPr lang="en-US" sz="1585" dirty="0"/>
          </a:p>
        </p:txBody>
      </p:sp>
      <p:sp>
        <p:nvSpPr>
          <p:cNvPr id="68" name="Text 66"/>
          <p:cNvSpPr/>
          <p:nvPr/>
        </p:nvSpPr>
        <p:spPr>
          <a:xfrm>
            <a:off x="1826971" y="7258782"/>
            <a:ext cx="6429786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subtotal=明细行金额 · total_amount=订单最终实付 · cancelled=不计入实际销售</a:t>
            </a:r>
            <a:endParaRPr lang="en-US" sz="1440" dirty="0"/>
          </a:p>
        </p:txBody>
      </p:sp>
      <p:pic>
        <p:nvPicPr>
          <p:cNvPr id="6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0" y="97539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965960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2079117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585" b="1" kern="0" spc="180" dirty="0">
                <a:solidFill>
                  <a:srgbClr val="F3F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SQL 安全与可靠性</a:t>
            </a:r>
            <a:endParaRPr lang="en-US" sz="1585" dirty="0"/>
          </a:p>
        </p:txBody>
      </p:sp>
      <p:sp>
        <p:nvSpPr>
          <p:cNvPr id="8" name="Text 6"/>
          <p:cNvSpPr/>
          <p:nvPr/>
        </p:nvSpPr>
        <p:spPr>
          <a:xfrm>
            <a:off x="10569550" y="720090"/>
            <a:ext cx="3314014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生成 ≠ 可执行 · 确定性代码把关</a:t>
            </a:r>
            <a:endParaRPr lang="en-US" sz="1585" dirty="0"/>
          </a:p>
        </p:txBody>
      </p:sp>
      <p:sp>
        <p:nvSpPr>
          <p:cNvPr id="9" name="Text 7"/>
          <p:cNvSpPr/>
          <p:nvPr/>
        </p:nvSpPr>
        <p:spPr>
          <a:xfrm>
            <a:off x="914400" y="1411232"/>
            <a:ext cx="8473470" cy="53757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三道防线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914400" y="2003725"/>
            <a:ext cx="7656546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Safety → 只读 → Repair（全链路 Trace 留痕）</a:t>
            </a:r>
            <a:endParaRPr lang="en-US" sz="144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97610" y="975390"/>
            <a:ext cx="1432590" cy="143259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355665"/>
            <a:ext cx="1132290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① SAFETY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14400" y="3654308"/>
            <a:ext cx="1514978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1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 安全校验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621310" y="3254715"/>
            <a:ext cx="2033626" cy="7582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21310" y="3254715"/>
            <a:ext cx="2033626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43343" y="3254715"/>
            <a:ext cx="11593" cy="75822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621310" y="4001343"/>
            <a:ext cx="2033626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21310" y="3254715"/>
            <a:ext cx="46372" cy="758220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19342" y="3414735"/>
            <a:ext cx="1860423" cy="2331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500" b="1" kern="0" spc="-19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SELECT/WITH 白名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503204" y="3633826"/>
            <a:ext cx="292608" cy="2331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500" b="1" kern="0" spc="-19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746285" y="3511845"/>
            <a:ext cx="320040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066325" y="3364260"/>
            <a:ext cx="2010857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15862" y="3364260"/>
            <a:ext cx="1311783" cy="56656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500" b="1" kern="0" spc="-19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写/多语句拒绝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168622" y="3511845"/>
            <a:ext cx="320040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7488662" y="3364260"/>
            <a:ext cx="2010857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22530" y="3364260"/>
            <a:ext cx="1743121" cy="56656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500" b="1" kern="0" spc="-19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AST+Schema 校验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590959" y="3511845"/>
            <a:ext cx="320040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9910999" y="3364260"/>
            <a:ext cx="2010857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138524" y="3364260"/>
            <a:ext cx="1555623" cy="56656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500" b="1" kern="0" spc="-19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LIMIT≤500注入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2013296" y="3511845"/>
            <a:ext cx="320040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12333336" y="3168945"/>
            <a:ext cx="1382664" cy="43434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424776" y="3168945"/>
            <a:ext cx="1199784" cy="46177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40" b="1" kern="0" spc="18" dirty="0">
                <a:solidFill>
                  <a:srgbClr val="16151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不安全→拦截</a:t>
            </a:r>
            <a:endParaRPr lang="en-US" sz="1440" dirty="0"/>
          </a:p>
        </p:txBody>
      </p:sp>
      <p:sp>
        <p:nvSpPr>
          <p:cNvPr id="33" name="Shape 30"/>
          <p:cNvSpPr/>
          <p:nvPr/>
        </p:nvSpPr>
        <p:spPr>
          <a:xfrm>
            <a:off x="12333336" y="3664275"/>
            <a:ext cx="1382664" cy="43434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2517130" y="3664275"/>
            <a:ext cx="1014984" cy="46177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40" b="1" kern="0" spc="18" dirty="0">
                <a:solidFill>
                  <a:srgbClr val="16151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合法→放行</a:t>
            </a:r>
            <a:endParaRPr lang="en-US" sz="1440" dirty="0"/>
          </a:p>
        </p:txBody>
      </p:sp>
      <p:sp>
        <p:nvSpPr>
          <p:cNvPr id="35" name="Shape 32"/>
          <p:cNvSpPr/>
          <p:nvPr/>
        </p:nvSpPr>
        <p:spPr>
          <a:xfrm>
            <a:off x="914400" y="4296766"/>
            <a:ext cx="12801600" cy="13334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14400" y="4296766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4400" y="4689135"/>
            <a:ext cx="733623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② 只读</a:t>
            </a:r>
            <a:endParaRPr 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914400" y="4987778"/>
            <a:ext cx="1001359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1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只读执行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2621310" y="4697730"/>
            <a:ext cx="2841041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621310" y="4697730"/>
            <a:ext cx="2841041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450758" y="4697730"/>
            <a:ext cx="11593" cy="53913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621310" y="5225267"/>
            <a:ext cx="2841041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621310" y="4697730"/>
            <a:ext cx="46372" cy="539130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602736" y="4697730"/>
            <a:ext cx="901050" cy="56656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500" b="1" kern="0" spc="-19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mode=ro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5553791" y="4845406"/>
            <a:ext cx="320040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5873831" y="4697730"/>
            <a:ext cx="2818364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29875" y="4697730"/>
            <a:ext cx="1506093" cy="56656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500" b="1" kern="0" spc="-19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query_only=ON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8783635" y="4845406"/>
            <a:ext cx="320040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9103675" y="4697730"/>
            <a:ext cx="2818181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000656" y="4697730"/>
            <a:ext cx="1024128" cy="56656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500" b="1" kern="0" spc="-19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500行截断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12013296" y="4845406"/>
            <a:ext cx="320040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12333336" y="4502506"/>
            <a:ext cx="1382664" cy="43434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2424776" y="4502506"/>
            <a:ext cx="1199784" cy="46177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40" b="1" kern="0" spc="18" dirty="0">
                <a:solidFill>
                  <a:srgbClr val="16151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写操作→拒绝</a:t>
            </a:r>
            <a:endParaRPr lang="en-US" sz="1440" dirty="0"/>
          </a:p>
        </p:txBody>
      </p:sp>
      <p:sp>
        <p:nvSpPr>
          <p:cNvPr id="54" name="Shape 51"/>
          <p:cNvSpPr/>
          <p:nvPr/>
        </p:nvSpPr>
        <p:spPr>
          <a:xfrm>
            <a:off x="12333336" y="4997745"/>
            <a:ext cx="1382664" cy="43434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2424776" y="4997745"/>
            <a:ext cx="1199784" cy="46177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40" b="1" kern="0" spc="18" dirty="0">
                <a:solidFill>
                  <a:srgbClr val="16151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结果→结构化</a:t>
            </a:r>
            <a:endParaRPr lang="en-US" sz="1440" dirty="0"/>
          </a:p>
        </p:txBody>
      </p:sp>
      <p:sp>
        <p:nvSpPr>
          <p:cNvPr id="56" name="Shape 53"/>
          <p:cNvSpPr/>
          <p:nvPr/>
        </p:nvSpPr>
        <p:spPr>
          <a:xfrm>
            <a:off x="914400" y="5630235"/>
            <a:ext cx="12801600" cy="13334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14400" y="5630235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14400" y="6022696"/>
            <a:ext cx="1132290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③ REPAIR</a:t>
            </a:r>
            <a:endParaRPr lang="en-US" sz="1450" dirty="0"/>
          </a:p>
        </p:txBody>
      </p:sp>
      <p:sp>
        <p:nvSpPr>
          <p:cNvPr id="59" name="Text 56"/>
          <p:cNvSpPr/>
          <p:nvPr/>
        </p:nvSpPr>
        <p:spPr>
          <a:xfrm>
            <a:off x="914400" y="6321339"/>
            <a:ext cx="1228862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1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有界自修复</a:t>
            </a:r>
            <a:endParaRPr lang="en-US" sz="1800" dirty="0"/>
          </a:p>
        </p:txBody>
      </p:sp>
      <p:sp>
        <p:nvSpPr>
          <p:cNvPr id="60" name="Shape 57"/>
          <p:cNvSpPr/>
          <p:nvPr/>
        </p:nvSpPr>
        <p:spPr>
          <a:xfrm>
            <a:off x="2621310" y="6031200"/>
            <a:ext cx="2824033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621310" y="6031200"/>
            <a:ext cx="2824033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433750" y="6031200"/>
            <a:ext cx="11593" cy="53913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621310" y="6558737"/>
            <a:ext cx="2824033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621310" y="6031200"/>
            <a:ext cx="46372" cy="539130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455060" y="6031200"/>
            <a:ext cx="1179210" cy="56656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500" b="1" kern="0" spc="-19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Repair≤1次</a:t>
            </a:r>
            <a:endParaRPr lang="en-US" sz="1500" dirty="0"/>
          </a:p>
        </p:txBody>
      </p:sp>
      <p:sp>
        <p:nvSpPr>
          <p:cNvPr id="66" name="Text 63"/>
          <p:cNvSpPr/>
          <p:nvPr/>
        </p:nvSpPr>
        <p:spPr>
          <a:xfrm>
            <a:off x="5536783" y="6178875"/>
            <a:ext cx="320040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5856823" y="6031200"/>
            <a:ext cx="2801173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585783" y="6031200"/>
            <a:ext cx="1342979" cy="56656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500" b="1" kern="0" spc="-19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二次校验+执行</a:t>
            </a:r>
            <a:endParaRPr lang="en-US" sz="1500" dirty="0"/>
          </a:p>
        </p:txBody>
      </p:sp>
      <p:sp>
        <p:nvSpPr>
          <p:cNvPr id="69" name="Text 66"/>
          <p:cNvSpPr/>
          <p:nvPr/>
        </p:nvSpPr>
        <p:spPr>
          <a:xfrm>
            <a:off x="8749436" y="6178875"/>
            <a:ext cx="320040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4827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70" name="Shape 67"/>
          <p:cNvSpPr/>
          <p:nvPr/>
        </p:nvSpPr>
        <p:spPr>
          <a:xfrm>
            <a:off x="9069476" y="6031200"/>
            <a:ext cx="2801173" cy="53913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9952787" y="6031200"/>
            <a:ext cx="1034369" cy="56656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500" b="1" kern="0" spc="-19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失败→诊断</a:t>
            </a:r>
            <a:endParaRPr lang="en-US" sz="1500" dirty="0"/>
          </a:p>
        </p:txBody>
      </p:sp>
      <p:sp>
        <p:nvSpPr>
          <p:cNvPr id="72" name="Text 69"/>
          <p:cNvSpPr/>
          <p:nvPr/>
        </p:nvSpPr>
        <p:spPr>
          <a:xfrm>
            <a:off x="11962089" y="6178875"/>
            <a:ext cx="320040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73" name="Shape 70"/>
          <p:cNvSpPr/>
          <p:nvPr/>
        </p:nvSpPr>
        <p:spPr>
          <a:xfrm>
            <a:off x="12282129" y="5835975"/>
            <a:ext cx="1433871" cy="43434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12373569" y="5835975"/>
            <a:ext cx="1250991" cy="46177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40" b="1" kern="0" spc="18" dirty="0">
                <a:solidFill>
                  <a:srgbClr val="16151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成功→Result</a:t>
            </a:r>
            <a:endParaRPr lang="en-US" sz="1440" dirty="0"/>
          </a:p>
        </p:txBody>
      </p:sp>
      <p:sp>
        <p:nvSpPr>
          <p:cNvPr id="75" name="Shape 72"/>
          <p:cNvSpPr/>
          <p:nvPr/>
        </p:nvSpPr>
        <p:spPr>
          <a:xfrm>
            <a:off x="12282129" y="6331306"/>
            <a:ext cx="1433871" cy="43434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12399173" y="6331306"/>
            <a:ext cx="1199784" cy="46177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40" b="1" kern="0" spc="18" dirty="0">
                <a:solidFill>
                  <a:srgbClr val="16151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仍失败→诊断</a:t>
            </a: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435699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468481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585" b="1" kern="0" spc="180" dirty="0">
                <a:solidFill>
                  <a:srgbClr val="F3F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前端产品界面</a:t>
            </a:r>
            <a:endParaRPr lang="en-US" sz="1585" dirty="0"/>
          </a:p>
        </p:txBody>
      </p:sp>
      <p:sp>
        <p:nvSpPr>
          <p:cNvPr id="8" name="Text 6"/>
          <p:cNvSpPr/>
          <p:nvPr/>
        </p:nvSpPr>
        <p:spPr>
          <a:xfrm>
            <a:off x="10193640" y="720090"/>
            <a:ext cx="3854745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真实运行界面 · 分析结果与 SQL 留痕</a:t>
            </a:r>
            <a:endParaRPr lang="en-US" sz="1585" dirty="0"/>
          </a:p>
        </p:txBody>
      </p:sp>
      <p:sp>
        <p:nvSpPr>
          <p:cNvPr id="9" name="Text 7"/>
          <p:cNvSpPr/>
          <p:nvPr/>
        </p:nvSpPr>
        <p:spPr>
          <a:xfrm>
            <a:off x="914400" y="1357929"/>
            <a:ext cx="8719627" cy="5379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提问 → Agent → SQL → Result → Trace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9542587" y="1357929"/>
            <a:ext cx="974293" cy="5379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6E8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真</a:t>
            </a:r>
            <a:endParaRPr lang="en-US" sz="3720" dirty="0"/>
          </a:p>
        </p:txBody>
      </p:sp>
      <p:sp>
        <p:nvSpPr>
          <p:cNvPr id="11" name="Text 9"/>
          <p:cNvSpPr/>
          <p:nvPr/>
        </p:nvSpPr>
        <p:spPr>
          <a:xfrm>
            <a:off x="914400" y="1868073"/>
            <a:ext cx="1952884" cy="5379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6E8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实可追溯</a:t>
            </a:r>
            <a:endParaRPr lang="en-US" sz="3720" dirty="0"/>
          </a:p>
        </p:txBody>
      </p:sp>
      <p:sp>
        <p:nvSpPr>
          <p:cNvPr id="12" name="Text 10"/>
          <p:cNvSpPr/>
          <p:nvPr/>
        </p:nvSpPr>
        <p:spPr>
          <a:xfrm>
            <a:off x="10841218" y="1600200"/>
            <a:ext cx="283464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主图展示真实分析结果，副图与证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10841218" y="1865376"/>
            <a:ext cx="64008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据辅助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914400" y="3081619"/>
            <a:ext cx="4183380" cy="278892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14400" y="3081619"/>
            <a:ext cx="4183380" cy="27889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219670" y="3081619"/>
            <a:ext cx="4183380" cy="278892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219670" y="3081619"/>
            <a:ext cx="4183380" cy="27889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525030" y="3081619"/>
            <a:ext cx="4183380" cy="278892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25030" y="3081619"/>
            <a:ext cx="4183380" cy="27889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14400" y="6590629"/>
            <a:ext cx="4137660" cy="9379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4400" y="6590629"/>
            <a:ext cx="4137660" cy="34779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040467" y="6590629"/>
            <a:ext cx="11593" cy="937992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14400" y="6790152"/>
            <a:ext cx="996787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22" dirty="0">
                <a:solidFill>
                  <a:srgbClr val="6E8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智能分析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3754801" y="6864949"/>
            <a:ext cx="1163966" cy="1874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5" kern="0" spc="63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非原型 · 真实运行</a:t>
            </a:r>
            <a:endParaRPr lang="en-US" sz="925" dirty="0"/>
          </a:p>
        </p:txBody>
      </p:sp>
      <p:sp>
        <p:nvSpPr>
          <p:cNvPr id="25" name="Text 20"/>
          <p:cNvSpPr/>
          <p:nvPr/>
        </p:nvSpPr>
        <p:spPr>
          <a:xfrm>
            <a:off x="4771339" y="6864949"/>
            <a:ext cx="184831" cy="1874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5" kern="0" spc="63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925" dirty="0"/>
          </a:p>
        </p:txBody>
      </p:sp>
      <p:sp>
        <p:nvSpPr>
          <p:cNvPr id="26" name="Text 21"/>
          <p:cNvSpPr/>
          <p:nvPr/>
        </p:nvSpPr>
        <p:spPr>
          <a:xfrm>
            <a:off x="914400" y="7116409"/>
            <a:ext cx="366131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主图</a:t>
            </a:r>
            <a:endParaRPr lang="en-US" sz="990" dirty="0"/>
          </a:p>
        </p:txBody>
      </p:sp>
      <p:sp>
        <p:nvSpPr>
          <p:cNvPr id="27" name="Text 22"/>
          <p:cNvSpPr/>
          <p:nvPr/>
        </p:nvSpPr>
        <p:spPr>
          <a:xfrm>
            <a:off x="914400" y="7352599"/>
            <a:ext cx="1463040" cy="1798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65"/>
              </a:lnSpc>
              <a:buNone/>
            </a:pPr>
            <a:r>
              <a:rPr lang="en-US" sz="1080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自然语言提问真实结果</a:t>
            </a:r>
            <a:endParaRPr lang="en-US" sz="1080" dirty="0"/>
          </a:p>
        </p:txBody>
      </p:sp>
      <p:sp>
        <p:nvSpPr>
          <p:cNvPr id="28" name="Shape 23"/>
          <p:cNvSpPr/>
          <p:nvPr/>
        </p:nvSpPr>
        <p:spPr>
          <a:xfrm>
            <a:off x="5250210" y="6590629"/>
            <a:ext cx="4137660" cy="9379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250210" y="6590629"/>
            <a:ext cx="4137660" cy="34779"/>
          </a:xfrm>
          <a:prstGeom prst="rect">
            <a:avLst/>
          </a:prstGeom>
          <a:solidFill>
            <a:srgbClr val="F3F2EE">
              <a:alpha val="5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376277" y="6590629"/>
            <a:ext cx="11593" cy="937992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250210" y="6790152"/>
            <a:ext cx="996787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22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首页概览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8090520" y="6864949"/>
            <a:ext cx="1163966" cy="1874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5" kern="0" spc="63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非原型 · 真实运行</a:t>
            </a:r>
            <a:endParaRPr lang="en-US" sz="925" dirty="0"/>
          </a:p>
        </p:txBody>
      </p:sp>
      <p:sp>
        <p:nvSpPr>
          <p:cNvPr id="33" name="Text 28"/>
          <p:cNvSpPr/>
          <p:nvPr/>
        </p:nvSpPr>
        <p:spPr>
          <a:xfrm>
            <a:off x="9107058" y="6864949"/>
            <a:ext cx="184831" cy="1874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5" kern="0" spc="63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</a:t>
            </a:r>
            <a:endParaRPr lang="en-US" sz="925" dirty="0"/>
          </a:p>
        </p:txBody>
      </p:sp>
      <p:sp>
        <p:nvSpPr>
          <p:cNvPr id="34" name="Text 29"/>
          <p:cNvSpPr/>
          <p:nvPr/>
        </p:nvSpPr>
        <p:spPr>
          <a:xfrm>
            <a:off x="5250210" y="7116409"/>
            <a:ext cx="366131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副图</a:t>
            </a:r>
            <a:endParaRPr lang="en-US" sz="990" dirty="0"/>
          </a:p>
        </p:txBody>
      </p:sp>
      <p:sp>
        <p:nvSpPr>
          <p:cNvPr id="35" name="Text 30"/>
          <p:cNvSpPr/>
          <p:nvPr/>
        </p:nvSpPr>
        <p:spPr>
          <a:xfrm>
            <a:off x="5250210" y="7352599"/>
            <a:ext cx="640080" cy="1798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65"/>
              </a:lnSpc>
              <a:buNone/>
            </a:pPr>
            <a:r>
              <a:rPr lang="en-US" sz="108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指标概览</a:t>
            </a:r>
            <a:endParaRPr lang="en-US" sz="1080" dirty="0"/>
          </a:p>
        </p:txBody>
      </p:sp>
      <p:sp>
        <p:nvSpPr>
          <p:cNvPr id="36" name="Shape 31"/>
          <p:cNvSpPr/>
          <p:nvPr/>
        </p:nvSpPr>
        <p:spPr>
          <a:xfrm>
            <a:off x="9585930" y="6590629"/>
            <a:ext cx="4130070" cy="9379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585930" y="6590629"/>
            <a:ext cx="4130070" cy="34779"/>
          </a:xfrm>
          <a:prstGeom prst="rect">
            <a:avLst/>
          </a:prstGeom>
          <a:solidFill>
            <a:srgbClr val="F3F2EE">
              <a:alpha val="5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9585930" y="6720108"/>
            <a:ext cx="1271016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-22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 Trace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12426330" y="6796369"/>
            <a:ext cx="1163966" cy="1874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5" kern="0" spc="63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非原型 · 真实运行</a:t>
            </a:r>
            <a:endParaRPr lang="en-US" sz="925" dirty="0"/>
          </a:p>
        </p:txBody>
      </p:sp>
      <p:sp>
        <p:nvSpPr>
          <p:cNvPr id="40" name="Text 35"/>
          <p:cNvSpPr/>
          <p:nvPr/>
        </p:nvSpPr>
        <p:spPr>
          <a:xfrm>
            <a:off x="13442869" y="6796369"/>
            <a:ext cx="184831" cy="1874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25" kern="0" spc="63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</a:t>
            </a:r>
            <a:endParaRPr lang="en-US" sz="925" dirty="0"/>
          </a:p>
        </p:txBody>
      </p:sp>
      <p:sp>
        <p:nvSpPr>
          <p:cNvPr id="41" name="Text 36"/>
          <p:cNvSpPr/>
          <p:nvPr/>
        </p:nvSpPr>
        <p:spPr>
          <a:xfrm>
            <a:off x="9585930" y="7024969"/>
            <a:ext cx="366131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90" kern="0" spc="6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证据</a:t>
            </a:r>
            <a:endParaRPr lang="en-US" sz="990" dirty="0"/>
          </a:p>
        </p:txBody>
      </p:sp>
      <p:sp>
        <p:nvSpPr>
          <p:cNvPr id="42" name="Text 37"/>
          <p:cNvSpPr/>
          <p:nvPr/>
        </p:nvSpPr>
        <p:spPr>
          <a:xfrm>
            <a:off x="9585930" y="7261159"/>
            <a:ext cx="777240" cy="1798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65"/>
              </a:lnSpc>
              <a:buNone/>
            </a:pPr>
            <a:r>
              <a:rPr lang="en-US" sz="108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全链路留痕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018093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002228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585" b="1" kern="0" spc="180" dirty="0">
                <a:solidFill>
                  <a:srgbClr val="F3F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评测体系</a:t>
            </a:r>
            <a:endParaRPr lang="en-US" sz="1585" dirty="0"/>
          </a:p>
        </p:txBody>
      </p:sp>
      <p:sp>
        <p:nvSpPr>
          <p:cNvPr id="8" name="Text 6"/>
          <p:cNvSpPr/>
          <p:nvPr/>
        </p:nvSpPr>
        <p:spPr>
          <a:xfrm>
            <a:off x="11461090" y="720090"/>
            <a:ext cx="2716545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ECO-SQL-BENCH V1.1</a:t>
            </a:r>
            <a:endParaRPr lang="en-US" sz="1585" dirty="0"/>
          </a:p>
        </p:txBody>
      </p:sp>
      <p:sp>
        <p:nvSpPr>
          <p:cNvPr id="9" name="Text 7"/>
          <p:cNvSpPr/>
          <p:nvPr/>
        </p:nvSpPr>
        <p:spPr>
          <a:xfrm>
            <a:off x="914400" y="1456952"/>
            <a:ext cx="12893040" cy="53757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100 题 · 冻结基线</a:t>
            </a:r>
            <a:endParaRPr lang="en-US" sz="3720" dirty="0"/>
          </a:p>
        </p:txBody>
      </p:sp>
      <p:sp>
        <p:nvSpPr>
          <p:cNvPr id="10" name="Shape 8"/>
          <p:cNvSpPr/>
          <p:nvPr/>
        </p:nvSpPr>
        <p:spPr>
          <a:xfrm>
            <a:off x="914400" y="2125614"/>
            <a:ext cx="12801600" cy="7543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856808"/>
            <a:ext cx="12801600" cy="23186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514234"/>
            <a:ext cx="1228628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85" kern="0" spc="95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唯一正式指标</a:t>
            </a:r>
            <a:endParaRPr lang="en-US" sz="1385" dirty="0"/>
          </a:p>
        </p:txBody>
      </p:sp>
      <p:sp>
        <p:nvSpPr>
          <p:cNvPr id="13" name="Text 11"/>
          <p:cNvSpPr/>
          <p:nvPr/>
        </p:nvSpPr>
        <p:spPr>
          <a:xfrm>
            <a:off x="3764310" y="2217054"/>
            <a:ext cx="1569385" cy="3093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40" b="1" kern="0" spc="-25" dirty="0">
                <a:solidFill>
                  <a:srgbClr val="6E8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Benchmark</a:t>
            </a:r>
            <a:endParaRPr lang="en-US" sz="2040" dirty="0"/>
          </a:p>
        </p:txBody>
      </p:sp>
      <p:sp>
        <p:nvSpPr>
          <p:cNvPr id="14" name="Text 12"/>
          <p:cNvSpPr/>
          <p:nvPr/>
        </p:nvSpPr>
        <p:spPr>
          <a:xfrm>
            <a:off x="3764310" y="2544684"/>
            <a:ext cx="3592628" cy="2407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5" kern="0" spc="86" dirty="0">
                <a:solidFill>
                  <a:srgbClr val="6E8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EASY 25·MED 30·HARD 30·EXTRA 15</a:t>
            </a:r>
            <a:endParaRPr lang="en-US" sz="1255" dirty="0"/>
          </a:p>
        </p:txBody>
      </p:sp>
      <p:sp>
        <p:nvSpPr>
          <p:cNvPr id="15" name="Text 13"/>
          <p:cNvSpPr/>
          <p:nvPr/>
        </p:nvSpPr>
        <p:spPr>
          <a:xfrm>
            <a:off x="7086600" y="2195886"/>
            <a:ext cx="1283360" cy="3093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40" b="1" kern="0" spc="-25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Gold 审核</a:t>
            </a:r>
            <a:endParaRPr lang="en-US" sz="2040" dirty="0"/>
          </a:p>
        </p:txBody>
      </p:sp>
      <p:sp>
        <p:nvSpPr>
          <p:cNvPr id="16" name="Text 14"/>
          <p:cNvSpPr/>
          <p:nvPr/>
        </p:nvSpPr>
        <p:spPr>
          <a:xfrm>
            <a:off x="7086600" y="2544684"/>
            <a:ext cx="1680410" cy="2407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5" kern="0" spc="86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100/100 重算一致</a:t>
            </a:r>
            <a:endParaRPr lang="en-US" sz="1255" dirty="0"/>
          </a:p>
        </p:txBody>
      </p:sp>
      <p:sp>
        <p:nvSpPr>
          <p:cNvPr id="17" name="Text 15"/>
          <p:cNvSpPr/>
          <p:nvPr/>
        </p:nvSpPr>
        <p:spPr>
          <a:xfrm>
            <a:off x="10408890" y="2195886"/>
            <a:ext cx="1373977" cy="3093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40" b="1" kern="0" spc="-25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归一化判定</a:t>
            </a:r>
            <a:endParaRPr lang="en-US" sz="2040" dirty="0"/>
          </a:p>
        </p:txBody>
      </p:sp>
      <p:sp>
        <p:nvSpPr>
          <p:cNvPr id="18" name="Text 16"/>
          <p:cNvSpPr/>
          <p:nvPr/>
        </p:nvSpPr>
        <p:spPr>
          <a:xfrm>
            <a:off x="10408890" y="2544684"/>
            <a:ext cx="1293956" cy="2407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5" kern="0" spc="86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评测链唯一权威</a:t>
            </a:r>
            <a:endParaRPr lang="en-US" sz="1255" dirty="0"/>
          </a:p>
        </p:txBody>
      </p:sp>
      <p:sp>
        <p:nvSpPr>
          <p:cNvPr id="19" name="Shape 17"/>
          <p:cNvSpPr/>
          <p:nvPr/>
        </p:nvSpPr>
        <p:spPr>
          <a:xfrm>
            <a:off x="914400" y="2879994"/>
            <a:ext cx="128016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691361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074304"/>
            <a:ext cx="685038" cy="2331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90.0%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3302904"/>
            <a:ext cx="120135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 执行准确率</a:t>
            </a:r>
            <a:endParaRPr lang="en-US" sz="1190" dirty="0"/>
          </a:p>
        </p:txBody>
      </p:sp>
      <p:sp>
        <p:nvSpPr>
          <p:cNvPr id="23" name="Shape 21"/>
          <p:cNvSpPr/>
          <p:nvPr/>
        </p:nvSpPr>
        <p:spPr>
          <a:xfrm>
            <a:off x="3627150" y="2879994"/>
            <a:ext cx="3307110" cy="815370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8575" dir="16200000" algn="bl" rotWithShape="0">
              <a:srgbClr val="6E85FF">
                <a:alpha val="7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64310" y="3135295"/>
            <a:ext cx="1138428" cy="3322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60" b="1" kern="0" spc="-27" dirty="0">
                <a:solidFill>
                  <a:srgbClr val="6E8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90/100</a:t>
            </a:r>
            <a:endParaRPr lang="en-US" sz="2160" dirty="0"/>
          </a:p>
        </p:txBody>
      </p:sp>
      <p:sp>
        <p:nvSpPr>
          <p:cNvPr id="25" name="Text 23"/>
          <p:cNvSpPr/>
          <p:nvPr/>
        </p:nvSpPr>
        <p:spPr>
          <a:xfrm>
            <a:off x="4761281" y="3226735"/>
            <a:ext cx="19271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</a:t>
            </a:r>
            <a:endParaRPr lang="en-US" sz="1190" dirty="0"/>
          </a:p>
        </p:txBody>
      </p:sp>
      <p:sp>
        <p:nvSpPr>
          <p:cNvPr id="26" name="Text 24"/>
          <p:cNvSpPr/>
          <p:nvPr/>
        </p:nvSpPr>
        <p:spPr>
          <a:xfrm>
            <a:off x="7086600" y="3135295"/>
            <a:ext cx="1678838" cy="3322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60" b="1" kern="0" spc="-27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86.67 Hard</a:t>
            </a:r>
            <a:endParaRPr lang="en-US" sz="2160" dirty="0"/>
          </a:p>
        </p:txBody>
      </p:sp>
      <p:sp>
        <p:nvSpPr>
          <p:cNvPr id="27" name="Text 25"/>
          <p:cNvSpPr/>
          <p:nvPr/>
        </p:nvSpPr>
        <p:spPr>
          <a:xfrm>
            <a:off x="8621329" y="3226735"/>
            <a:ext cx="19271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</a:t>
            </a:r>
            <a:endParaRPr lang="en-US" sz="1190" dirty="0"/>
          </a:p>
        </p:txBody>
      </p:sp>
      <p:sp>
        <p:nvSpPr>
          <p:cNvPr id="28" name="Text 26"/>
          <p:cNvSpPr/>
          <p:nvPr/>
        </p:nvSpPr>
        <p:spPr>
          <a:xfrm>
            <a:off x="10408890" y="3135295"/>
            <a:ext cx="1327709" cy="3322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60" b="1" kern="0" spc="-27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 Extra</a:t>
            </a:r>
            <a:endParaRPr lang="en-US" sz="2160" dirty="0"/>
          </a:p>
        </p:txBody>
      </p:sp>
      <p:sp>
        <p:nvSpPr>
          <p:cNvPr id="29" name="Text 27"/>
          <p:cNvSpPr/>
          <p:nvPr/>
        </p:nvSpPr>
        <p:spPr>
          <a:xfrm>
            <a:off x="11590934" y="3226735"/>
            <a:ext cx="19271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</a:t>
            </a:r>
            <a:endParaRPr lang="en-US" sz="1190" dirty="0"/>
          </a:p>
        </p:txBody>
      </p:sp>
      <p:sp>
        <p:nvSpPr>
          <p:cNvPr id="30" name="Shape 28"/>
          <p:cNvSpPr/>
          <p:nvPr/>
        </p:nvSpPr>
        <p:spPr>
          <a:xfrm>
            <a:off x="914400" y="3702954"/>
            <a:ext cx="12801600" cy="823051"/>
          </a:xfrm>
          <a:prstGeom prst="rect">
            <a:avLst/>
          </a:prstGeom>
          <a:solidFill>
            <a:srgbClr val="161513">
              <a:alpha val="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4514413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3897264"/>
            <a:ext cx="685038" cy="2331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99.0%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51560" y="4125864"/>
            <a:ext cx="1430476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EXEC 执行成功率</a:t>
            </a:r>
            <a:endParaRPr lang="en-US" sz="1190" dirty="0"/>
          </a:p>
        </p:txBody>
      </p:sp>
      <p:sp>
        <p:nvSpPr>
          <p:cNvPr id="34" name="Shape 32"/>
          <p:cNvSpPr/>
          <p:nvPr/>
        </p:nvSpPr>
        <p:spPr>
          <a:xfrm>
            <a:off x="3627150" y="3702954"/>
            <a:ext cx="3307110" cy="815462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8575" dir="16200000" algn="bl" rotWithShape="0">
              <a:srgbClr val="6E85FF">
                <a:alpha val="7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764310" y="3992545"/>
            <a:ext cx="909828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kern="0" spc="-2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99/100</a:t>
            </a:r>
            <a:endParaRPr lang="en-US" sz="1680" dirty="0"/>
          </a:p>
        </p:txBody>
      </p:sp>
      <p:sp>
        <p:nvSpPr>
          <p:cNvPr id="36" name="Text 34"/>
          <p:cNvSpPr/>
          <p:nvPr/>
        </p:nvSpPr>
        <p:spPr>
          <a:xfrm>
            <a:off x="4513570" y="4030584"/>
            <a:ext cx="19271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</a:t>
            </a:r>
            <a:endParaRPr lang="en-US" sz="1190" dirty="0"/>
          </a:p>
        </p:txBody>
      </p:sp>
      <p:sp>
        <p:nvSpPr>
          <p:cNvPr id="37" name="Text 35"/>
          <p:cNvSpPr/>
          <p:nvPr/>
        </p:nvSpPr>
        <p:spPr>
          <a:xfrm>
            <a:off x="7086600" y="3992545"/>
            <a:ext cx="1076249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kern="0" spc="-2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 Easy</a:t>
            </a:r>
            <a:endParaRPr lang="en-US" sz="1680" dirty="0"/>
          </a:p>
        </p:txBody>
      </p:sp>
      <p:sp>
        <p:nvSpPr>
          <p:cNvPr id="38" name="Text 36"/>
          <p:cNvSpPr/>
          <p:nvPr/>
        </p:nvSpPr>
        <p:spPr>
          <a:xfrm>
            <a:off x="8052572" y="4030584"/>
            <a:ext cx="19271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</a:t>
            </a:r>
            <a:endParaRPr lang="en-US" sz="1190" dirty="0"/>
          </a:p>
        </p:txBody>
      </p:sp>
      <p:sp>
        <p:nvSpPr>
          <p:cNvPr id="39" name="Text 37"/>
          <p:cNvSpPr/>
          <p:nvPr/>
        </p:nvSpPr>
        <p:spPr>
          <a:xfrm>
            <a:off x="10408890" y="3992545"/>
            <a:ext cx="1310945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kern="0" spc="-2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93.3 Extra</a:t>
            </a:r>
            <a:endParaRPr lang="en-US" sz="1680" dirty="0"/>
          </a:p>
        </p:txBody>
      </p:sp>
      <p:sp>
        <p:nvSpPr>
          <p:cNvPr id="40" name="Text 38"/>
          <p:cNvSpPr/>
          <p:nvPr/>
        </p:nvSpPr>
        <p:spPr>
          <a:xfrm>
            <a:off x="11484864" y="4030584"/>
            <a:ext cx="19271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</a:t>
            </a:r>
            <a:endParaRPr lang="en-US" sz="1190" dirty="0"/>
          </a:p>
        </p:txBody>
      </p:sp>
      <p:sp>
        <p:nvSpPr>
          <p:cNvPr id="41" name="Shape 39"/>
          <p:cNvSpPr/>
          <p:nvPr/>
        </p:nvSpPr>
        <p:spPr>
          <a:xfrm>
            <a:off x="914400" y="4526006"/>
            <a:ext cx="128016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0" y="5337373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1560" y="4720316"/>
            <a:ext cx="685038" cy="2331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90.0%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051560" y="4948916"/>
            <a:ext cx="148318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PASS@1 一次生成</a:t>
            </a:r>
            <a:endParaRPr lang="en-US" sz="1190" dirty="0"/>
          </a:p>
        </p:txBody>
      </p:sp>
      <p:sp>
        <p:nvSpPr>
          <p:cNvPr id="45" name="Shape 43"/>
          <p:cNvSpPr/>
          <p:nvPr/>
        </p:nvSpPr>
        <p:spPr>
          <a:xfrm>
            <a:off x="3627150" y="4526006"/>
            <a:ext cx="3307110" cy="815370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8575" dir="16200000" algn="bl" rotWithShape="0">
              <a:srgbClr val="6E85FF">
                <a:alpha val="7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764310" y="4815596"/>
            <a:ext cx="909828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kern="0" spc="-2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90/100</a:t>
            </a:r>
            <a:endParaRPr lang="en-US" sz="1680" dirty="0"/>
          </a:p>
        </p:txBody>
      </p:sp>
      <p:sp>
        <p:nvSpPr>
          <p:cNvPr id="47" name="Text 45"/>
          <p:cNvSpPr/>
          <p:nvPr/>
        </p:nvSpPr>
        <p:spPr>
          <a:xfrm>
            <a:off x="4513570" y="4853727"/>
            <a:ext cx="19271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</a:t>
            </a:r>
            <a:endParaRPr lang="en-US" sz="1190" dirty="0"/>
          </a:p>
        </p:txBody>
      </p:sp>
      <p:sp>
        <p:nvSpPr>
          <p:cNvPr id="48" name="Text 46"/>
          <p:cNvSpPr/>
          <p:nvPr/>
        </p:nvSpPr>
        <p:spPr>
          <a:xfrm>
            <a:off x="7086600" y="4836033"/>
            <a:ext cx="725211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kern="0" spc="-2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无重试</a:t>
            </a:r>
            <a:endParaRPr lang="en-US" sz="1680" dirty="0"/>
          </a:p>
        </p:txBody>
      </p:sp>
      <p:sp>
        <p:nvSpPr>
          <p:cNvPr id="49" name="Text 47"/>
          <p:cNvSpPr/>
          <p:nvPr/>
        </p:nvSpPr>
        <p:spPr>
          <a:xfrm>
            <a:off x="7773680" y="4872746"/>
            <a:ext cx="19271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</a:t>
            </a:r>
            <a:endParaRPr lang="en-US" sz="1190" dirty="0"/>
          </a:p>
        </p:txBody>
      </p:sp>
      <p:sp>
        <p:nvSpPr>
          <p:cNvPr id="50" name="Text 48"/>
          <p:cNvSpPr/>
          <p:nvPr/>
        </p:nvSpPr>
        <p:spPr>
          <a:xfrm>
            <a:off x="10408890" y="4836033"/>
            <a:ext cx="936437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kern="0" spc="-2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直接通过</a:t>
            </a:r>
            <a:endParaRPr lang="en-US" sz="1680" dirty="0"/>
          </a:p>
        </p:txBody>
      </p:sp>
      <p:sp>
        <p:nvSpPr>
          <p:cNvPr id="51" name="Text 49"/>
          <p:cNvSpPr/>
          <p:nvPr/>
        </p:nvSpPr>
        <p:spPr>
          <a:xfrm>
            <a:off x="11307288" y="4872746"/>
            <a:ext cx="19271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%</a:t>
            </a:r>
            <a:endParaRPr lang="en-US" sz="1190" dirty="0"/>
          </a:p>
        </p:txBody>
      </p:sp>
      <p:sp>
        <p:nvSpPr>
          <p:cNvPr id="52" name="Shape 50"/>
          <p:cNvSpPr/>
          <p:nvPr/>
        </p:nvSpPr>
        <p:spPr>
          <a:xfrm>
            <a:off x="914400" y="5348966"/>
            <a:ext cx="12801600" cy="823051"/>
          </a:xfrm>
          <a:prstGeom prst="rect">
            <a:avLst/>
          </a:prstGeom>
          <a:solidFill>
            <a:srgbClr val="161513">
              <a:alpha val="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4400" y="6160424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1560" y="5543276"/>
            <a:ext cx="231648" cy="2331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051560" y="5771876"/>
            <a:ext cx="1400198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PROVIDER 失败</a:t>
            </a:r>
            <a:endParaRPr lang="en-US" sz="1190" dirty="0"/>
          </a:p>
        </p:txBody>
      </p:sp>
      <p:sp>
        <p:nvSpPr>
          <p:cNvPr id="56" name="Shape 54"/>
          <p:cNvSpPr/>
          <p:nvPr/>
        </p:nvSpPr>
        <p:spPr>
          <a:xfrm>
            <a:off x="3627150" y="5348966"/>
            <a:ext cx="3307110" cy="815462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8575" dir="16200000" algn="bl" rotWithShape="0">
              <a:srgbClr val="6E85FF">
                <a:alpha val="7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764310" y="5662971"/>
            <a:ext cx="631088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15"/>
              </a:lnSpc>
              <a:buNone/>
            </a:pPr>
            <a:r>
              <a:rPr lang="en-US" sz="1320" dirty="0">
                <a:solidFill>
                  <a:srgbClr val="B8B6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0/100</a:t>
            </a:r>
            <a:endParaRPr lang="en-US" sz="1320" dirty="0"/>
          </a:p>
        </p:txBody>
      </p:sp>
      <p:sp>
        <p:nvSpPr>
          <p:cNvPr id="58" name="Text 56"/>
          <p:cNvSpPr/>
          <p:nvPr/>
        </p:nvSpPr>
        <p:spPr>
          <a:xfrm>
            <a:off x="7086600" y="5662971"/>
            <a:ext cx="931164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15"/>
              </a:lnSpc>
              <a:buNone/>
            </a:pPr>
            <a:r>
              <a:rPr lang="en-US" sz="1320" dirty="0">
                <a:solidFill>
                  <a:srgbClr val="B8B6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Timeout 0</a:t>
            </a:r>
            <a:endParaRPr lang="en-US" sz="1320" dirty="0"/>
          </a:p>
        </p:txBody>
      </p:sp>
      <p:sp>
        <p:nvSpPr>
          <p:cNvPr id="59" name="Text 57"/>
          <p:cNvSpPr/>
          <p:nvPr/>
        </p:nvSpPr>
        <p:spPr>
          <a:xfrm>
            <a:off x="10408890" y="5662971"/>
            <a:ext cx="594360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15"/>
              </a:lnSpc>
              <a:buNone/>
            </a:pPr>
            <a:r>
              <a:rPr lang="en-US" sz="132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无异常</a:t>
            </a:r>
            <a:endParaRPr lang="en-US" sz="1320" dirty="0"/>
          </a:p>
        </p:txBody>
      </p:sp>
      <p:sp>
        <p:nvSpPr>
          <p:cNvPr id="60" name="Text 58"/>
          <p:cNvSpPr/>
          <p:nvPr/>
        </p:nvSpPr>
        <p:spPr>
          <a:xfrm>
            <a:off x="1051560" y="6366419"/>
            <a:ext cx="685038" cy="2331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10.9s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051560" y="6595019"/>
            <a:ext cx="743099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平均延迟</a:t>
            </a:r>
            <a:endParaRPr lang="en-US" sz="1190" dirty="0"/>
          </a:p>
        </p:txBody>
      </p:sp>
      <p:sp>
        <p:nvSpPr>
          <p:cNvPr id="62" name="Shape 60"/>
          <p:cNvSpPr/>
          <p:nvPr/>
        </p:nvSpPr>
        <p:spPr>
          <a:xfrm>
            <a:off x="3627150" y="6172109"/>
            <a:ext cx="3307110" cy="815462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8575" dir="16200000" algn="bl" rotWithShape="0">
              <a:srgbClr val="6E85FF">
                <a:alpha val="7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3764310" y="6461608"/>
            <a:ext cx="1114654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kern="0" spc="-2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P50 10.5</a:t>
            </a:r>
            <a:endParaRPr lang="en-US" sz="1680" dirty="0"/>
          </a:p>
        </p:txBody>
      </p:sp>
      <p:sp>
        <p:nvSpPr>
          <p:cNvPr id="64" name="Text 62"/>
          <p:cNvSpPr/>
          <p:nvPr/>
        </p:nvSpPr>
        <p:spPr>
          <a:xfrm>
            <a:off x="4699742" y="6499738"/>
            <a:ext cx="206289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</a:t>
            </a:r>
            <a:endParaRPr lang="en-US" sz="1190" dirty="0"/>
          </a:p>
        </p:txBody>
      </p:sp>
      <p:sp>
        <p:nvSpPr>
          <p:cNvPr id="65" name="Text 63"/>
          <p:cNvSpPr/>
          <p:nvPr/>
        </p:nvSpPr>
        <p:spPr>
          <a:xfrm>
            <a:off x="7086600" y="6461608"/>
            <a:ext cx="1114654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kern="0" spc="-2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P95 15.4</a:t>
            </a:r>
            <a:endParaRPr lang="en-US" sz="1680" dirty="0"/>
          </a:p>
        </p:txBody>
      </p:sp>
      <p:sp>
        <p:nvSpPr>
          <p:cNvPr id="66" name="Text 64"/>
          <p:cNvSpPr/>
          <p:nvPr/>
        </p:nvSpPr>
        <p:spPr>
          <a:xfrm>
            <a:off x="8022031" y="6499738"/>
            <a:ext cx="206289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</a:t>
            </a:r>
            <a:endParaRPr lang="en-US" sz="1190" dirty="0"/>
          </a:p>
        </p:txBody>
      </p:sp>
      <p:sp>
        <p:nvSpPr>
          <p:cNvPr id="67" name="Text 65"/>
          <p:cNvSpPr/>
          <p:nvPr/>
        </p:nvSpPr>
        <p:spPr>
          <a:xfrm>
            <a:off x="10408890" y="6482136"/>
            <a:ext cx="972373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kern="0" spc="-2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目标≤8s</a:t>
            </a:r>
            <a:endParaRPr lang="en-US" sz="1680" dirty="0"/>
          </a:p>
        </p:txBody>
      </p:sp>
      <p:sp>
        <p:nvSpPr>
          <p:cNvPr id="68" name="Text 66"/>
          <p:cNvSpPr/>
          <p:nvPr/>
        </p:nvSpPr>
        <p:spPr>
          <a:xfrm>
            <a:off x="11343223" y="6518758"/>
            <a:ext cx="206289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kern="0" spc="81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</a:t>
            </a:r>
            <a:endParaRPr lang="en-US" sz="1190" dirty="0"/>
          </a:p>
        </p:txBody>
      </p:sp>
      <p:sp>
        <p:nvSpPr>
          <p:cNvPr id="69" name="Shape 67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14400" y="7254210"/>
            <a:ext cx="95422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6E8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锁定口径</a:t>
            </a:r>
            <a:endParaRPr lang="en-US" sz="1585" dirty="0"/>
          </a:p>
        </p:txBody>
      </p:sp>
      <p:sp>
        <p:nvSpPr>
          <p:cNvPr id="72" name="Text 70"/>
          <p:cNvSpPr/>
          <p:nvPr/>
        </p:nvSpPr>
        <p:spPr>
          <a:xfrm>
            <a:off x="1826971" y="7258782"/>
            <a:ext cx="6071616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v1.1 / Prompt V1.3 / FEWSHOT_V3(23) / dev-2026-09-14 / Mimo V2.5 Pro</a:t>
            </a:r>
            <a:endParaRPr lang="en-US" sz="1440" dirty="0"/>
          </a:p>
        </p:txBody>
      </p:sp>
      <p:pic>
        <p:nvPicPr>
          <p:cNvPr id="7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0" y="97539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018093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002228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585" b="1" kern="0" spc="180" dirty="0">
                <a:solidFill>
                  <a:srgbClr val="F3F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评测结果</a:t>
            </a:r>
            <a:endParaRPr lang="en-US" sz="1585" dirty="0"/>
          </a:p>
        </p:txBody>
      </p:sp>
      <p:sp>
        <p:nvSpPr>
          <p:cNvPr id="8" name="Text 6"/>
          <p:cNvSpPr/>
          <p:nvPr/>
        </p:nvSpPr>
        <p:spPr>
          <a:xfrm>
            <a:off x="9030523" y="720090"/>
            <a:ext cx="5056906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难度分层 EX 准确率 · 柱长=准确率，题量单独显示</a:t>
            </a:r>
            <a:endParaRPr lang="en-US" sz="1585" dirty="0"/>
          </a:p>
        </p:txBody>
      </p:sp>
      <p:sp>
        <p:nvSpPr>
          <p:cNvPr id="9" name="Text 7"/>
          <p:cNvSpPr/>
          <p:nvPr/>
        </p:nvSpPr>
        <p:spPr>
          <a:xfrm>
            <a:off x="914400" y="1426503"/>
            <a:ext cx="8321040" cy="53757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评测结果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914400" y="2018904"/>
            <a:ext cx="12838176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Easy/Medium 全对；Hard/Extra Hard 的 EX 有所下降</a:t>
            </a:r>
            <a:endParaRPr lang="en-US" sz="144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360000">
            <a:off x="10287000" y="1219170"/>
            <a:ext cx="2286000" cy="2286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" y="3356397"/>
            <a:ext cx="12801600" cy="5181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3862994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455426"/>
            <a:ext cx="410139" cy="3398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6E8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524030" y="3493557"/>
            <a:ext cx="598322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6E8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Easy</a:t>
            </a:r>
            <a:endParaRPr lang="en-US" sz="1680" dirty="0"/>
          </a:p>
        </p:txBody>
      </p:sp>
      <p:sp>
        <p:nvSpPr>
          <p:cNvPr id="16" name="Text 13"/>
          <p:cNvSpPr/>
          <p:nvPr/>
        </p:nvSpPr>
        <p:spPr>
          <a:xfrm>
            <a:off x="3992910" y="3485876"/>
            <a:ext cx="933259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25 / 25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547390" y="3527847"/>
            <a:ext cx="7284750" cy="167610"/>
          </a:xfrm>
          <a:prstGeom prst="rect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167360" y="3489716"/>
            <a:ext cx="548640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6E8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14400" y="3874496"/>
            <a:ext cx="12801600" cy="5181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4400" y="4381093"/>
            <a:ext cx="12801600" cy="11593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3973617"/>
            <a:ext cx="410139" cy="3398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1850" dirty="0"/>
          </a:p>
        </p:txBody>
      </p:sp>
      <p:sp>
        <p:nvSpPr>
          <p:cNvPr id="22" name="Text 19"/>
          <p:cNvSpPr/>
          <p:nvPr/>
        </p:nvSpPr>
        <p:spPr>
          <a:xfrm>
            <a:off x="1524030" y="4011656"/>
            <a:ext cx="899130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Medium</a:t>
            </a:r>
            <a:endParaRPr lang="en-US" sz="1680" dirty="0"/>
          </a:p>
        </p:txBody>
      </p:sp>
      <p:sp>
        <p:nvSpPr>
          <p:cNvPr id="23" name="Text 20"/>
          <p:cNvSpPr/>
          <p:nvPr/>
        </p:nvSpPr>
        <p:spPr>
          <a:xfrm>
            <a:off x="3992910" y="4004066"/>
            <a:ext cx="933259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30 / 30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5547390" y="4045946"/>
            <a:ext cx="7284750" cy="167610"/>
          </a:xfrm>
          <a:prstGeom prst="rect">
            <a:avLst/>
          </a:prstGeom>
          <a:solidFill>
            <a:srgbClr val="A9A7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167360" y="4007907"/>
            <a:ext cx="548640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914400" y="4392686"/>
            <a:ext cx="12801600" cy="5181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4400" y="4899284"/>
            <a:ext cx="12801600" cy="11593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" y="4491716"/>
            <a:ext cx="410139" cy="3398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endParaRPr lang="en-US" sz="1850" dirty="0"/>
          </a:p>
        </p:txBody>
      </p:sp>
      <p:sp>
        <p:nvSpPr>
          <p:cNvPr id="29" name="Text 26"/>
          <p:cNvSpPr/>
          <p:nvPr/>
        </p:nvSpPr>
        <p:spPr>
          <a:xfrm>
            <a:off x="1524030" y="4529846"/>
            <a:ext cx="598322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Hard</a:t>
            </a:r>
            <a:endParaRPr lang="en-US" sz="1680" dirty="0"/>
          </a:p>
        </p:txBody>
      </p:sp>
      <p:sp>
        <p:nvSpPr>
          <p:cNvPr id="30" name="Text 27"/>
          <p:cNvSpPr/>
          <p:nvPr/>
        </p:nvSpPr>
        <p:spPr>
          <a:xfrm>
            <a:off x="3992910" y="4522257"/>
            <a:ext cx="933259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26 / 30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5547390" y="4564136"/>
            <a:ext cx="6313658" cy="167610"/>
          </a:xfrm>
          <a:prstGeom prst="rect">
            <a:avLst/>
          </a:prstGeom>
          <a:solidFill>
            <a:srgbClr val="84827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895326" y="4526006"/>
            <a:ext cx="820674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86.67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914400" y="4910877"/>
            <a:ext cx="12801600" cy="5181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14400" y="5417474"/>
            <a:ext cx="12801600" cy="11593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14400" y="5009906"/>
            <a:ext cx="410139" cy="3398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</a:t>
            </a:r>
            <a:endParaRPr lang="en-US" sz="1850" dirty="0"/>
          </a:p>
        </p:txBody>
      </p:sp>
      <p:sp>
        <p:nvSpPr>
          <p:cNvPr id="36" name="Text 33"/>
          <p:cNvSpPr/>
          <p:nvPr/>
        </p:nvSpPr>
        <p:spPr>
          <a:xfrm>
            <a:off x="1524030" y="5048037"/>
            <a:ext cx="1272540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Extra Hard</a:t>
            </a:r>
            <a:endParaRPr lang="en-US" sz="1680" dirty="0"/>
          </a:p>
        </p:txBody>
      </p:sp>
      <p:sp>
        <p:nvSpPr>
          <p:cNvPr id="37" name="Text 34"/>
          <p:cNvSpPr/>
          <p:nvPr/>
        </p:nvSpPr>
        <p:spPr>
          <a:xfrm>
            <a:off x="3992910" y="5040356"/>
            <a:ext cx="793238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 / 15</a:t>
            </a:r>
            <a:endParaRPr lang="en-US" sz="1450" dirty="0"/>
          </a:p>
        </p:txBody>
      </p:sp>
      <p:sp>
        <p:nvSpPr>
          <p:cNvPr id="38" name="Shape 35"/>
          <p:cNvSpPr/>
          <p:nvPr/>
        </p:nvSpPr>
        <p:spPr>
          <a:xfrm>
            <a:off x="5547390" y="5082327"/>
            <a:ext cx="4370741" cy="167610"/>
          </a:xfrm>
          <a:prstGeom prst="rect">
            <a:avLst/>
          </a:prstGeom>
          <a:solidFill>
            <a:srgbClr val="605E5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3313664" y="5044196"/>
            <a:ext cx="402336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914400" y="5428976"/>
            <a:ext cx="12801600" cy="5181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14400" y="5935573"/>
            <a:ext cx="12801600" cy="11593"/>
          </a:xfrm>
          <a:prstGeom prst="rect">
            <a:avLst/>
          </a:prstGeom>
          <a:solidFill>
            <a:srgbClr val="F3F2EE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14400" y="5528097"/>
            <a:ext cx="410139" cy="3398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</a:t>
            </a:r>
            <a:endParaRPr lang="en-US" sz="1850" dirty="0"/>
          </a:p>
        </p:txBody>
      </p:sp>
      <p:sp>
        <p:nvSpPr>
          <p:cNvPr id="43" name="Text 40"/>
          <p:cNvSpPr/>
          <p:nvPr/>
        </p:nvSpPr>
        <p:spPr>
          <a:xfrm>
            <a:off x="1524030" y="5586664"/>
            <a:ext cx="519379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合计</a:t>
            </a:r>
            <a:endParaRPr lang="en-US" sz="1680" dirty="0"/>
          </a:p>
        </p:txBody>
      </p:sp>
      <p:sp>
        <p:nvSpPr>
          <p:cNvPr id="44" name="Text 41"/>
          <p:cNvSpPr/>
          <p:nvPr/>
        </p:nvSpPr>
        <p:spPr>
          <a:xfrm>
            <a:off x="3992910" y="5558546"/>
            <a:ext cx="1073281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90 / 100</a:t>
            </a:r>
            <a:endParaRPr lang="en-US" sz="1450" dirty="0"/>
          </a:p>
        </p:txBody>
      </p:sp>
      <p:sp>
        <p:nvSpPr>
          <p:cNvPr id="45" name="Shape 42"/>
          <p:cNvSpPr/>
          <p:nvPr/>
        </p:nvSpPr>
        <p:spPr>
          <a:xfrm>
            <a:off x="5547390" y="5600426"/>
            <a:ext cx="6556157" cy="167610"/>
          </a:xfrm>
          <a:prstGeom prst="rect">
            <a:avLst/>
          </a:prstGeom>
          <a:solidFill>
            <a:srgbClr val="4644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3313664" y="5562387"/>
            <a:ext cx="402336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914400" y="7095744"/>
            <a:ext cx="12801600" cy="43278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14400" y="7095744"/>
            <a:ext cx="12801600" cy="2318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14400" y="7248174"/>
            <a:ext cx="519974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6E8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观察</a:t>
            </a:r>
            <a:endParaRPr lang="en-US" sz="1585" dirty="0"/>
          </a:p>
        </p:txBody>
      </p:sp>
      <p:sp>
        <p:nvSpPr>
          <p:cNvPr id="50" name="Text 47"/>
          <p:cNvSpPr/>
          <p:nvPr/>
        </p:nvSpPr>
        <p:spPr>
          <a:xfrm>
            <a:off x="1439357" y="7263445"/>
            <a:ext cx="4250406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题量单独显示：25/25 · 30/30 · 26/30 · 9/15 · 90/100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793778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926001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585" b="1" kern="0" spc="180" dirty="0">
                <a:solidFill>
                  <a:srgbClr val="F3F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BAD CASE 分析</a:t>
            </a:r>
            <a:endParaRPr lang="en-US" sz="1585" dirty="0"/>
          </a:p>
        </p:txBody>
      </p:sp>
      <p:sp>
        <p:nvSpPr>
          <p:cNvPr id="8" name="Text 6"/>
          <p:cNvSpPr/>
          <p:nvPr/>
        </p:nvSpPr>
        <p:spPr>
          <a:xfrm>
            <a:off x="11094324" y="720090"/>
            <a:ext cx="2769123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 个失败样本 → 3 类机制</a:t>
            </a:r>
            <a:endParaRPr lang="en-US" sz="1585" dirty="0"/>
          </a:p>
        </p:txBody>
      </p:sp>
      <p:sp>
        <p:nvSpPr>
          <p:cNvPr id="9" name="Shape 7"/>
          <p:cNvSpPr/>
          <p:nvPr/>
        </p:nvSpPr>
        <p:spPr>
          <a:xfrm>
            <a:off x="914400" y="7216170"/>
            <a:ext cx="3404677" cy="312450"/>
          </a:xfrm>
          <a:prstGeom prst="rect">
            <a:avLst/>
          </a:prstGeom>
          <a:solidFill>
            <a:srgbClr val="C2F5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7216170"/>
            <a:ext cx="3709858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585" b="1" kern="0" spc="180" dirty="0">
                <a:solidFill>
                  <a:srgbClr val="16151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E-0086 / E-0099 / 输出结构</a:t>
            </a:r>
            <a:endParaRPr lang="en-US" sz="1585" dirty="0"/>
          </a:p>
        </p:txBody>
      </p:sp>
      <p:sp>
        <p:nvSpPr>
          <p:cNvPr id="11" name="Text 9"/>
          <p:cNvSpPr/>
          <p:nvPr/>
        </p:nvSpPr>
        <p:spPr>
          <a:xfrm>
            <a:off x="5730270" y="1472223"/>
            <a:ext cx="5882610" cy="53757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讲错误机制，而非堆 SQL</a:t>
            </a:r>
            <a:endParaRPr lang="en-US" sz="3720" dirty="0"/>
          </a:p>
        </p:txBody>
      </p:sp>
      <p:sp>
        <p:nvSpPr>
          <p:cNvPr id="12" name="Text 10"/>
          <p:cNvSpPr/>
          <p:nvPr/>
        </p:nvSpPr>
        <p:spPr>
          <a:xfrm>
            <a:off x="5730270" y="2178924"/>
            <a:ext cx="5911596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Clean Baseline 最终 10 个 Bad Case 中归纳出 3 类代表性错误</a:t>
            </a:r>
            <a:endParaRPr lang="en-US" sz="1620" dirty="0"/>
          </a:p>
        </p:txBody>
      </p:sp>
      <p:sp>
        <p:nvSpPr>
          <p:cNvPr id="13" name="Text 11"/>
          <p:cNvSpPr/>
          <p:nvPr/>
        </p:nvSpPr>
        <p:spPr>
          <a:xfrm>
            <a:off x="5730270" y="2487534"/>
            <a:ext cx="504749" cy="2560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5749290" y="3078145"/>
            <a:ext cx="83850" cy="83850"/>
          </a:xfrm>
          <a:prstGeom prst="ellipse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83580" y="3161904"/>
            <a:ext cx="15270" cy="630936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9770" y="3055285"/>
            <a:ext cx="984123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E-0086</a:t>
            </a:r>
            <a:endParaRPr lang="en-US" sz="1585" dirty="0"/>
          </a:p>
        </p:txBody>
      </p:sp>
      <p:sp>
        <p:nvSpPr>
          <p:cNvPr id="17" name="Text 15"/>
          <p:cNvSpPr/>
          <p:nvPr/>
        </p:nvSpPr>
        <p:spPr>
          <a:xfrm>
            <a:off x="6878117" y="3071881"/>
            <a:ext cx="1428293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Fan-out 粒度</a:t>
            </a:r>
            <a:endParaRPr lang="en-US" sz="1680" dirty="0"/>
          </a:p>
        </p:txBody>
      </p:sp>
      <p:sp>
        <p:nvSpPr>
          <p:cNvPr id="18" name="Text 16"/>
          <p:cNvSpPr/>
          <p:nvPr/>
        </p:nvSpPr>
        <p:spPr>
          <a:xfrm>
            <a:off x="6019770" y="3390504"/>
            <a:ext cx="329184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orders×order_items 金额放大 4.14×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5749290" y="3853830"/>
            <a:ext cx="83850" cy="83850"/>
          </a:xfrm>
          <a:prstGeom prst="ellipse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83580" y="3937589"/>
            <a:ext cx="15270" cy="630936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9770" y="3830970"/>
            <a:ext cx="984123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E-0099</a:t>
            </a:r>
            <a:endParaRPr lang="en-US" sz="1585" dirty="0"/>
          </a:p>
        </p:txBody>
      </p:sp>
      <p:sp>
        <p:nvSpPr>
          <p:cNvPr id="22" name="Text 20"/>
          <p:cNvSpPr/>
          <p:nvPr/>
        </p:nvSpPr>
        <p:spPr>
          <a:xfrm>
            <a:off x="6878117" y="3847566"/>
            <a:ext cx="1251204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别名/列引用</a:t>
            </a:r>
            <a:endParaRPr lang="en-US" sz="1680" dirty="0"/>
          </a:p>
        </p:txBody>
      </p:sp>
      <p:sp>
        <p:nvSpPr>
          <p:cNvPr id="23" name="Text 21"/>
          <p:cNvSpPr/>
          <p:nvPr/>
        </p:nvSpPr>
        <p:spPr>
          <a:xfrm>
            <a:off x="6019770" y="4166189"/>
            <a:ext cx="432054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生成后执行报错→触发 Repair，但该样本修复仍失败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5730270" y="4629516"/>
            <a:ext cx="121890" cy="121890"/>
          </a:xfrm>
          <a:prstGeom prst="ellipse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83580" y="4751405"/>
            <a:ext cx="15270" cy="592806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9770" y="4606656"/>
            <a:ext cx="1424269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6E8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E-0082/83</a:t>
            </a:r>
            <a:endParaRPr lang="en-US" sz="1585" dirty="0"/>
          </a:p>
        </p:txBody>
      </p:sp>
      <p:sp>
        <p:nvSpPr>
          <p:cNvPr id="27" name="Text 25"/>
          <p:cNvSpPr/>
          <p:nvPr/>
        </p:nvSpPr>
        <p:spPr>
          <a:xfrm>
            <a:off x="7254027" y="4623343"/>
            <a:ext cx="944850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6E8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输出结构</a:t>
            </a:r>
            <a:endParaRPr lang="en-US" sz="1680" dirty="0"/>
          </a:p>
        </p:txBody>
      </p:sp>
      <p:sp>
        <p:nvSpPr>
          <p:cNvPr id="28" name="Text 26"/>
          <p:cNvSpPr/>
          <p:nvPr/>
        </p:nvSpPr>
        <p:spPr>
          <a:xfrm>
            <a:off x="6019770" y="4941966"/>
            <a:ext cx="283464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数值正确但缺列，需规范输出形状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5749290" y="5405201"/>
            <a:ext cx="83850" cy="83850"/>
          </a:xfrm>
          <a:prstGeom prst="ellipse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9770" y="5382341"/>
            <a:ext cx="519974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改进</a:t>
            </a:r>
            <a:endParaRPr lang="en-US" sz="1585" dirty="0"/>
          </a:p>
        </p:txBody>
      </p:sp>
      <p:sp>
        <p:nvSpPr>
          <p:cNvPr id="31" name="Text 29"/>
          <p:cNvSpPr/>
          <p:nvPr/>
        </p:nvSpPr>
        <p:spPr>
          <a:xfrm>
            <a:off x="6514277" y="5399029"/>
            <a:ext cx="1623060" cy="2636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示例库+Prompt</a:t>
            </a:r>
            <a:endParaRPr lang="en-US" sz="1680" dirty="0"/>
          </a:p>
        </p:txBody>
      </p:sp>
      <p:sp>
        <p:nvSpPr>
          <p:cNvPr id="32" name="Text 30"/>
          <p:cNvSpPr/>
          <p:nvPr/>
        </p:nvSpPr>
        <p:spPr>
          <a:xfrm>
            <a:off x="6019770" y="5717652"/>
            <a:ext cx="1984248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bad case 沉淀反哺迭代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5730270" y="6727058"/>
            <a:ext cx="7985730" cy="80156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30270" y="6727058"/>
            <a:ext cx="7985730" cy="2318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30270" y="6881189"/>
            <a:ext cx="8077170" cy="3260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8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错误集中于复杂聚合、粒度与输出结构问题</a:t>
            </a:r>
            <a:endParaRPr lang="en-US" sz="1680" dirty="0"/>
          </a:p>
        </p:txBody>
      </p:sp>
      <p:sp>
        <p:nvSpPr>
          <p:cNvPr id="36" name="Text 34"/>
          <p:cNvSpPr/>
          <p:nvPr/>
        </p:nvSpPr>
        <p:spPr>
          <a:xfrm>
            <a:off x="5730270" y="7254210"/>
            <a:ext cx="3363758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CLEAN BASELINE V1.1 观察</a:t>
            </a:r>
            <a:endParaRPr lang="en-US" sz="1585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360000">
            <a:off x="12222510" y="1386870"/>
            <a:ext cx="1493490" cy="14934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207099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210986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585" b="1" kern="0" spc="180" dirty="0">
                <a:solidFill>
                  <a:srgbClr val="F3F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E3 创新点</a:t>
            </a:r>
            <a:endParaRPr lang="en-US" sz="1585" dirty="0"/>
          </a:p>
        </p:txBody>
      </p:sp>
      <p:sp>
        <p:nvSpPr>
          <p:cNvPr id="8" name="Text 6"/>
          <p:cNvSpPr/>
          <p:nvPr/>
        </p:nvSpPr>
        <p:spPr>
          <a:xfrm>
            <a:off x="11711544" y="720090"/>
            <a:ext cx="2346670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E-0086 · FAN-OUT</a:t>
            </a:r>
            <a:endParaRPr lang="en-US" sz="1585" dirty="0"/>
          </a:p>
        </p:txBody>
      </p:sp>
      <p:sp>
        <p:nvSpPr>
          <p:cNvPr id="9" name="Text 7"/>
          <p:cNvSpPr/>
          <p:nvPr/>
        </p:nvSpPr>
        <p:spPr>
          <a:xfrm>
            <a:off x="914400" y="1485900"/>
            <a:ext cx="1701607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585" b="1" kern="0" spc="180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一个案例讲清楚</a:t>
            </a:r>
            <a:endParaRPr lang="en-US" sz="1585" dirty="0"/>
          </a:p>
        </p:txBody>
      </p:sp>
      <p:sp>
        <p:nvSpPr>
          <p:cNvPr id="10" name="Text 8"/>
          <p:cNvSpPr/>
          <p:nvPr/>
        </p:nvSpPr>
        <p:spPr>
          <a:xfrm>
            <a:off x="914400" y="1958483"/>
            <a:ext cx="2079803" cy="5379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orders ×</a:t>
            </a:r>
            <a:endParaRPr lang="en-US" sz="3720" dirty="0"/>
          </a:p>
        </p:txBody>
      </p:sp>
      <p:sp>
        <p:nvSpPr>
          <p:cNvPr id="11" name="Text 9"/>
          <p:cNvSpPr/>
          <p:nvPr/>
        </p:nvSpPr>
        <p:spPr>
          <a:xfrm>
            <a:off x="914400" y="2468627"/>
            <a:ext cx="2967990" cy="5379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order_items</a:t>
            </a:r>
            <a:endParaRPr lang="en-US" sz="3720" dirty="0"/>
          </a:p>
        </p:txBody>
      </p:sp>
      <p:sp>
        <p:nvSpPr>
          <p:cNvPr id="12" name="Text 10"/>
          <p:cNvSpPr/>
          <p:nvPr/>
        </p:nvSpPr>
        <p:spPr>
          <a:xfrm>
            <a:off x="3671133" y="2454843"/>
            <a:ext cx="2703424" cy="5379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6E8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Pred 与真实</a:t>
            </a:r>
            <a:endParaRPr lang="en-US" sz="3720" dirty="0"/>
          </a:p>
        </p:txBody>
      </p:sp>
      <p:sp>
        <p:nvSpPr>
          <p:cNvPr id="13" name="Text 11"/>
          <p:cNvSpPr/>
          <p:nvPr/>
        </p:nvSpPr>
        <p:spPr>
          <a:xfrm>
            <a:off x="914400" y="2965079"/>
            <a:ext cx="1952884" cy="5379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6E8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结果对比</a:t>
            </a:r>
            <a:endParaRPr lang="en-US" sz="3720" dirty="0"/>
          </a:p>
        </p:txBody>
      </p:sp>
      <p:sp>
        <p:nvSpPr>
          <p:cNvPr id="14" name="Text 12"/>
          <p:cNvSpPr/>
          <p:nvPr/>
        </p:nvSpPr>
        <p:spPr>
          <a:xfrm>
            <a:off x="914400" y="3626053"/>
            <a:ext cx="5711982" cy="336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修正为真实口径（DB 直连验证）</a:t>
            </a:r>
            <a:endParaRPr lang="en-US" sz="1620" dirty="0"/>
          </a:p>
        </p:txBody>
      </p:sp>
      <p:sp>
        <p:nvSpPr>
          <p:cNvPr id="15" name="Shape 13"/>
          <p:cNvSpPr/>
          <p:nvPr/>
        </p:nvSpPr>
        <p:spPr>
          <a:xfrm>
            <a:off x="914400" y="4239433"/>
            <a:ext cx="1615196" cy="114135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8003" y="4239433"/>
            <a:ext cx="11593" cy="1141354"/>
          </a:xfrm>
          <a:prstGeom prst="rect">
            <a:avLst/>
          </a:prstGeom>
          <a:solidFill>
            <a:srgbClr val="F3F2EE">
              <a:alpha val="4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14927"/>
            <a:ext cx="1577797" cy="6675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210"/>
              </a:lnSpc>
              <a:buNone/>
            </a:pPr>
            <a:r>
              <a:rPr lang="en-US" sz="4680" b="1" kern="0" spc="-175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4.14</a:t>
            </a:r>
            <a:endParaRPr lang="en-US" sz="4680" dirty="0"/>
          </a:p>
        </p:txBody>
      </p:sp>
      <p:sp>
        <p:nvSpPr>
          <p:cNvPr id="18" name="Text 16"/>
          <p:cNvSpPr/>
          <p:nvPr/>
        </p:nvSpPr>
        <p:spPr>
          <a:xfrm>
            <a:off x="2199406" y="4513753"/>
            <a:ext cx="211150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×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" y="4880976"/>
            <a:ext cx="134115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订单×明细 粒度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914400" y="5146152"/>
            <a:ext cx="460858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放大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2742926" y="4239433"/>
            <a:ext cx="3283885" cy="114135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15217" y="4239433"/>
            <a:ext cx="11593" cy="1141354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2926" y="4214927"/>
            <a:ext cx="3479749" cy="6675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210"/>
              </a:lnSpc>
              <a:buNone/>
            </a:pPr>
            <a:r>
              <a:rPr lang="en-US" sz="4680" b="1" kern="0" spc="-175" dirty="0">
                <a:solidFill>
                  <a:srgbClr val="6E8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369854.65</a:t>
            </a:r>
            <a:endParaRPr lang="en-US" sz="4680" dirty="0"/>
          </a:p>
        </p:txBody>
      </p:sp>
      <p:sp>
        <p:nvSpPr>
          <p:cNvPr id="24" name="Text 22"/>
          <p:cNvSpPr/>
          <p:nvPr/>
        </p:nvSpPr>
        <p:spPr>
          <a:xfrm>
            <a:off x="2742926" y="4880976"/>
            <a:ext cx="1464869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Pred 累计消费额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6240140" y="4214927"/>
            <a:ext cx="3099359" cy="6675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210"/>
              </a:lnSpc>
              <a:buNone/>
            </a:pPr>
            <a:r>
              <a:rPr lang="en-US" sz="4680" b="1" kern="0" spc="-175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89397.46</a:t>
            </a:r>
            <a:endParaRPr lang="en-US" sz="4680" dirty="0"/>
          </a:p>
        </p:txBody>
      </p:sp>
      <p:sp>
        <p:nvSpPr>
          <p:cNvPr id="26" name="Text 24"/>
          <p:cNvSpPr/>
          <p:nvPr/>
        </p:nvSpPr>
        <p:spPr>
          <a:xfrm>
            <a:off x="6240140" y="4880976"/>
            <a:ext cx="137160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修正后真实结果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914400" y="6449629"/>
            <a:ext cx="5620542" cy="10789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6449629"/>
            <a:ext cx="5620542" cy="2318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6632509"/>
            <a:ext cx="519974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6E8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链路</a:t>
            </a:r>
            <a:endParaRPr lang="en-US" sz="1585" dirty="0"/>
          </a:p>
        </p:txBody>
      </p:sp>
      <p:sp>
        <p:nvSpPr>
          <p:cNvPr id="30" name="Text 28"/>
          <p:cNvSpPr/>
          <p:nvPr/>
        </p:nvSpPr>
        <p:spPr>
          <a:xfrm>
            <a:off x="914400" y="7028718"/>
            <a:ext cx="5637276" cy="22558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Pred SQL → Detector → Alarm → FANOUT_RECHECK_HINT → 1 次</a:t>
            </a:r>
            <a:endParaRPr lang="en-US" sz="1440" dirty="0"/>
          </a:p>
        </p:txBody>
      </p:sp>
      <p:sp>
        <p:nvSpPr>
          <p:cNvPr id="31" name="Text 29"/>
          <p:cNvSpPr/>
          <p:nvPr/>
        </p:nvSpPr>
        <p:spPr>
          <a:xfrm>
            <a:off x="914400" y="7293894"/>
            <a:ext cx="184407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再生成 → EX✗→EX✓</a:t>
            </a:r>
            <a:endParaRPr lang="en-US" sz="144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420000">
            <a:off x="1482725" y="5335875"/>
            <a:ext cx="990570" cy="99057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7083582" y="3893790"/>
            <a:ext cx="6632418" cy="12039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332686" y="3893790"/>
            <a:ext cx="2134118" cy="123142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85" kern="0" spc="108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纯文字案例 · 无配图</a:t>
            </a:r>
            <a:endParaRPr lang="en-US" sz="158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415857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444112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585" b="1" kern="0" spc="180" dirty="0">
                <a:solidFill>
                  <a:srgbClr val="F3F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E3 实验边界</a:t>
            </a:r>
            <a:endParaRPr lang="en-US" sz="1585" dirty="0"/>
          </a:p>
        </p:txBody>
      </p:sp>
      <p:sp>
        <p:nvSpPr>
          <p:cNvPr id="8" name="Text 6"/>
          <p:cNvSpPr/>
          <p:nvPr/>
        </p:nvSpPr>
        <p:spPr>
          <a:xfrm>
            <a:off x="11368644" y="720090"/>
            <a:ext cx="2704749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BOUNDARY · 限制与归因</a:t>
            </a:r>
            <a:endParaRPr lang="en-US" sz="1585" dirty="0"/>
          </a:p>
        </p:txBody>
      </p:sp>
      <p:sp>
        <p:nvSpPr>
          <p:cNvPr id="9" name="Text 7"/>
          <p:cNvSpPr/>
          <p:nvPr/>
        </p:nvSpPr>
        <p:spPr>
          <a:xfrm>
            <a:off x="914400" y="1365512"/>
            <a:ext cx="5128138" cy="53757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90% → 93%：观测差异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6103529" y="1600200"/>
            <a:ext cx="205740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不代表整体 EX 稳定提升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914400" y="2034174"/>
            <a:ext cx="12801600" cy="3962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407198"/>
            <a:ext cx="12801600" cy="23186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133204"/>
            <a:ext cx="527975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kern="0" spc="72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限制项</a:t>
            </a:r>
            <a:endParaRPr lang="en-US" sz="1055" dirty="0"/>
          </a:p>
        </p:txBody>
      </p:sp>
      <p:sp>
        <p:nvSpPr>
          <p:cNvPr id="14" name="Text 12"/>
          <p:cNvSpPr/>
          <p:nvPr/>
        </p:nvSpPr>
        <p:spPr>
          <a:xfrm>
            <a:off x="4154942" y="2133204"/>
            <a:ext cx="495971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严重度</a:t>
            </a:r>
            <a:endParaRPr lang="en-US" sz="1055" dirty="0"/>
          </a:p>
        </p:txBody>
      </p:sp>
      <p:sp>
        <p:nvSpPr>
          <p:cNvPr id="15" name="Text 13"/>
          <p:cNvSpPr/>
          <p:nvPr/>
        </p:nvSpPr>
        <p:spPr>
          <a:xfrm>
            <a:off x="6094567" y="2133204"/>
            <a:ext cx="495971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可能性</a:t>
            </a:r>
            <a:endParaRPr lang="en-US" sz="1055" dirty="0"/>
          </a:p>
        </p:txBody>
      </p:sp>
      <p:sp>
        <p:nvSpPr>
          <p:cNvPr id="16" name="Text 14"/>
          <p:cNvSpPr/>
          <p:nvPr/>
        </p:nvSpPr>
        <p:spPr>
          <a:xfrm>
            <a:off x="8034193" y="2133204"/>
            <a:ext cx="367223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触发</a:t>
            </a:r>
            <a:endParaRPr lang="en-US" sz="1055" dirty="0"/>
          </a:p>
        </p:txBody>
      </p:sp>
      <p:sp>
        <p:nvSpPr>
          <p:cNvPr id="17" name="Text 15"/>
          <p:cNvSpPr/>
          <p:nvPr/>
        </p:nvSpPr>
        <p:spPr>
          <a:xfrm>
            <a:off x="11396167" y="2133204"/>
            <a:ext cx="367223" cy="2103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5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影响</a:t>
            </a:r>
            <a:endParaRPr lang="en-US" sz="1055" dirty="0"/>
          </a:p>
        </p:txBody>
      </p:sp>
      <p:sp>
        <p:nvSpPr>
          <p:cNvPr id="18" name="Shape 16"/>
          <p:cNvSpPr/>
          <p:nvPr/>
        </p:nvSpPr>
        <p:spPr>
          <a:xfrm>
            <a:off x="914400" y="2430384"/>
            <a:ext cx="12801600" cy="1549451"/>
          </a:xfrm>
          <a:prstGeom prst="rect">
            <a:avLst/>
          </a:prstGeom>
          <a:solidFill>
            <a:srgbClr val="6E85FF">
              <a:alpha val="14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968242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094695"/>
            <a:ext cx="3103382" cy="2133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094695"/>
            <a:ext cx="46372" cy="213330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094695"/>
            <a:ext cx="1059150" cy="2331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6E85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Alarm n=1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154942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4962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4982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5002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95022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94567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54587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4607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74627" y="3140415"/>
            <a:ext cx="121890" cy="121890"/>
          </a:xfrm>
          <a:prstGeom prst="rect">
            <a:avLst/>
          </a:prstGeom>
          <a:solidFill>
            <a:srgbClr val="6E85FF"/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34647" y="3140415"/>
            <a:ext cx="121890" cy="1218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34193" y="3128985"/>
            <a:ext cx="1217676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 E-0086 命中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96167" y="3102285"/>
            <a:ext cx="19271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6E8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↳</a:t>
            </a:r>
            <a:endParaRPr lang="en-US" sz="1190" dirty="0"/>
          </a:p>
        </p:txBody>
      </p:sp>
      <p:sp>
        <p:nvSpPr>
          <p:cNvPr id="35" name="Text 33"/>
          <p:cNvSpPr/>
          <p:nvPr/>
        </p:nvSpPr>
        <p:spPr>
          <a:xfrm>
            <a:off x="11541008" y="3128985"/>
            <a:ext cx="1092708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+1pt 直接归因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4400" y="3979926"/>
            <a:ext cx="12801600" cy="154963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5517967"/>
            <a:ext cx="12801600" cy="11593"/>
          </a:xfrm>
          <a:prstGeom prst="rect">
            <a:avLst/>
          </a:prstGeom>
          <a:solidFill>
            <a:srgbClr val="F3F2EE">
              <a:alpha val="6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644146"/>
            <a:ext cx="853410" cy="2331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OFF/ON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154942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14962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74982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35002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95022" y="4689866"/>
            <a:ext cx="121890" cy="1218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94567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54587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14607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74627" y="4689866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34647" y="4689866"/>
            <a:ext cx="121890" cy="1218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3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34193" y="4678436"/>
            <a:ext cx="1005840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非严格单变量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1396167" y="4651736"/>
            <a:ext cx="19271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↳</a:t>
            </a:r>
            <a:endParaRPr lang="en-US" sz="1190" dirty="0"/>
          </a:p>
        </p:txBody>
      </p:sp>
      <p:sp>
        <p:nvSpPr>
          <p:cNvPr id="51" name="Text 49"/>
          <p:cNvSpPr/>
          <p:nvPr/>
        </p:nvSpPr>
        <p:spPr>
          <a:xfrm>
            <a:off x="11541008" y="4678436"/>
            <a:ext cx="853410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机制层观测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14400" y="5529468"/>
            <a:ext cx="12801600" cy="154945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4400" y="7067326"/>
            <a:ext cx="12801600" cy="11593"/>
          </a:xfrm>
          <a:prstGeom prst="rect">
            <a:avLst/>
          </a:prstGeom>
          <a:solidFill>
            <a:srgbClr val="F3F2EE">
              <a:alpha val="6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" y="6193780"/>
            <a:ext cx="906810" cy="2331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PoC 定位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4154942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14962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474982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35002" y="6239500"/>
            <a:ext cx="121890" cy="1218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3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95022" y="6239500"/>
            <a:ext cx="121890" cy="1218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3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94567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54587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14607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74627" y="6239500"/>
            <a:ext cx="121890" cy="121890"/>
          </a:xfrm>
          <a:prstGeom prst="rect">
            <a:avLst/>
          </a:prstGeom>
          <a:solidFill>
            <a:srgbClr val="F3F2EE">
              <a:alpha val="60000"/>
            </a:srgbClr>
          </a:solidFill>
          <a:ln w="9525">
            <a:solidFill>
              <a:srgbClr val="F3F2EE">
                <a:alpha val="6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34647" y="6239500"/>
            <a:ext cx="121890" cy="12189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13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34193" y="6228070"/>
            <a:ext cx="1456944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范围 orders×items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1396167" y="6201369"/>
            <a:ext cx="19271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↳</a:t>
            </a:r>
            <a:endParaRPr lang="en-US" sz="1190" dirty="0"/>
          </a:p>
        </p:txBody>
      </p:sp>
      <p:sp>
        <p:nvSpPr>
          <p:cNvPr id="67" name="Text 65"/>
          <p:cNvSpPr/>
          <p:nvPr/>
        </p:nvSpPr>
        <p:spPr>
          <a:xfrm>
            <a:off x="11541008" y="6228070"/>
            <a:ext cx="1217676" cy="1950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子查询剪枝·盲区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4400" y="7254210"/>
            <a:ext cx="95422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6E8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结论限制</a:t>
            </a:r>
            <a:endParaRPr lang="en-US" sz="1585" dirty="0"/>
          </a:p>
        </p:txBody>
      </p:sp>
      <p:sp>
        <p:nvSpPr>
          <p:cNvPr id="71" name="Text 69"/>
          <p:cNvSpPr/>
          <p:nvPr/>
        </p:nvSpPr>
        <p:spPr>
          <a:xfrm>
            <a:off x="1826971" y="7275424"/>
            <a:ext cx="3435126" cy="2593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5"/>
              </a:lnSpc>
              <a:buNone/>
            </a:pPr>
            <a:r>
              <a:rPr lang="en-US" sz="126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超时/管道不同禁止表述「Hint 提升 3 个百分点」</a:t>
            </a:r>
            <a:endParaRPr lang="en-US" sz="1260" dirty="0"/>
          </a:p>
        </p:txBody>
      </p:sp>
      <p:pic>
        <p:nvPicPr>
          <p:cNvPr id="7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1230" y="761970"/>
            <a:ext cx="883950" cy="8839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263518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315364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585" b="1" kern="0" spc="180" dirty="0">
                <a:solidFill>
                  <a:srgbClr val="F3F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现场 DEMO</a:t>
            </a:r>
            <a:endParaRPr lang="en-US" sz="1585" dirty="0"/>
          </a:p>
        </p:txBody>
      </p:sp>
      <p:sp>
        <p:nvSpPr>
          <p:cNvPr id="8" name="Text 6"/>
          <p:cNvSpPr/>
          <p:nvPr/>
        </p:nvSpPr>
        <p:spPr>
          <a:xfrm>
            <a:off x="11073293" y="720090"/>
            <a:ext cx="3011988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TASK 23 E2E SMOKE 实测</a:t>
            </a:r>
            <a:endParaRPr lang="en-US" sz="1585" dirty="0"/>
          </a:p>
        </p:txBody>
      </p:sp>
      <p:sp>
        <p:nvSpPr>
          <p:cNvPr id="9" name="Text 7"/>
          <p:cNvSpPr/>
          <p:nvPr/>
        </p:nvSpPr>
        <p:spPr>
          <a:xfrm>
            <a:off x="914400" y="1380783"/>
            <a:ext cx="2465040" cy="53757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20"/>
              </a:lnSpc>
              <a:buNone/>
            </a:pPr>
            <a:r>
              <a:rPr lang="en-US" sz="3720" b="1" kern="0" spc="-70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Demo 清单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3440430" y="1615470"/>
            <a:ext cx="654555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 Mimo 全链路 · Repair/E3 采用证据或机制讲解，不作为稳定现场交互 Demo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914400" y="1988454"/>
            <a:ext cx="12801600" cy="544863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1990" y="1996044"/>
            <a:ext cx="6393210" cy="27166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03607" y="1996044"/>
            <a:ext cx="11593" cy="2716682"/>
          </a:xfrm>
          <a:prstGeom prst="rect">
            <a:avLst/>
          </a:prstGeom>
          <a:solidFill>
            <a:srgbClr val="F3F2EE">
              <a:alpha val="9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1990" y="4701133"/>
            <a:ext cx="6393210" cy="11593"/>
          </a:xfrm>
          <a:prstGeom prst="rect">
            <a:avLst/>
          </a:prstGeom>
          <a:solidFill>
            <a:srgbClr val="F3F2EE">
              <a:alpha val="9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6850" y="2302728"/>
            <a:ext cx="5867430" cy="3313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95"/>
              </a:lnSpc>
              <a:buNone/>
            </a:pPr>
            <a:r>
              <a:rPr lang="en-US" sz="2280" b="1" kern="0" spc="-29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哪个地区的用户最多？</a:t>
            </a:r>
            <a:endParaRPr lang="en-US" sz="2280" dirty="0"/>
          </a:p>
        </p:txBody>
      </p:sp>
      <p:sp>
        <p:nvSpPr>
          <p:cNvPr id="16" name="Text 14"/>
          <p:cNvSpPr/>
          <p:nvPr/>
        </p:nvSpPr>
        <p:spPr>
          <a:xfrm>
            <a:off x="1226850" y="2665842"/>
            <a:ext cx="883848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普通查询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26850" y="3039191"/>
            <a:ext cx="4206240" cy="2926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 246 行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1226850" y="4065057"/>
            <a:ext cx="89154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4065057"/>
            <a:ext cx="807110" cy="36274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E2E 实测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2179290" y="4065057"/>
            <a:ext cx="99825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78410" y="4065057"/>
            <a:ext cx="891540" cy="36274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 Mimo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7315200" y="1996044"/>
            <a:ext cx="6393210" cy="2716682"/>
          </a:xfrm>
          <a:prstGeom prst="rect">
            <a:avLst/>
          </a:prstGeom>
          <a:solidFill>
            <a:srgbClr val="2742EC">
              <a:alpha val="5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4701133"/>
            <a:ext cx="639321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19970" y="2302728"/>
            <a:ext cx="5875020" cy="3313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95"/>
              </a:lnSpc>
              <a:buNone/>
            </a:pPr>
            <a:r>
              <a:rPr lang="en-US" sz="2280" b="1" kern="0" spc="-29" dirty="0">
                <a:solidFill>
                  <a:srgbClr val="6E8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2025 年每月销售额？</a:t>
            </a:r>
            <a:endParaRPr lang="en-US" sz="2280" dirty="0"/>
          </a:p>
        </p:txBody>
      </p:sp>
      <p:sp>
        <p:nvSpPr>
          <p:cNvPr id="25" name="Text 23"/>
          <p:cNvSpPr/>
          <p:nvPr/>
        </p:nvSpPr>
        <p:spPr>
          <a:xfrm>
            <a:off x="7619970" y="2665842"/>
            <a:ext cx="1169297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6E8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聚合 / 时间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619970" y="3039191"/>
            <a:ext cx="4206240" cy="2926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 12 行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7619970" y="4065057"/>
            <a:ext cx="89154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19090" y="4065057"/>
            <a:ext cx="807110" cy="36274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6E8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E2E 实测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8572500" y="4065057"/>
            <a:ext cx="99825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6E8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71530" y="4065057"/>
            <a:ext cx="891540" cy="36274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6E8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 Mimo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921990" y="4712726"/>
            <a:ext cx="6393210" cy="271677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03607" y="4712726"/>
            <a:ext cx="11593" cy="2716774"/>
          </a:xfrm>
          <a:prstGeom prst="rect">
            <a:avLst/>
          </a:prstGeom>
          <a:solidFill>
            <a:srgbClr val="F3F2EE">
              <a:alpha val="9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26850" y="5019319"/>
            <a:ext cx="5867430" cy="3313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95"/>
              </a:lnSpc>
              <a:buNone/>
            </a:pPr>
            <a:r>
              <a:rPr lang="en-US" sz="2280" b="1" kern="0" spc="-29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近30天销量 Top5？</a:t>
            </a:r>
            <a:endParaRPr lang="en-US" sz="2280" dirty="0"/>
          </a:p>
        </p:txBody>
      </p:sp>
      <p:sp>
        <p:nvSpPr>
          <p:cNvPr id="34" name="Text 32"/>
          <p:cNvSpPr/>
          <p:nvPr/>
        </p:nvSpPr>
        <p:spPr>
          <a:xfrm>
            <a:off x="1226850" y="5382433"/>
            <a:ext cx="485786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排名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226850" y="5755874"/>
            <a:ext cx="4206240" cy="2926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 5 行</a:t>
            </a:r>
            <a:endParaRPr lang="en-US" sz="1440" dirty="0"/>
          </a:p>
        </p:txBody>
      </p:sp>
      <p:sp>
        <p:nvSpPr>
          <p:cNvPr id="36" name="Shape 34"/>
          <p:cNvSpPr/>
          <p:nvPr/>
        </p:nvSpPr>
        <p:spPr>
          <a:xfrm>
            <a:off x="1226850" y="6789420"/>
            <a:ext cx="89154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25880" y="6789420"/>
            <a:ext cx="807110" cy="36274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E2E 实测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2179290" y="6789420"/>
            <a:ext cx="99825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78410" y="6789420"/>
            <a:ext cx="891540" cy="36274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 Mimo</a:t>
            </a:r>
            <a:endParaRPr lang="en-US" sz="1320" dirty="0"/>
          </a:p>
        </p:txBody>
      </p:sp>
      <p:sp>
        <p:nvSpPr>
          <p:cNvPr id="40" name="Text 38"/>
          <p:cNvSpPr/>
          <p:nvPr/>
        </p:nvSpPr>
        <p:spPr>
          <a:xfrm>
            <a:off x="7619970" y="5019319"/>
            <a:ext cx="5875020" cy="3313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95"/>
              </a:lnSpc>
              <a:buNone/>
            </a:pPr>
            <a:r>
              <a:rPr lang="en-US" sz="2280" b="1" kern="0" spc="-29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哪个类目销售额最高？</a:t>
            </a:r>
            <a:endParaRPr lang="en-US" sz="2280" dirty="0"/>
          </a:p>
        </p:txBody>
      </p:sp>
      <p:sp>
        <p:nvSpPr>
          <p:cNvPr id="41" name="Text 39"/>
          <p:cNvSpPr/>
          <p:nvPr/>
        </p:nvSpPr>
        <p:spPr>
          <a:xfrm>
            <a:off x="7619970" y="5382433"/>
            <a:ext cx="1126884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多表 JOIN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7619970" y="5755874"/>
            <a:ext cx="4206240" cy="29260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 1 行</a:t>
            </a:r>
            <a:endParaRPr lang="en-US" sz="1440" dirty="0"/>
          </a:p>
        </p:txBody>
      </p:sp>
      <p:sp>
        <p:nvSpPr>
          <p:cNvPr id="43" name="Shape 41"/>
          <p:cNvSpPr/>
          <p:nvPr/>
        </p:nvSpPr>
        <p:spPr>
          <a:xfrm>
            <a:off x="7619970" y="6789420"/>
            <a:ext cx="89154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19090" y="6789420"/>
            <a:ext cx="807110" cy="36274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E2E 实测</a:t>
            </a:r>
            <a:endParaRPr lang="en-US" sz="1320" dirty="0"/>
          </a:p>
        </p:txBody>
      </p:sp>
      <p:sp>
        <p:nvSpPr>
          <p:cNvPr id="45" name="Shape 43"/>
          <p:cNvSpPr/>
          <p:nvPr/>
        </p:nvSpPr>
        <p:spPr>
          <a:xfrm>
            <a:off x="8572500" y="6789420"/>
            <a:ext cx="998250" cy="3353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>
                <a:alpha val="22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71530" y="6789420"/>
            <a:ext cx="891540" cy="36274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 Mimo</a:t>
            </a:r>
            <a:endParaRPr lang="en-US" sz="1320" dirty="0"/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360000">
            <a:off x="12694890" y="845454"/>
            <a:ext cx="1341150" cy="13411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833463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827886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585" b="1" kern="0" spc="180" dirty="0">
                <a:solidFill>
                  <a:srgbClr val="F3F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总结 · 三问三答</a:t>
            </a:r>
            <a:endParaRPr lang="en-US" sz="1585" dirty="0"/>
          </a:p>
        </p:txBody>
      </p:sp>
      <p:sp>
        <p:nvSpPr>
          <p:cNvPr id="8" name="Text 6"/>
          <p:cNvSpPr/>
          <p:nvPr/>
        </p:nvSpPr>
        <p:spPr>
          <a:xfrm>
            <a:off x="10548427" y="720090"/>
            <a:ext cx="3621253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DEFENSE · 面向电商分析</a:t>
            </a:r>
            <a:endParaRPr lang="en-US" sz="1585" dirty="0"/>
          </a:p>
        </p:txBody>
      </p:sp>
      <p:sp>
        <p:nvSpPr>
          <p:cNvPr id="9" name="Text 7"/>
          <p:cNvSpPr/>
          <p:nvPr/>
        </p:nvSpPr>
        <p:spPr>
          <a:xfrm>
            <a:off x="914400" y="1780798"/>
            <a:ext cx="7261860" cy="315166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785"/>
              </a:lnSpc>
              <a:buNone/>
            </a:pPr>
            <a:r>
              <a:rPr lang="en-US" sz="22800" b="1" kern="0" spc="-200" dirty="0">
                <a:solidFill>
                  <a:srgbClr val="2742E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90.0</a:t>
            </a:r>
            <a:endParaRPr lang="en-US" sz="22800" dirty="0"/>
          </a:p>
        </p:txBody>
      </p:sp>
      <p:sp>
        <p:nvSpPr>
          <p:cNvPr id="10" name="Text 8"/>
          <p:cNvSpPr/>
          <p:nvPr/>
        </p:nvSpPr>
        <p:spPr>
          <a:xfrm>
            <a:off x="7293894" y="2072459"/>
            <a:ext cx="1211580" cy="12771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0"/>
              </a:lnSpc>
              <a:buNone/>
            </a:pPr>
            <a:r>
              <a:rPr lang="en-US" sz="9000" b="1" kern="0" spc="-200" dirty="0">
                <a:solidFill>
                  <a:srgbClr val="2742E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%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914400" y="4316544"/>
            <a:ext cx="6284946" cy="76343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760" b="1" kern="0" spc="-34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面向电商分析的 Text2SQLAgent。</a:t>
            </a:r>
            <a:endParaRPr lang="en-US" sz="276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720000">
            <a:off x="10725785" y="1365885"/>
            <a:ext cx="1904970" cy="190497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901684" y="2937510"/>
            <a:ext cx="4814316" cy="101343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01684" y="2937510"/>
            <a:ext cx="11593" cy="101343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36024" y="2937510"/>
            <a:ext cx="519974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2742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总结</a:t>
            </a:r>
            <a:endParaRPr lang="en-US" sz="1585" dirty="0"/>
          </a:p>
        </p:txBody>
      </p:sp>
      <p:sp>
        <p:nvSpPr>
          <p:cNvPr id="16" name="Text 13"/>
          <p:cNvSpPr/>
          <p:nvPr/>
        </p:nvSpPr>
        <p:spPr>
          <a:xfrm>
            <a:off x="9336024" y="3371850"/>
            <a:ext cx="4219956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E3：验证 Fan-out 检测与干预 ｜ 可执行 · 可验</a:t>
            </a:r>
            <a:endParaRPr lang="en-US" sz="1620" dirty="0"/>
          </a:p>
        </p:txBody>
      </p:sp>
      <p:sp>
        <p:nvSpPr>
          <p:cNvPr id="17" name="Text 14"/>
          <p:cNvSpPr/>
          <p:nvPr/>
        </p:nvSpPr>
        <p:spPr>
          <a:xfrm>
            <a:off x="9336024" y="3680460"/>
            <a:ext cx="1981962" cy="2560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 · 可纠错 · 可评测</a:t>
            </a:r>
            <a:endParaRPr lang="en-US" sz="1620" dirty="0"/>
          </a:p>
        </p:txBody>
      </p:sp>
      <p:sp>
        <p:nvSpPr>
          <p:cNvPr id="18" name="Shape 15"/>
          <p:cNvSpPr/>
          <p:nvPr/>
        </p:nvSpPr>
        <p:spPr>
          <a:xfrm>
            <a:off x="914400" y="5638830"/>
            <a:ext cx="12801600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5837690"/>
            <a:ext cx="2474976" cy="5532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840" b="1" kern="0" spc="-96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Text2SQL</a:t>
            </a:r>
            <a:endParaRPr lang="en-US" sz="3840" dirty="0"/>
          </a:p>
        </p:txBody>
      </p:sp>
      <p:sp>
        <p:nvSpPr>
          <p:cNvPr id="20" name="Text 17"/>
          <p:cNvSpPr/>
          <p:nvPr/>
        </p:nvSpPr>
        <p:spPr>
          <a:xfrm>
            <a:off x="3328142" y="6012180"/>
            <a:ext cx="845515" cy="3093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40" b="1" kern="0" spc="-13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</a:t>
            </a:r>
            <a:endParaRPr lang="en-US" sz="2040" dirty="0"/>
          </a:p>
        </p:txBody>
      </p:sp>
      <p:sp>
        <p:nvSpPr>
          <p:cNvPr id="21" name="Text 18"/>
          <p:cNvSpPr/>
          <p:nvPr/>
        </p:nvSpPr>
        <p:spPr>
          <a:xfrm>
            <a:off x="914400" y="6400800"/>
            <a:ext cx="3906408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我们做了什么？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5064679" y="5814030"/>
            <a:ext cx="4158051" cy="1714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64679" y="5814030"/>
            <a:ext cx="11593" cy="171450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07579" y="5960654"/>
            <a:ext cx="577901" cy="5532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840" b="1" kern="0" spc="-96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闭</a:t>
            </a:r>
            <a:endParaRPr lang="en-US" sz="3840" dirty="0"/>
          </a:p>
        </p:txBody>
      </p:sp>
      <p:sp>
        <p:nvSpPr>
          <p:cNvPr id="25" name="Text 22"/>
          <p:cNvSpPr/>
          <p:nvPr/>
        </p:nvSpPr>
        <p:spPr>
          <a:xfrm>
            <a:off x="5407579" y="6661724"/>
            <a:ext cx="577901" cy="5532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840" b="1" kern="0" spc="-96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</a:t>
            </a:r>
            <a:endParaRPr lang="en-US" sz="3840" dirty="0"/>
          </a:p>
        </p:txBody>
      </p:sp>
      <p:sp>
        <p:nvSpPr>
          <p:cNvPr id="26" name="Text 23"/>
          <p:cNvSpPr/>
          <p:nvPr/>
        </p:nvSpPr>
        <p:spPr>
          <a:xfrm>
            <a:off x="6254679" y="6151031"/>
            <a:ext cx="2927177" cy="3093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40" b="1" kern="0" spc="-13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生成→安全→执行→修复</a:t>
            </a:r>
            <a:endParaRPr lang="en-US" sz="2040" dirty="0"/>
          </a:p>
        </p:txBody>
      </p:sp>
      <p:sp>
        <p:nvSpPr>
          <p:cNvPr id="27" name="Text 24"/>
          <p:cNvSpPr/>
          <p:nvPr/>
        </p:nvSpPr>
        <p:spPr>
          <a:xfrm>
            <a:off x="6254679" y="6461927"/>
            <a:ext cx="864840" cy="3093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40" b="1" kern="0" spc="-13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→评测</a:t>
            </a:r>
            <a:endParaRPr lang="en-US" sz="2040" dirty="0"/>
          </a:p>
        </p:txBody>
      </p:sp>
      <p:sp>
        <p:nvSpPr>
          <p:cNvPr id="28" name="Text 25"/>
          <p:cNvSpPr/>
          <p:nvPr/>
        </p:nvSpPr>
        <p:spPr>
          <a:xfrm>
            <a:off x="5407579" y="7277070"/>
            <a:ext cx="3906591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核心价值？</a:t>
            </a:r>
            <a:endParaRPr lang="en-US" sz="1450" dirty="0"/>
          </a:p>
        </p:txBody>
      </p:sp>
      <p:sp>
        <p:nvSpPr>
          <p:cNvPr id="29" name="Shape 26"/>
          <p:cNvSpPr/>
          <p:nvPr/>
        </p:nvSpPr>
        <p:spPr>
          <a:xfrm>
            <a:off x="9557949" y="5814030"/>
            <a:ext cx="4158051" cy="1714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57949" y="5814030"/>
            <a:ext cx="11593" cy="171450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900849" y="5837690"/>
            <a:ext cx="1589593" cy="55321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840" b="1" kern="0" spc="-96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90.0%</a:t>
            </a:r>
            <a:endParaRPr lang="en-US" sz="3840" dirty="0"/>
          </a:p>
        </p:txBody>
      </p:sp>
      <p:sp>
        <p:nvSpPr>
          <p:cNvPr id="32" name="Text 29"/>
          <p:cNvSpPr/>
          <p:nvPr/>
        </p:nvSpPr>
        <p:spPr>
          <a:xfrm>
            <a:off x="11459992" y="6012180"/>
            <a:ext cx="447050" cy="30934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40" b="1" kern="0" spc="-13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</a:t>
            </a:r>
            <a:endParaRPr lang="en-US" sz="2040" dirty="0"/>
          </a:p>
        </p:txBody>
      </p:sp>
      <p:sp>
        <p:nvSpPr>
          <p:cNvPr id="33" name="Text 30"/>
          <p:cNvSpPr/>
          <p:nvPr/>
        </p:nvSpPr>
        <p:spPr>
          <a:xfrm>
            <a:off x="9900849" y="6400800"/>
            <a:ext cx="3906591" cy="2788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kern="0" spc="99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如何证明？100 题 V1.1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978499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082238" cy="33988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ts val="1585"/>
              </a:lnSpc>
              <a:buNone/>
            </a:pPr>
            <a:r>
              <a:rPr lang="en-US" sz="1585" b="1" kern="0" spc="180" dirty="0">
                <a:solidFill>
                  <a:srgbClr val="F3F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THANKS</a:t>
            </a:r>
            <a:endParaRPr lang="en-US" sz="1585" dirty="0"/>
          </a:p>
        </p:txBody>
      </p:sp>
      <p:sp>
        <p:nvSpPr>
          <p:cNvPr id="8" name="Text 6"/>
          <p:cNvSpPr/>
          <p:nvPr/>
        </p:nvSpPr>
        <p:spPr>
          <a:xfrm>
            <a:off x="12940589" y="720090"/>
            <a:ext cx="95422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谢谢聆听</a:t>
            </a:r>
            <a:endParaRPr lang="en-US" sz="1585" dirty="0"/>
          </a:p>
        </p:txBody>
      </p:sp>
      <p:sp>
        <p:nvSpPr>
          <p:cNvPr id="9" name="Text 7"/>
          <p:cNvSpPr/>
          <p:nvPr/>
        </p:nvSpPr>
        <p:spPr>
          <a:xfrm>
            <a:off x="914400" y="1469166"/>
            <a:ext cx="782726" cy="7894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905"/>
              </a:lnSpc>
              <a:buNone/>
            </a:pPr>
            <a:r>
              <a:rPr lang="en-US" sz="5520" b="1" kern="0" spc="-138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</a:t>
            </a:r>
            <a:endParaRPr lang="en-US" sz="5520" dirty="0"/>
          </a:p>
        </p:txBody>
      </p:sp>
      <p:sp>
        <p:nvSpPr>
          <p:cNvPr id="10" name="Text 8"/>
          <p:cNvSpPr/>
          <p:nvPr/>
        </p:nvSpPr>
        <p:spPr>
          <a:xfrm>
            <a:off x="914400" y="2219248"/>
            <a:ext cx="4637562" cy="7894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905"/>
              </a:lnSpc>
              <a:buNone/>
            </a:pPr>
            <a:r>
              <a:rPr lang="en-US" sz="5520" b="1" kern="0" spc="-138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 · THANK</a:t>
            </a:r>
            <a:endParaRPr lang="en-US" sz="5520" dirty="0"/>
          </a:p>
        </p:txBody>
      </p:sp>
      <p:sp>
        <p:nvSpPr>
          <p:cNvPr id="11" name="Text 9"/>
          <p:cNvSpPr/>
          <p:nvPr/>
        </p:nvSpPr>
        <p:spPr>
          <a:xfrm>
            <a:off x="914400" y="2989904"/>
            <a:ext cx="1748699" cy="7894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905"/>
              </a:lnSpc>
              <a:buNone/>
            </a:pPr>
            <a:r>
              <a:rPr lang="en-US" sz="5520" b="1" kern="0" spc="-138" dirty="0">
                <a:solidFill>
                  <a:srgbClr val="F3F2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</a:t>
            </a:r>
            <a:endParaRPr lang="en-US" sz="5520" dirty="0"/>
          </a:p>
        </p:txBody>
      </p:sp>
      <p:sp>
        <p:nvSpPr>
          <p:cNvPr id="12" name="Text 10"/>
          <p:cNvSpPr/>
          <p:nvPr/>
        </p:nvSpPr>
        <p:spPr>
          <a:xfrm>
            <a:off x="2571659" y="2969331"/>
            <a:ext cx="782726" cy="7894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905"/>
              </a:lnSpc>
              <a:buNone/>
            </a:pPr>
            <a:r>
              <a:rPr lang="en-US" sz="5520" b="1" kern="0" spc="-138" dirty="0">
                <a:solidFill>
                  <a:srgbClr val="274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</a:t>
            </a:r>
            <a:endParaRPr lang="en-US" sz="5520" dirty="0"/>
          </a:p>
        </p:txBody>
      </p:sp>
      <p:sp>
        <p:nvSpPr>
          <p:cNvPr id="13" name="Text 11"/>
          <p:cNvSpPr/>
          <p:nvPr/>
        </p:nvSpPr>
        <p:spPr>
          <a:xfrm>
            <a:off x="3258739" y="2969331"/>
            <a:ext cx="782726" cy="7894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905"/>
              </a:lnSpc>
              <a:buNone/>
            </a:pPr>
            <a:r>
              <a:rPr lang="en-US" sz="5520" b="1" kern="0" spc="-138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</a:t>
            </a:r>
            <a:endParaRPr lang="en-US" sz="5520" dirty="0"/>
          </a:p>
        </p:txBody>
      </p:sp>
      <p:sp>
        <p:nvSpPr>
          <p:cNvPr id="14" name="Text 12"/>
          <p:cNvSpPr/>
          <p:nvPr/>
        </p:nvSpPr>
        <p:spPr>
          <a:xfrm>
            <a:off x="3945819" y="2969331"/>
            <a:ext cx="782726" cy="7894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905"/>
              </a:lnSpc>
              <a:buNone/>
            </a:pPr>
            <a:r>
              <a:rPr lang="en-US" sz="5520" b="1" kern="0" spc="-138" dirty="0">
                <a:solidFill>
                  <a:srgbClr val="274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</a:t>
            </a:r>
            <a:endParaRPr lang="en-US" sz="5520" dirty="0"/>
          </a:p>
        </p:txBody>
      </p:sp>
      <p:sp>
        <p:nvSpPr>
          <p:cNvPr id="15" name="Text 13"/>
          <p:cNvSpPr/>
          <p:nvPr/>
        </p:nvSpPr>
        <p:spPr>
          <a:xfrm>
            <a:off x="4632990" y="2969331"/>
            <a:ext cx="1465509" cy="7894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905"/>
              </a:lnSpc>
              <a:buNone/>
            </a:pPr>
            <a:r>
              <a:rPr lang="en-US" sz="5520" b="1" kern="0" spc="-138" dirty="0">
                <a:solidFill>
                  <a:srgbClr val="F3F2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指正</a:t>
            </a:r>
            <a:endParaRPr lang="en-US" sz="5520" dirty="0"/>
          </a:p>
        </p:txBody>
      </p:sp>
      <p:sp>
        <p:nvSpPr>
          <p:cNvPr id="16" name="Text 14"/>
          <p:cNvSpPr/>
          <p:nvPr/>
        </p:nvSpPr>
        <p:spPr>
          <a:xfrm>
            <a:off x="914400" y="3964747"/>
            <a:ext cx="5416266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Text2SQL 的电商智能数据分析 Agent —— 课程项目</a:t>
            </a:r>
            <a:endParaRPr lang="en-US" sz="1620" dirty="0"/>
          </a:p>
        </p:txBody>
      </p:sp>
      <p:sp>
        <p:nvSpPr>
          <p:cNvPr id="18" name="Shape 16"/>
          <p:cNvSpPr/>
          <p:nvPr/>
        </p:nvSpPr>
        <p:spPr>
          <a:xfrm>
            <a:off x="914400" y="7124730"/>
            <a:ext cx="6413327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7269480"/>
            <a:ext cx="1464225" cy="2864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20" kern="0" spc="103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报告人：何钊新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2603571" y="7269480"/>
            <a:ext cx="2167499" cy="2864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20" kern="0" spc="103" dirty="0">
                <a:solidFill>
                  <a:srgbClr val="B8B6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数据科学与大数据技术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4872838" y="7269480"/>
            <a:ext cx="1488893" cy="2864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20" kern="0" spc="103" dirty="0">
                <a:solidFill>
                  <a:srgbClr val="2742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2026 年 9 月</a:t>
            </a:r>
            <a:endParaRPr lang="en-US" sz="152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">
            <a:off x="2008475" y="4353560"/>
            <a:ext cx="1600200" cy="16002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7937266" y="1463040"/>
            <a:ext cx="5778734" cy="60654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37266" y="1463040"/>
            <a:ext cx="11593" cy="60654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71606" y="2388138"/>
            <a:ext cx="954222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2742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数据来源</a:t>
            </a:r>
            <a:endParaRPr lang="en-US" sz="1585" dirty="0"/>
          </a:p>
        </p:txBody>
      </p:sp>
      <p:sp>
        <p:nvSpPr>
          <p:cNvPr id="26" name="Text 23"/>
          <p:cNvSpPr/>
          <p:nvPr/>
        </p:nvSpPr>
        <p:spPr>
          <a:xfrm>
            <a:off x="8371606" y="2952049"/>
            <a:ext cx="757009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85" kern="0" spc="95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CLEAN</a:t>
            </a:r>
            <a:endParaRPr lang="en-US" sz="1385" dirty="0"/>
          </a:p>
        </p:txBody>
      </p:sp>
      <p:sp>
        <p:nvSpPr>
          <p:cNvPr id="27" name="Text 24"/>
          <p:cNvSpPr/>
          <p:nvPr/>
        </p:nvSpPr>
        <p:spPr>
          <a:xfrm>
            <a:off x="8371606" y="3195919"/>
            <a:ext cx="1157979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85" kern="0" spc="95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BASELINE</a:t>
            </a:r>
            <a:endParaRPr lang="en-US" sz="1385" dirty="0"/>
          </a:p>
        </p:txBody>
      </p:sp>
      <p:sp>
        <p:nvSpPr>
          <p:cNvPr id="28" name="Text 25"/>
          <p:cNvSpPr/>
          <p:nvPr/>
        </p:nvSpPr>
        <p:spPr>
          <a:xfrm>
            <a:off x="9423166" y="2982498"/>
            <a:ext cx="3361334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reports/eval/clean_baseline_v1_1</a:t>
            </a:r>
            <a:endParaRPr lang="en-US" sz="1440" dirty="0"/>
          </a:p>
        </p:txBody>
      </p:sp>
      <p:sp>
        <p:nvSpPr>
          <p:cNvPr id="29" name="Shape 26"/>
          <p:cNvSpPr/>
          <p:nvPr/>
        </p:nvSpPr>
        <p:spPr>
          <a:xfrm>
            <a:off x="8371606" y="3561679"/>
            <a:ext cx="5344394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371606" y="3561679"/>
            <a:ext cx="5344394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71606" y="3691158"/>
            <a:ext cx="813336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85" kern="0" spc="95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E3 冻结</a:t>
            </a:r>
            <a:endParaRPr lang="en-US" sz="1385" dirty="0"/>
          </a:p>
        </p:txBody>
      </p:sp>
      <p:sp>
        <p:nvSpPr>
          <p:cNvPr id="32" name="Text 29"/>
          <p:cNvSpPr/>
          <p:nvPr/>
        </p:nvSpPr>
        <p:spPr>
          <a:xfrm>
            <a:off x="9423166" y="3721699"/>
            <a:ext cx="3441802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reports/eval/E3_FINAL_FREEZE.md</a:t>
            </a:r>
            <a:endParaRPr lang="en-US" sz="1440" dirty="0"/>
          </a:p>
        </p:txBody>
      </p:sp>
      <p:sp>
        <p:nvSpPr>
          <p:cNvPr id="33" name="Shape 30"/>
          <p:cNvSpPr/>
          <p:nvPr/>
        </p:nvSpPr>
        <p:spPr>
          <a:xfrm>
            <a:off x="8371606" y="4078224"/>
            <a:ext cx="5344394" cy="73911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371606" y="4078224"/>
            <a:ext cx="5344394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71606" y="4207794"/>
            <a:ext cx="848660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85" kern="0" spc="95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验收与缺</a:t>
            </a:r>
            <a:endParaRPr lang="en-US" sz="1385" dirty="0"/>
          </a:p>
        </p:txBody>
      </p:sp>
      <p:sp>
        <p:nvSpPr>
          <p:cNvPr id="36" name="Text 33"/>
          <p:cNvSpPr/>
          <p:nvPr/>
        </p:nvSpPr>
        <p:spPr>
          <a:xfrm>
            <a:off x="8371606" y="4451665"/>
            <a:ext cx="278709" cy="2713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85" kern="0" spc="95" dirty="0">
                <a:solidFill>
                  <a:srgbClr val="84827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口</a:t>
            </a:r>
            <a:endParaRPr lang="en-US" sz="1385" dirty="0"/>
          </a:p>
        </p:txBody>
      </p:sp>
      <p:sp>
        <p:nvSpPr>
          <p:cNvPr id="37" name="Text 34"/>
          <p:cNvSpPr/>
          <p:nvPr/>
        </p:nvSpPr>
        <p:spPr>
          <a:xfrm>
            <a:off x="9423166" y="4238244"/>
            <a:ext cx="3220517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FINAL_ACCEPTANCE / GAP_CHECK</a:t>
            </a:r>
            <a:endParaRPr lang="en-US" sz="1440" dirty="0"/>
          </a:p>
        </p:txBody>
      </p:sp>
      <p:sp>
        <p:nvSpPr>
          <p:cNvPr id="38" name="Shape 35"/>
          <p:cNvSpPr/>
          <p:nvPr/>
        </p:nvSpPr>
        <p:spPr>
          <a:xfrm>
            <a:off x="8371606" y="5046025"/>
            <a:ext cx="5344394" cy="155749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742EC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71606" y="5046025"/>
            <a:ext cx="5344394" cy="23186"/>
          </a:xfrm>
          <a:prstGeom prst="rect">
            <a:avLst/>
          </a:prstGeom>
          <a:solidFill>
            <a:srgbClr val="2742EC"/>
          </a:solidFill>
          <a:ln w="12700">
            <a:solidFill>
              <a:srgbClr val="2742EC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71606" y="5244084"/>
            <a:ext cx="519974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85" kern="0" spc="108" dirty="0">
                <a:solidFill>
                  <a:srgbClr val="2742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说明</a:t>
            </a:r>
            <a:endParaRPr lang="en-US" sz="1585" dirty="0"/>
          </a:p>
        </p:txBody>
      </p:sp>
      <p:sp>
        <p:nvSpPr>
          <p:cNvPr id="41" name="Text 38"/>
          <p:cNvSpPr/>
          <p:nvPr/>
        </p:nvSpPr>
        <p:spPr>
          <a:xfrm>
            <a:off x="8371606" y="5617525"/>
            <a:ext cx="391226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585" kern="0" spc="108" dirty="0">
                <a:solidFill>
                  <a:srgbClr val="2742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1585" dirty="0"/>
          </a:p>
        </p:txBody>
      </p:sp>
      <p:sp>
        <p:nvSpPr>
          <p:cNvPr id="42" name="Text 39"/>
          <p:cNvSpPr/>
          <p:nvPr/>
        </p:nvSpPr>
        <p:spPr>
          <a:xfrm>
            <a:off x="8713683" y="5655564"/>
            <a:ext cx="2710282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 API Key 不出现于任何文档</a:t>
            </a:r>
            <a:endParaRPr lang="en-US" sz="1440" dirty="0"/>
          </a:p>
        </p:txBody>
      </p:sp>
      <p:sp>
        <p:nvSpPr>
          <p:cNvPr id="43" name="Text 40"/>
          <p:cNvSpPr/>
          <p:nvPr/>
        </p:nvSpPr>
        <p:spPr>
          <a:xfrm>
            <a:off x="8371606" y="5974050"/>
            <a:ext cx="391226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585" kern="0" spc="108" dirty="0">
                <a:solidFill>
                  <a:srgbClr val="2742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1585" dirty="0"/>
          </a:p>
        </p:txBody>
      </p:sp>
      <p:sp>
        <p:nvSpPr>
          <p:cNvPr id="44" name="Text 41"/>
          <p:cNvSpPr/>
          <p:nvPr/>
        </p:nvSpPr>
        <p:spPr>
          <a:xfrm>
            <a:off x="8713683" y="6012180"/>
            <a:ext cx="2258568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E3 为机制验证·非全局增益</a:t>
            </a:r>
            <a:endParaRPr lang="en-US" sz="1440" dirty="0"/>
          </a:p>
        </p:txBody>
      </p:sp>
      <p:sp>
        <p:nvSpPr>
          <p:cNvPr id="45" name="Text 42"/>
          <p:cNvSpPr/>
          <p:nvPr/>
        </p:nvSpPr>
        <p:spPr>
          <a:xfrm>
            <a:off x="8371606" y="6330666"/>
            <a:ext cx="391226" cy="30175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585" kern="0" spc="108" dirty="0">
                <a:solidFill>
                  <a:srgbClr val="2742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endParaRPr lang="en-US" sz="1585" dirty="0"/>
          </a:p>
        </p:txBody>
      </p:sp>
      <p:sp>
        <p:nvSpPr>
          <p:cNvPr id="46" name="Text 43"/>
          <p:cNvSpPr/>
          <p:nvPr/>
        </p:nvSpPr>
        <p:spPr>
          <a:xfrm>
            <a:off x="8713683" y="6368796"/>
            <a:ext cx="1920240" cy="2255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未实现能力已如实披露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4071</Words>
  <Application>WPS 演示</Application>
  <PresentationFormat>On-screen Show (16:9)</PresentationFormat>
  <Paragraphs>934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宋体</vt:lpstr>
      <vt:lpstr>Wingdings</vt:lpstr>
      <vt:lpstr>Courier New</vt:lpstr>
      <vt:lpstr>Courier New</vt:lpstr>
      <vt:lpstr>Courier New</vt:lpstr>
      <vt:lpstr>Arial</vt:lpstr>
      <vt:lpstr>Arial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Deck Export</dc:title>
  <dc:creator>Dashi PPT</dc:creator>
  <dc:subject>Editable PPTX export</dc:subject>
  <cp:lastModifiedBy>仙.</cp:lastModifiedBy>
  <cp:revision>3</cp:revision>
  <dcterms:created xsi:type="dcterms:W3CDTF">2026-09-17T03:13:00Z</dcterms:created>
  <dcterms:modified xsi:type="dcterms:W3CDTF">2026-09-17T04:37:23Z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883D8E7C696E4EEC9976BDE829B191DC_12</vt:lpwstr>
  </property>
</Properties>
</file>