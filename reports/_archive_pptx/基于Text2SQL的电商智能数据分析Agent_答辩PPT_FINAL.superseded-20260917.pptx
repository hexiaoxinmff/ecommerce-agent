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2363724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2502896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课程项目答辩 · 2026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9579163" y="720090"/>
            <a:ext cx="472497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基于 TEXT2SQL 的电商智能数据分析 AGENT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450193"/>
            <a:ext cx="5947623" cy="1284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29"/>
              </a:lnSpc>
              <a:buNone/>
            </a:pPr>
            <a:r>
              <a:rPr lang="en-US" sz="9120" b="1" spc="-200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Text2SQL</a:t>
            </a:r>
            <a:endParaRPr lang="en-US" sz="9120" dirty="0"/>
          </a:p>
        </p:txBody>
      </p:sp>
      <p:sp>
        <p:nvSpPr>
          <p:cNvPr id="10" name="Text 8"/>
          <p:cNvSpPr/>
          <p:nvPr/>
        </p:nvSpPr>
        <p:spPr>
          <a:xfrm>
            <a:off x="914400" y="2559040"/>
            <a:ext cx="4585442" cy="1284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29"/>
              </a:lnSpc>
              <a:buNone/>
            </a:pPr>
            <a:r>
              <a:rPr lang="en-US" sz="9120" b="1" spc="-200" kern="0" dirty="0">
                <a:solidFill>
                  <a:srgbClr val="274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电商智能</a:t>
            </a:r>
            <a:endParaRPr lang="en-US" sz="9120" dirty="0"/>
          </a:p>
        </p:txBody>
      </p:sp>
      <p:sp>
        <p:nvSpPr>
          <p:cNvPr id="11" name="Text 9"/>
          <p:cNvSpPr/>
          <p:nvPr/>
        </p:nvSpPr>
        <p:spPr>
          <a:xfrm>
            <a:off x="5408402" y="2559040"/>
            <a:ext cx="4585442" cy="1284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29"/>
              </a:lnSpc>
              <a:buNone/>
            </a:pPr>
            <a:r>
              <a:rPr lang="en-US" sz="9120" b="1" spc="-20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</a:t>
            </a:r>
            <a:endParaRPr lang="en-US" sz="9120" dirty="0"/>
          </a:p>
        </p:txBody>
      </p:sp>
      <p:sp>
        <p:nvSpPr>
          <p:cNvPr id="12" name="Text 10"/>
          <p:cNvSpPr/>
          <p:nvPr/>
        </p:nvSpPr>
        <p:spPr>
          <a:xfrm>
            <a:off x="914400" y="3743325"/>
            <a:ext cx="3636294" cy="1284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29"/>
              </a:lnSpc>
              <a:buNone/>
            </a:pPr>
            <a:r>
              <a:rPr lang="en-US" sz="9120" b="1" spc="-200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9120" dirty="0"/>
          </a:p>
        </p:txBody>
      </p:sp>
      <p:sp>
        <p:nvSpPr>
          <p:cNvPr id="13" name="Text 11"/>
          <p:cNvSpPr/>
          <p:nvPr/>
        </p:nvSpPr>
        <p:spPr>
          <a:xfrm>
            <a:off x="914400" y="5093171"/>
            <a:ext cx="9028146" cy="31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32"/>
              </a:lnSpc>
              <a:buNone/>
            </a:pPr>
            <a:r>
              <a:rPr lang="en-US" sz="1860" spc="-12" kern="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面向电商业务的自然语言数据分析与可验证 SQL Agent</a:t>
            </a:r>
            <a:endParaRPr lang="en-US" sz="1860" dirty="0"/>
          </a:p>
        </p:txBody>
      </p:sp>
      <p:sp>
        <p:nvSpPr>
          <p:cNvPr id="14" name="Shape 12"/>
          <p:cNvSpPr/>
          <p:nvPr/>
        </p:nvSpPr>
        <p:spPr>
          <a:xfrm>
            <a:off x="914400" y="5914065"/>
            <a:ext cx="12801600" cy="759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6150254"/>
            <a:ext cx="3964930" cy="90580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67737" y="6150254"/>
            <a:ext cx="11593" cy="905805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979443"/>
            <a:ext cx="2236074" cy="9722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546"/>
              </a:lnSpc>
              <a:buNone/>
            </a:pPr>
            <a:r>
              <a:rPr lang="en-US" sz="5544" b="1" spc="-126" kern="0" dirty="0">
                <a:solidFill>
                  <a:srgbClr val="274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90.0%</a:t>
            </a:r>
            <a:endParaRPr lang="en-US" sz="5544" dirty="0"/>
          </a:p>
        </p:txBody>
      </p:sp>
      <p:sp>
        <p:nvSpPr>
          <p:cNvPr id="18" name="Text 16"/>
          <p:cNvSpPr/>
          <p:nvPr/>
        </p:nvSpPr>
        <p:spPr>
          <a:xfrm>
            <a:off x="2854482" y="6366510"/>
            <a:ext cx="414589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800" b="1" spc="-22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6781830"/>
            <a:ext cx="374391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BASELINE</a:t>
            </a:r>
            <a:endParaRPr lang="en-US" sz="1584" dirty="0"/>
          </a:p>
        </p:txBody>
      </p:sp>
      <p:sp>
        <p:nvSpPr>
          <p:cNvPr id="20" name="Shape 18"/>
          <p:cNvSpPr/>
          <p:nvPr/>
        </p:nvSpPr>
        <p:spPr>
          <a:xfrm>
            <a:off x="5184099" y="6150254"/>
            <a:ext cx="3965021" cy="90580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37528" y="6150254"/>
            <a:ext cx="11593" cy="905805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84099" y="5979443"/>
            <a:ext cx="2236074" cy="9722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546"/>
              </a:lnSpc>
              <a:buNone/>
            </a:pPr>
            <a:r>
              <a:rPr lang="en-US" sz="5544" b="1" spc="-126" kern="0" dirty="0">
                <a:solidFill>
                  <a:srgbClr val="F3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99.0%</a:t>
            </a:r>
            <a:endParaRPr lang="en-US" sz="5544" dirty="0"/>
          </a:p>
        </p:txBody>
      </p:sp>
      <p:sp>
        <p:nvSpPr>
          <p:cNvPr id="23" name="Text 21"/>
          <p:cNvSpPr/>
          <p:nvPr/>
        </p:nvSpPr>
        <p:spPr>
          <a:xfrm>
            <a:off x="7124182" y="6366510"/>
            <a:ext cx="653887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800" b="1" spc="-22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184099" y="6781830"/>
            <a:ext cx="374401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执行成功率</a:t>
            </a:r>
            <a:endParaRPr lang="en-US" sz="1584" dirty="0"/>
          </a:p>
        </p:txBody>
      </p:sp>
      <p:sp>
        <p:nvSpPr>
          <p:cNvPr id="25" name="Text 23"/>
          <p:cNvSpPr/>
          <p:nvPr/>
        </p:nvSpPr>
        <p:spPr>
          <a:xfrm>
            <a:off x="9453890" y="5979443"/>
            <a:ext cx="1461577" cy="9722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546"/>
              </a:lnSpc>
              <a:buNone/>
            </a:pPr>
            <a:r>
              <a:rPr lang="en-US" sz="5544" b="1" spc="-126" kern="0" dirty="0">
                <a:solidFill>
                  <a:srgbClr val="F3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5544" dirty="0"/>
          </a:p>
        </p:txBody>
      </p:sp>
      <p:sp>
        <p:nvSpPr>
          <p:cNvPr id="26" name="Text 24"/>
          <p:cNvSpPr/>
          <p:nvPr/>
        </p:nvSpPr>
        <p:spPr>
          <a:xfrm>
            <a:off x="10642427" y="6367973"/>
            <a:ext cx="329184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800" b="1" spc="-22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453890" y="6781830"/>
            <a:ext cx="374391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评测集 ECO-SQL-BENCH</a:t>
            </a:r>
            <a:endParaRPr lang="en-US" sz="1584" dirty="0"/>
          </a:p>
        </p:txBody>
      </p:sp>
      <p:sp>
        <p:nvSpPr>
          <p:cNvPr id="28" name="Text 26"/>
          <p:cNvSpPr/>
          <p:nvPr/>
        </p:nvSpPr>
        <p:spPr>
          <a:xfrm>
            <a:off x="914400" y="7254210"/>
            <a:ext cx="152311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报告人：何钊新</a:t>
            </a:r>
            <a:endParaRPr lang="en-US" sz="1584" dirty="0"/>
          </a:p>
        </p:txBody>
      </p:sp>
      <p:sp>
        <p:nvSpPr>
          <p:cNvPr id="29" name="Text 27"/>
          <p:cNvSpPr/>
          <p:nvPr/>
        </p:nvSpPr>
        <p:spPr>
          <a:xfrm>
            <a:off x="2606772" y="7254210"/>
            <a:ext cx="1957365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嘉应学院·数据科学</a:t>
            </a:r>
            <a:endParaRPr lang="en-US" sz="1584" dirty="0"/>
          </a:p>
        </p:txBody>
      </p:sp>
      <p:sp>
        <p:nvSpPr>
          <p:cNvPr id="30" name="Text 28"/>
          <p:cNvSpPr/>
          <p:nvPr/>
        </p:nvSpPr>
        <p:spPr>
          <a:xfrm>
            <a:off x="4618177" y="7254210"/>
            <a:ext cx="182271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与大数据技术本科</a:t>
            </a:r>
            <a:endParaRPr lang="en-US" sz="1584" dirty="0"/>
          </a:p>
        </p:txBody>
      </p:sp>
      <p:sp>
        <p:nvSpPr>
          <p:cNvPr id="31" name="Text 29"/>
          <p:cNvSpPr/>
          <p:nvPr/>
        </p:nvSpPr>
        <p:spPr>
          <a:xfrm>
            <a:off x="12326021" y="7254210"/>
            <a:ext cx="154885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 年 9 月</a:t>
            </a:r>
            <a:endParaRPr lang="en-US" sz="158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226850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235354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背景与问题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1777381" y="720090"/>
            <a:ext cx="217448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为什么需要这个系统？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403649"/>
            <a:ext cx="2883560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传统提数链路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3706520" y="1403649"/>
            <a:ext cx="2883560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三个核心痛点</a:t>
            </a:r>
            <a:endParaRPr lang="en-US" sz="372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6710" y="960120"/>
            <a:ext cx="1417320" cy="1417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49710" y="2213212"/>
            <a:ext cx="1007059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968"/>
              </a:lnSpc>
              <a:buNone/>
            </a:pPr>
            <a:r>
              <a:rPr lang="en-US" sz="5520" b="1" spc="-138" kern="0" dirty="0">
                <a:solidFill>
                  <a:srgbClr val="F3F2EE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520" dirty="0"/>
          </a:p>
        </p:txBody>
      </p:sp>
      <p:sp>
        <p:nvSpPr>
          <p:cNvPr id="13" name="Text 10"/>
          <p:cNvSpPr/>
          <p:nvPr/>
        </p:nvSpPr>
        <p:spPr>
          <a:xfrm>
            <a:off x="1249710" y="3015600"/>
            <a:ext cx="1664966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不会 SQL 的门槛</a:t>
            </a:r>
            <a:endParaRPr lang="en-US" sz="1452" dirty="0"/>
          </a:p>
        </p:txBody>
      </p:sp>
      <p:sp>
        <p:nvSpPr>
          <p:cNvPr id="14" name="Text 11"/>
          <p:cNvSpPr/>
          <p:nvPr/>
        </p:nvSpPr>
        <p:spPr>
          <a:xfrm>
            <a:off x="1249710" y="3299657"/>
            <a:ext cx="1584930" cy="8579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760"/>
              </a:lnSpc>
              <a:buNone/>
            </a:pPr>
            <a:r>
              <a:rPr lang="en-US" sz="6000" b="1" spc="-15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6000" dirty="0"/>
          </a:p>
        </p:txBody>
      </p:sp>
      <p:sp>
        <p:nvSpPr>
          <p:cNvPr id="15" name="Text 12"/>
          <p:cNvSpPr/>
          <p:nvPr/>
        </p:nvSpPr>
        <p:spPr>
          <a:xfrm>
            <a:off x="1249710" y="4198376"/>
            <a:ext cx="368292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1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业务人员不会 SQL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49710" y="4608210"/>
            <a:ext cx="343659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运营/管理层提数依赖分析师排期，响应周</a:t>
            </a:r>
            <a:endParaRPr lang="en-US" sz="1440" dirty="0"/>
          </a:p>
        </p:txBody>
      </p:sp>
      <p:sp>
        <p:nvSpPr>
          <p:cNvPr id="17" name="Text 14"/>
          <p:cNvSpPr/>
          <p:nvPr/>
        </p:nvSpPr>
        <p:spPr>
          <a:xfrm>
            <a:off x="1249710" y="4873386"/>
            <a:ext cx="460858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期长</a:t>
            </a:r>
            <a:endParaRPr lang="en-US" sz="1440" dirty="0"/>
          </a:p>
        </p:txBody>
      </p:sp>
      <p:sp>
        <p:nvSpPr>
          <p:cNvPr id="18" name="Shape 15"/>
          <p:cNvSpPr/>
          <p:nvPr/>
        </p:nvSpPr>
        <p:spPr>
          <a:xfrm>
            <a:off x="1249710" y="7056150"/>
            <a:ext cx="426750" cy="3045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176510" y="2018904"/>
            <a:ext cx="4269791" cy="512859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176510" y="2018904"/>
            <a:ext cx="11593" cy="5128595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19410" y="2213212"/>
            <a:ext cx="1007059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968"/>
              </a:lnSpc>
              <a:buNone/>
            </a:pPr>
            <a:r>
              <a:rPr lang="en-US" sz="5520" b="1" spc="-138" kern="0" dirty="0">
                <a:solidFill>
                  <a:srgbClr val="F3F2EE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520" dirty="0"/>
          </a:p>
        </p:txBody>
      </p:sp>
      <p:sp>
        <p:nvSpPr>
          <p:cNvPr id="22" name="Text 19"/>
          <p:cNvSpPr/>
          <p:nvPr/>
        </p:nvSpPr>
        <p:spPr>
          <a:xfrm>
            <a:off x="5519410" y="3015600"/>
            <a:ext cx="119823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生成 ≠ 可信</a:t>
            </a:r>
            <a:endParaRPr lang="en-US" sz="1452" dirty="0"/>
          </a:p>
        </p:txBody>
      </p:sp>
      <p:sp>
        <p:nvSpPr>
          <p:cNvPr id="23" name="Text 20"/>
          <p:cNvSpPr/>
          <p:nvPr/>
        </p:nvSpPr>
        <p:spPr>
          <a:xfrm>
            <a:off x="5519410" y="3299657"/>
            <a:ext cx="1584930" cy="8579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760"/>
              </a:lnSpc>
              <a:buNone/>
            </a:pPr>
            <a:r>
              <a:rPr lang="en-US" sz="6000" b="1" spc="-15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6000" dirty="0"/>
          </a:p>
        </p:txBody>
      </p:sp>
      <p:sp>
        <p:nvSpPr>
          <p:cNvPr id="24" name="Text 21"/>
          <p:cNvSpPr/>
          <p:nvPr/>
        </p:nvSpPr>
        <p:spPr>
          <a:xfrm>
            <a:off x="5519410" y="4198376"/>
            <a:ext cx="368311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1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 需执行验证纠错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519410" y="4577669"/>
            <a:ext cx="344427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生成后要能执行、安全校验、自动修复</a:t>
            </a:r>
            <a:endParaRPr lang="en-US" sz="1440" dirty="0"/>
          </a:p>
        </p:txBody>
      </p:sp>
      <p:sp>
        <p:nvSpPr>
          <p:cNvPr id="26" name="Shape 23"/>
          <p:cNvSpPr/>
          <p:nvPr/>
        </p:nvSpPr>
        <p:spPr>
          <a:xfrm>
            <a:off x="5519410" y="7056150"/>
            <a:ext cx="426750" cy="3045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446301" y="2018904"/>
            <a:ext cx="4269699" cy="512859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446301" y="2018904"/>
            <a:ext cx="11593" cy="5128595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789201" y="2213212"/>
            <a:ext cx="1007059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968"/>
              </a:lnSpc>
              <a:buNone/>
            </a:pPr>
            <a:r>
              <a:rPr lang="en-US" sz="5520" b="1" spc="-138" kern="0" dirty="0">
                <a:solidFill>
                  <a:srgbClr val="F3F2EE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520" dirty="0"/>
          </a:p>
        </p:txBody>
      </p:sp>
      <p:sp>
        <p:nvSpPr>
          <p:cNvPr id="30" name="Text 27"/>
          <p:cNvSpPr/>
          <p:nvPr/>
        </p:nvSpPr>
        <p:spPr>
          <a:xfrm>
            <a:off x="9789201" y="3015600"/>
            <a:ext cx="1082878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本项目定位</a:t>
            </a:r>
            <a:endParaRPr lang="en-US" sz="1452" dirty="0"/>
          </a:p>
        </p:txBody>
      </p:sp>
      <p:sp>
        <p:nvSpPr>
          <p:cNvPr id="31" name="Text 28"/>
          <p:cNvSpPr/>
          <p:nvPr/>
        </p:nvSpPr>
        <p:spPr>
          <a:xfrm>
            <a:off x="9789201" y="3299657"/>
            <a:ext cx="1584930" cy="8579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760"/>
              </a:lnSpc>
              <a:buNone/>
            </a:pPr>
            <a:r>
              <a:rPr lang="en-US" sz="6000" b="1" spc="-15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6000" dirty="0"/>
          </a:p>
        </p:txBody>
      </p:sp>
      <p:sp>
        <p:nvSpPr>
          <p:cNvPr id="32" name="Text 29"/>
          <p:cNvSpPr/>
          <p:nvPr/>
        </p:nvSpPr>
        <p:spPr>
          <a:xfrm>
            <a:off x="9789201" y="4198376"/>
            <a:ext cx="368292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1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不是聊天机器人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9789201" y="4608210"/>
            <a:ext cx="265176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是能执行、验证、纠错、评测的</a:t>
            </a:r>
            <a:endParaRPr lang="en-US" sz="1440" dirty="0"/>
          </a:p>
        </p:txBody>
      </p:sp>
      <p:sp>
        <p:nvSpPr>
          <p:cNvPr id="34" name="Text 31"/>
          <p:cNvSpPr/>
          <p:nvPr/>
        </p:nvSpPr>
        <p:spPr>
          <a:xfrm>
            <a:off x="9789201" y="4873386"/>
            <a:ext cx="1574597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Text2SQL Agent</a:t>
            </a:r>
            <a:endParaRPr lang="en-US" sz="1440" dirty="0"/>
          </a:p>
        </p:txBody>
      </p:sp>
      <p:sp>
        <p:nvSpPr>
          <p:cNvPr id="35" name="Shape 32"/>
          <p:cNvSpPr/>
          <p:nvPr/>
        </p:nvSpPr>
        <p:spPr>
          <a:xfrm>
            <a:off x="9789201" y="7056150"/>
            <a:ext cx="426750" cy="3045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14400" y="7147590"/>
            <a:ext cx="12801600" cy="759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14400" y="7277070"/>
            <a:ext cx="5704393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业务问题 → 理解 SCHEMA → 手写 SQL → 检查 → 执行 → 分析</a:t>
            </a:r>
            <a:endParaRPr lang="en-US" sz="1452" dirty="0"/>
          </a:p>
        </p:txBody>
      </p:sp>
      <p:sp>
        <p:nvSpPr>
          <p:cNvPr id="38" name="Text 35"/>
          <p:cNvSpPr/>
          <p:nvPr/>
        </p:nvSpPr>
        <p:spPr>
          <a:xfrm>
            <a:off x="10819729" y="7277070"/>
            <a:ext cx="3262617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结论：需要的是 AGENT 而非生成器</a:t>
            </a:r>
            <a:endParaRPr lang="en-US" sz="14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853214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934733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从提问到可信结论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9167683" y="720090"/>
            <a:ext cx="4639757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自然语言 → 可执行 SQL → 安全执行 → 可评测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365512"/>
            <a:ext cx="1952884" cy="537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核心指标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2928183" y="1600200"/>
            <a:ext cx="370332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任务书 SQL 执行准确率目标 ≥85%，已达成</a:t>
            </a:r>
            <a:endParaRPr lang="en-US" sz="144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49445"/>
            <a:ext cx="12801600" cy="45720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715000" y="3588654"/>
            <a:ext cx="3200400" cy="1493490"/>
          </a:xfrm>
          <a:prstGeom prst="rect">
            <a:avLst/>
          </a:prstGeom>
          <a:solidFill>
            <a:srgbClr val="F3F2EE">
              <a:alpha val="6000"/>
            </a:srgbClr>
          </a:solidFill>
          <a:ln w="28575">
            <a:solidFill>
              <a:srgbClr val="F3F2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66460" y="3922319"/>
            <a:ext cx="1051560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90.0%</a:t>
            </a:r>
            <a:endParaRPr lang="en-US" sz="2280" dirty="0"/>
          </a:p>
        </p:txBody>
      </p:sp>
      <p:sp>
        <p:nvSpPr>
          <p:cNvPr id="14" name="Shape 11"/>
          <p:cNvSpPr/>
          <p:nvPr/>
        </p:nvSpPr>
        <p:spPr>
          <a:xfrm>
            <a:off x="7018020" y="4028938"/>
            <a:ext cx="701070" cy="205740"/>
          </a:xfrm>
          <a:prstGeom prst="rect">
            <a:avLst/>
          </a:prstGeom>
          <a:solidFill>
            <a:srgbClr val="6E8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86600" y="4028938"/>
            <a:ext cx="667541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990" b="1" spc="113" kern="0" dirty="0">
                <a:solidFill>
                  <a:srgbClr val="0D1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项目目标</a:t>
            </a:r>
            <a:endParaRPr lang="en-US" sz="990" dirty="0"/>
          </a:p>
        </p:txBody>
      </p:sp>
      <p:sp>
        <p:nvSpPr>
          <p:cNvPr id="16" name="Text 13"/>
          <p:cNvSpPr/>
          <p:nvPr/>
        </p:nvSpPr>
        <p:spPr>
          <a:xfrm>
            <a:off x="5966460" y="4265219"/>
            <a:ext cx="309122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2" spc="77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</a:t>
            </a:r>
            <a:endParaRPr lang="en-US" sz="1122" dirty="0"/>
          </a:p>
        </p:txBody>
      </p:sp>
      <p:sp>
        <p:nvSpPr>
          <p:cNvPr id="17" name="Text 14"/>
          <p:cNvSpPr/>
          <p:nvPr/>
        </p:nvSpPr>
        <p:spPr>
          <a:xfrm>
            <a:off x="5966460" y="4516679"/>
            <a:ext cx="2788920" cy="2593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27"/>
              </a:lnSpc>
              <a:buNone/>
            </a:pPr>
            <a:r>
              <a:rPr lang="en-US" sz="126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ECO-SQL-Bench v1.1 执行准确率</a:t>
            </a:r>
            <a:endParaRPr lang="en-US" sz="1260" dirty="0"/>
          </a:p>
        </p:txBody>
      </p:sp>
      <p:sp>
        <p:nvSpPr>
          <p:cNvPr id="18" name="Shape 15"/>
          <p:cNvSpPr/>
          <p:nvPr/>
        </p:nvSpPr>
        <p:spPr>
          <a:xfrm>
            <a:off x="5867430" y="2049445"/>
            <a:ext cx="2895630" cy="128016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65490" y="2357277"/>
            <a:ext cx="1371600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自然语言分析</a:t>
            </a:r>
            <a:endParaRPr lang="en-US" sz="1680" dirty="0"/>
          </a:p>
        </p:txBody>
      </p:sp>
      <p:sp>
        <p:nvSpPr>
          <p:cNvPr id="20" name="Text 17"/>
          <p:cNvSpPr/>
          <p:nvPr/>
        </p:nvSpPr>
        <p:spPr>
          <a:xfrm>
            <a:off x="6065490" y="2637861"/>
            <a:ext cx="8182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90" spc="6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 QUERY</a:t>
            </a:r>
            <a:endParaRPr lang="en-US" sz="990" dirty="0"/>
          </a:p>
        </p:txBody>
      </p:sp>
      <p:sp>
        <p:nvSpPr>
          <p:cNvPr id="21" name="Text 18"/>
          <p:cNvSpPr/>
          <p:nvPr/>
        </p:nvSpPr>
        <p:spPr>
          <a:xfrm>
            <a:off x="6065490" y="2866461"/>
            <a:ext cx="2590770" cy="2373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3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业务人员直接向数据提问</a:t>
            </a:r>
            <a:endParaRPr lang="en-US" sz="1140" dirty="0"/>
          </a:p>
        </p:txBody>
      </p:sp>
      <p:sp>
        <p:nvSpPr>
          <p:cNvPr id="22" name="Shape 19"/>
          <p:cNvSpPr/>
          <p:nvPr/>
        </p:nvSpPr>
        <p:spPr>
          <a:xfrm>
            <a:off x="10820370" y="3695365"/>
            <a:ext cx="2895630" cy="128016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018520" y="4003197"/>
            <a:ext cx="1501170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理解</a:t>
            </a:r>
            <a:endParaRPr lang="en-US" sz="1680" dirty="0"/>
          </a:p>
        </p:txBody>
      </p:sp>
      <p:sp>
        <p:nvSpPr>
          <p:cNvPr id="24" name="Text 21"/>
          <p:cNvSpPr/>
          <p:nvPr/>
        </p:nvSpPr>
        <p:spPr>
          <a:xfrm>
            <a:off x="11018520" y="4283781"/>
            <a:ext cx="667541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90" spc="6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</a:t>
            </a:r>
            <a:endParaRPr lang="en-US" sz="990" dirty="0"/>
          </a:p>
        </p:txBody>
      </p:sp>
      <p:sp>
        <p:nvSpPr>
          <p:cNvPr id="25" name="Text 22"/>
          <p:cNvSpPr/>
          <p:nvPr/>
        </p:nvSpPr>
        <p:spPr>
          <a:xfrm>
            <a:off x="11018520" y="4512381"/>
            <a:ext cx="2590770" cy="2373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3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表/字段/口径结构化管理</a:t>
            </a:r>
            <a:endParaRPr lang="en-US" sz="1140" dirty="0"/>
          </a:p>
        </p:txBody>
      </p:sp>
      <p:sp>
        <p:nvSpPr>
          <p:cNvPr id="26" name="Shape 23"/>
          <p:cNvSpPr/>
          <p:nvPr/>
        </p:nvSpPr>
        <p:spPr>
          <a:xfrm>
            <a:off x="5867430" y="5341285"/>
            <a:ext cx="2895630" cy="128016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65490" y="5649117"/>
            <a:ext cx="1790670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Text2SQL+安全</a:t>
            </a:r>
            <a:endParaRPr lang="en-US" sz="1680" dirty="0"/>
          </a:p>
        </p:txBody>
      </p:sp>
      <p:sp>
        <p:nvSpPr>
          <p:cNvPr id="28" name="Text 25"/>
          <p:cNvSpPr/>
          <p:nvPr/>
        </p:nvSpPr>
        <p:spPr>
          <a:xfrm>
            <a:off x="6065490" y="5929701"/>
            <a:ext cx="942632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90" spc="6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GEN+GUARD</a:t>
            </a:r>
            <a:endParaRPr lang="en-US" sz="990" dirty="0"/>
          </a:p>
        </p:txBody>
      </p:sp>
      <p:sp>
        <p:nvSpPr>
          <p:cNvPr id="29" name="Text 26"/>
          <p:cNvSpPr/>
          <p:nvPr/>
        </p:nvSpPr>
        <p:spPr>
          <a:xfrm>
            <a:off x="6065490" y="6158301"/>
            <a:ext cx="2590770" cy="2373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3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SQL + 独立安全校验层</a:t>
            </a:r>
            <a:endParaRPr lang="en-US" sz="1140" dirty="0"/>
          </a:p>
        </p:txBody>
      </p:sp>
      <p:sp>
        <p:nvSpPr>
          <p:cNvPr id="30" name="Shape 27"/>
          <p:cNvSpPr/>
          <p:nvPr/>
        </p:nvSpPr>
        <p:spPr>
          <a:xfrm>
            <a:off x="914400" y="3695365"/>
            <a:ext cx="2895630" cy="128016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12550" y="4003197"/>
            <a:ext cx="1573378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执行·修复·评测</a:t>
            </a:r>
            <a:endParaRPr lang="en-US" sz="1680" dirty="0"/>
          </a:p>
        </p:txBody>
      </p:sp>
      <p:sp>
        <p:nvSpPr>
          <p:cNvPr id="32" name="Text 29"/>
          <p:cNvSpPr/>
          <p:nvPr/>
        </p:nvSpPr>
        <p:spPr>
          <a:xfrm>
            <a:off x="1112550" y="4283781"/>
            <a:ext cx="476602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90" spc="6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endParaRPr lang="en-US" sz="990" dirty="0"/>
          </a:p>
        </p:txBody>
      </p:sp>
      <p:sp>
        <p:nvSpPr>
          <p:cNvPr id="33" name="Text 30"/>
          <p:cNvSpPr/>
          <p:nvPr/>
        </p:nvSpPr>
        <p:spPr>
          <a:xfrm>
            <a:off x="1112550" y="4512381"/>
            <a:ext cx="2590770" cy="2373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3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只读执行、有界 Repair、可评测</a:t>
            </a:r>
            <a:endParaRPr lang="en-US" sz="1140" dirty="0"/>
          </a:p>
        </p:txBody>
      </p:sp>
      <p:sp>
        <p:nvSpPr>
          <p:cNvPr id="34" name="Shape 31"/>
          <p:cNvSpPr/>
          <p:nvPr/>
        </p:nvSpPr>
        <p:spPr>
          <a:xfrm>
            <a:off x="914400" y="7124730"/>
            <a:ext cx="12801600" cy="4038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14400" y="7124730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14400" y="7254210"/>
            <a:ext cx="138847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四个能力支柱</a:t>
            </a:r>
            <a:endParaRPr lang="en-US" sz="1584" dirty="0"/>
          </a:p>
        </p:txBody>
      </p:sp>
      <p:sp>
        <p:nvSpPr>
          <p:cNvPr id="37" name="Text 34"/>
          <p:cNvSpPr/>
          <p:nvPr/>
        </p:nvSpPr>
        <p:spPr>
          <a:xfrm>
            <a:off x="2214677" y="7275424"/>
            <a:ext cx="3800886" cy="259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7"/>
              </a:lnSpc>
              <a:buNone/>
            </a:pPr>
            <a:r>
              <a:rPr lang="en-US" sz="126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 99.0% · Pass@1 90.0% · 0 Provider · 0 Timeout</a:t>
            </a:r>
            <a:endParaRPr lang="en-US" sz="1260" dirty="0"/>
          </a:p>
        </p:txBody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230" y="82296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435699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468481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系统总体架构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0879440" y="720090"/>
            <a:ext cx="329348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MIMO 是外部 LLM PROVIDER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365512"/>
            <a:ext cx="5207356" cy="537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外部调用 · 非系统内部层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6042081" y="1600200"/>
            <a:ext cx="317754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→ 前端 → API → Agent → 只读库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2425629" y="3040106"/>
            <a:ext cx="1955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056" dirty="0"/>
          </a:p>
        </p:txBody>
      </p:sp>
      <p:sp>
        <p:nvSpPr>
          <p:cNvPr id="12" name="Text 10"/>
          <p:cNvSpPr/>
          <p:nvPr/>
        </p:nvSpPr>
        <p:spPr>
          <a:xfrm>
            <a:off x="2509205" y="3040106"/>
            <a:ext cx="1955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6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887767"/>
            <a:ext cx="6468283" cy="4876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084271" y="3009656"/>
            <a:ext cx="1791492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-2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Mimo V2.5 Pro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875855" y="3078236"/>
            <a:ext cx="1200121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90" spc="68" kern="0" dirty="0">
                <a:solidFill>
                  <a:srgbClr val="FFFFFF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PROVIDER</a:t>
            </a:r>
            <a:endParaRPr lang="en-US" sz="990" dirty="0"/>
          </a:p>
        </p:txBody>
      </p:sp>
      <p:sp>
        <p:nvSpPr>
          <p:cNvPr id="16" name="Text 13"/>
          <p:cNvSpPr/>
          <p:nvPr/>
        </p:nvSpPr>
        <p:spPr>
          <a:xfrm>
            <a:off x="2069836" y="3573567"/>
            <a:ext cx="1955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056" dirty="0"/>
          </a:p>
        </p:txBody>
      </p:sp>
      <p:sp>
        <p:nvSpPr>
          <p:cNvPr id="17" name="Text 14"/>
          <p:cNvSpPr/>
          <p:nvPr/>
        </p:nvSpPr>
        <p:spPr>
          <a:xfrm>
            <a:off x="2153412" y="3573567"/>
            <a:ext cx="1955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6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421136"/>
            <a:ext cx="6468283" cy="48765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728570" y="3567349"/>
            <a:ext cx="54864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-22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3272638" y="3634466"/>
            <a:ext cx="476602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90" spc="68" kern="0" dirty="0">
                <a:solidFill>
                  <a:srgbClr val="FFFFFF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990" dirty="0"/>
          </a:p>
        </p:txBody>
      </p:sp>
      <p:sp>
        <p:nvSpPr>
          <p:cNvPr id="21" name="Text 17"/>
          <p:cNvSpPr/>
          <p:nvPr/>
        </p:nvSpPr>
        <p:spPr>
          <a:xfrm>
            <a:off x="1714134" y="4106936"/>
            <a:ext cx="1955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056" dirty="0"/>
          </a:p>
        </p:txBody>
      </p:sp>
      <p:sp>
        <p:nvSpPr>
          <p:cNvPr id="22" name="Text 18"/>
          <p:cNvSpPr/>
          <p:nvPr/>
        </p:nvSpPr>
        <p:spPr>
          <a:xfrm>
            <a:off x="1797710" y="4106936"/>
            <a:ext cx="1955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6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54506"/>
            <a:ext cx="6468283" cy="48765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372777" y="4076487"/>
            <a:ext cx="1992752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-2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ECharts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4365528" y="4145067"/>
            <a:ext cx="858479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90" spc="68" kern="0" dirty="0">
                <a:solidFill>
                  <a:srgbClr val="FFFFFF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990" dirty="0"/>
          </a:p>
        </p:txBody>
      </p:sp>
      <p:sp>
        <p:nvSpPr>
          <p:cNvPr id="26" name="Text 21"/>
          <p:cNvSpPr/>
          <p:nvPr/>
        </p:nvSpPr>
        <p:spPr>
          <a:xfrm>
            <a:off x="1358341" y="4640306"/>
            <a:ext cx="1955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056" dirty="0"/>
          </a:p>
        </p:txBody>
      </p:sp>
      <p:sp>
        <p:nvSpPr>
          <p:cNvPr id="27" name="Text 22"/>
          <p:cNvSpPr/>
          <p:nvPr/>
        </p:nvSpPr>
        <p:spPr>
          <a:xfrm>
            <a:off x="1441917" y="4640306"/>
            <a:ext cx="1955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6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87967"/>
            <a:ext cx="6468283" cy="48765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2017075" y="4609856"/>
            <a:ext cx="1072134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-2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3052633" y="4678436"/>
            <a:ext cx="381133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90" spc="68" kern="0" dirty="0">
                <a:solidFill>
                  <a:srgbClr val="FFFFFF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endParaRPr lang="en-US" sz="990" dirty="0"/>
          </a:p>
        </p:txBody>
      </p:sp>
      <p:sp>
        <p:nvSpPr>
          <p:cNvPr id="31" name="Text 25"/>
          <p:cNvSpPr/>
          <p:nvPr/>
        </p:nvSpPr>
        <p:spPr>
          <a:xfrm>
            <a:off x="1002548" y="5173767"/>
            <a:ext cx="1955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056" dirty="0"/>
          </a:p>
        </p:txBody>
      </p:sp>
      <p:sp>
        <p:nvSpPr>
          <p:cNvPr id="32" name="Text 26"/>
          <p:cNvSpPr/>
          <p:nvPr/>
        </p:nvSpPr>
        <p:spPr>
          <a:xfrm>
            <a:off x="1086124" y="5173767"/>
            <a:ext cx="1955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6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021336"/>
            <a:ext cx="6468283" cy="48765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661282" y="5143226"/>
            <a:ext cx="2183221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-22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Agent</a:t>
            </a:r>
            <a:endParaRPr lang="en-US" sz="1800" dirty="0"/>
          </a:p>
        </p:txBody>
      </p:sp>
      <p:sp>
        <p:nvSpPr>
          <p:cNvPr id="35" name="Text 28"/>
          <p:cNvSpPr/>
          <p:nvPr/>
        </p:nvSpPr>
        <p:spPr>
          <a:xfrm>
            <a:off x="3844503" y="5211806"/>
            <a:ext cx="1335824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90" spc="6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ORCHESTRATION</a:t>
            </a:r>
            <a:endParaRPr lang="en-US" sz="990" dirty="0"/>
          </a:p>
        </p:txBody>
      </p:sp>
      <p:sp>
        <p:nvSpPr>
          <p:cNvPr id="36" name="Text 29"/>
          <p:cNvSpPr/>
          <p:nvPr/>
        </p:nvSpPr>
        <p:spPr>
          <a:xfrm>
            <a:off x="646938" y="5707136"/>
            <a:ext cx="1955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056" dirty="0"/>
          </a:p>
        </p:txBody>
      </p:sp>
      <p:sp>
        <p:nvSpPr>
          <p:cNvPr id="37" name="Text 30"/>
          <p:cNvSpPr/>
          <p:nvPr/>
        </p:nvSpPr>
        <p:spPr>
          <a:xfrm>
            <a:off x="730514" y="5707136"/>
            <a:ext cx="1955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6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554706"/>
            <a:ext cx="6468283" cy="48765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305489" y="5701010"/>
            <a:ext cx="1437894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-22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只读</a:t>
            </a:r>
            <a:endParaRPr lang="en-US" sz="1800" dirty="0"/>
          </a:p>
        </p:txBody>
      </p:sp>
      <p:sp>
        <p:nvSpPr>
          <p:cNvPr id="40" name="Text 32"/>
          <p:cNvSpPr/>
          <p:nvPr/>
        </p:nvSpPr>
        <p:spPr>
          <a:xfrm>
            <a:off x="2710007" y="5768127"/>
            <a:ext cx="1229039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90" spc="6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ECOMMERCE.DB</a:t>
            </a:r>
            <a:endParaRPr lang="en-US" sz="990" dirty="0"/>
          </a:p>
        </p:txBody>
      </p:sp>
      <p:sp>
        <p:nvSpPr>
          <p:cNvPr id="41" name="Shape 33"/>
          <p:cNvSpPr/>
          <p:nvPr/>
        </p:nvSpPr>
        <p:spPr>
          <a:xfrm>
            <a:off x="7778984" y="1912285"/>
            <a:ext cx="5937016" cy="510573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7778984" y="1912285"/>
            <a:ext cx="11593" cy="5105735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8091343" y="2444740"/>
            <a:ext cx="5624657" cy="65187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8091343" y="3085023"/>
            <a:ext cx="5624657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8091343" y="2619939"/>
            <a:ext cx="106710" cy="106710"/>
          </a:xfrm>
          <a:prstGeom prst="rect">
            <a:avLst/>
          </a:prstGeom>
          <a:solidFill>
            <a:srgbClr val="6E85FF"/>
          </a:solidFill>
          <a:ln w="19050">
            <a:solidFill>
              <a:srgbClr val="6E85FF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8319943" y="2551359"/>
            <a:ext cx="141732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Mimo V2.5 Pro</a:t>
            </a:r>
            <a:endParaRPr lang="en-US" sz="1440" dirty="0"/>
          </a:p>
        </p:txBody>
      </p:sp>
      <p:sp>
        <p:nvSpPr>
          <p:cNvPr id="47" name="Text 39"/>
          <p:cNvSpPr/>
          <p:nvPr/>
        </p:nvSpPr>
        <p:spPr>
          <a:xfrm>
            <a:off x="9722084" y="2589489"/>
            <a:ext cx="1127429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24" spc="63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PROVIDER</a:t>
            </a:r>
            <a:endParaRPr lang="en-US" sz="924" dirty="0"/>
          </a:p>
        </p:txBody>
      </p:sp>
      <p:sp>
        <p:nvSpPr>
          <p:cNvPr id="48" name="Text 40"/>
          <p:cNvSpPr/>
          <p:nvPr/>
        </p:nvSpPr>
        <p:spPr>
          <a:xfrm>
            <a:off x="8319943" y="2772369"/>
            <a:ext cx="2508733" cy="2373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3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OpenAI-compatible · 外部推理服务</a:t>
            </a:r>
            <a:endParaRPr lang="en-US" sz="1140" dirty="0"/>
          </a:p>
        </p:txBody>
      </p:sp>
      <p:sp>
        <p:nvSpPr>
          <p:cNvPr id="49" name="Shape 41"/>
          <p:cNvSpPr/>
          <p:nvPr/>
        </p:nvSpPr>
        <p:spPr>
          <a:xfrm>
            <a:off x="8091343" y="3096616"/>
            <a:ext cx="5624657" cy="7204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8091343" y="3805478"/>
            <a:ext cx="5624657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8091343" y="3271815"/>
            <a:ext cx="106710" cy="106710"/>
          </a:xfrm>
          <a:prstGeom prst="rect">
            <a:avLst/>
          </a:prstGeom>
          <a:solidFill>
            <a:srgbClr val="6E85FF">
              <a:alpha val="84000"/>
            </a:srgbClr>
          </a:solidFill>
          <a:ln w="19050">
            <a:solidFill>
              <a:srgbClr val="6E85FF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8319943" y="3256636"/>
            <a:ext cx="460858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</a:t>
            </a:r>
            <a:endParaRPr lang="en-US" sz="1440" dirty="0"/>
          </a:p>
        </p:txBody>
      </p:sp>
      <p:sp>
        <p:nvSpPr>
          <p:cNvPr id="53" name="Text 45"/>
          <p:cNvSpPr/>
          <p:nvPr/>
        </p:nvSpPr>
        <p:spPr>
          <a:xfrm>
            <a:off x="8761964" y="3294675"/>
            <a:ext cx="452144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24" spc="63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924" dirty="0"/>
          </a:p>
        </p:txBody>
      </p:sp>
      <p:sp>
        <p:nvSpPr>
          <p:cNvPr id="54" name="Text 46"/>
          <p:cNvSpPr/>
          <p:nvPr/>
        </p:nvSpPr>
        <p:spPr>
          <a:xfrm>
            <a:off x="8319943" y="3492825"/>
            <a:ext cx="1671904" cy="2373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3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自然语言提问 / 结果消费</a:t>
            </a:r>
            <a:endParaRPr lang="en-US" sz="1140" dirty="0"/>
          </a:p>
        </p:txBody>
      </p:sp>
      <p:sp>
        <p:nvSpPr>
          <p:cNvPr id="55" name="Shape 47"/>
          <p:cNvSpPr/>
          <p:nvPr/>
        </p:nvSpPr>
        <p:spPr>
          <a:xfrm>
            <a:off x="8091343" y="3816980"/>
            <a:ext cx="5624657" cy="65187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6" name="Shape 48"/>
          <p:cNvSpPr/>
          <p:nvPr/>
        </p:nvSpPr>
        <p:spPr>
          <a:xfrm>
            <a:off x="8091343" y="4457263"/>
            <a:ext cx="5624657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8091343" y="3992270"/>
            <a:ext cx="106710" cy="106710"/>
          </a:xfrm>
          <a:prstGeom prst="rect">
            <a:avLst/>
          </a:prstGeom>
          <a:solidFill>
            <a:srgbClr val="6E85FF">
              <a:alpha val="69000"/>
            </a:srgbClr>
          </a:solidFill>
          <a:ln w="19050">
            <a:solidFill>
              <a:srgbClr val="6E85FF"/>
            </a:solidFill>
            <a:prstDash val="solid"/>
          </a:ln>
        </p:spPr>
      </p:sp>
      <p:sp>
        <p:nvSpPr>
          <p:cNvPr id="58" name="Text 50"/>
          <p:cNvSpPr/>
          <p:nvPr/>
        </p:nvSpPr>
        <p:spPr>
          <a:xfrm>
            <a:off x="8319943" y="3923690"/>
            <a:ext cx="158493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ECharts</a:t>
            </a:r>
            <a:endParaRPr lang="en-US" sz="1440" dirty="0"/>
          </a:p>
        </p:txBody>
      </p:sp>
      <p:sp>
        <p:nvSpPr>
          <p:cNvPr id="59" name="Text 51"/>
          <p:cNvSpPr/>
          <p:nvPr/>
        </p:nvSpPr>
        <p:spPr>
          <a:xfrm>
            <a:off x="9889693" y="3961821"/>
            <a:ext cx="808562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24" spc="63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924" dirty="0"/>
          </a:p>
        </p:txBody>
      </p:sp>
      <p:sp>
        <p:nvSpPr>
          <p:cNvPr id="60" name="Text 52"/>
          <p:cNvSpPr/>
          <p:nvPr/>
        </p:nvSpPr>
        <p:spPr>
          <a:xfrm>
            <a:off x="8319943" y="4144701"/>
            <a:ext cx="2261128" cy="2373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3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提问 · 结果 · Trace · 图表</a:t>
            </a:r>
            <a:endParaRPr lang="en-US" sz="1140" dirty="0"/>
          </a:p>
        </p:txBody>
      </p:sp>
      <p:sp>
        <p:nvSpPr>
          <p:cNvPr id="61" name="Shape 53"/>
          <p:cNvSpPr/>
          <p:nvPr/>
        </p:nvSpPr>
        <p:spPr>
          <a:xfrm>
            <a:off x="8091343" y="4468856"/>
            <a:ext cx="5624657" cy="65187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2" name="Shape 54"/>
          <p:cNvSpPr/>
          <p:nvPr/>
        </p:nvSpPr>
        <p:spPr>
          <a:xfrm>
            <a:off x="8091343" y="5109138"/>
            <a:ext cx="5624657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3" name="Shape 55"/>
          <p:cNvSpPr/>
          <p:nvPr/>
        </p:nvSpPr>
        <p:spPr>
          <a:xfrm>
            <a:off x="8091343" y="4644146"/>
            <a:ext cx="106710" cy="106710"/>
          </a:xfrm>
          <a:prstGeom prst="rect">
            <a:avLst/>
          </a:prstGeom>
          <a:solidFill>
            <a:srgbClr val="6E85FF">
              <a:alpha val="53000"/>
            </a:srgbClr>
          </a:solidFill>
          <a:ln w="19050">
            <a:solidFill>
              <a:srgbClr val="6E85FF"/>
            </a:solidFill>
            <a:prstDash val="solid"/>
          </a:ln>
        </p:spPr>
      </p:sp>
      <p:sp>
        <p:nvSpPr>
          <p:cNvPr id="64" name="Text 56"/>
          <p:cNvSpPr/>
          <p:nvPr/>
        </p:nvSpPr>
        <p:spPr>
          <a:xfrm>
            <a:off x="8319943" y="4575566"/>
            <a:ext cx="879653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440" dirty="0"/>
          </a:p>
        </p:txBody>
      </p:sp>
      <p:sp>
        <p:nvSpPr>
          <p:cNvPr id="65" name="Text 57"/>
          <p:cNvSpPr/>
          <p:nvPr/>
        </p:nvSpPr>
        <p:spPr>
          <a:xfrm>
            <a:off x="9120043" y="4613697"/>
            <a:ext cx="363040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24" spc="63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endParaRPr lang="en-US" sz="924" dirty="0"/>
          </a:p>
        </p:txBody>
      </p:sp>
      <p:sp>
        <p:nvSpPr>
          <p:cNvPr id="66" name="Text 58"/>
          <p:cNvSpPr/>
          <p:nvPr/>
        </p:nvSpPr>
        <p:spPr>
          <a:xfrm>
            <a:off x="8319943" y="4796577"/>
            <a:ext cx="1977390" cy="2373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3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 路由 · /docs 自动文档</a:t>
            </a:r>
            <a:endParaRPr lang="en-US" sz="1140" dirty="0"/>
          </a:p>
        </p:txBody>
      </p:sp>
      <p:sp>
        <p:nvSpPr>
          <p:cNvPr id="67" name="Shape 59"/>
          <p:cNvSpPr/>
          <p:nvPr/>
        </p:nvSpPr>
        <p:spPr>
          <a:xfrm>
            <a:off x="8091343" y="5120731"/>
            <a:ext cx="5624657" cy="65187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8" name="Shape 60"/>
          <p:cNvSpPr/>
          <p:nvPr/>
        </p:nvSpPr>
        <p:spPr>
          <a:xfrm>
            <a:off x="8091343" y="5761014"/>
            <a:ext cx="5624657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9" name="Shape 61"/>
          <p:cNvSpPr/>
          <p:nvPr/>
        </p:nvSpPr>
        <p:spPr>
          <a:xfrm>
            <a:off x="8091343" y="5296022"/>
            <a:ext cx="106710" cy="106710"/>
          </a:xfrm>
          <a:prstGeom prst="rect">
            <a:avLst/>
          </a:prstGeom>
          <a:solidFill>
            <a:srgbClr val="6E85FF">
              <a:alpha val="38000"/>
            </a:srgbClr>
          </a:solidFill>
          <a:ln w="19050">
            <a:solidFill>
              <a:srgbClr val="6E85FF"/>
            </a:solidFill>
            <a:prstDash val="solid"/>
          </a:ln>
        </p:spPr>
      </p:sp>
      <p:sp>
        <p:nvSpPr>
          <p:cNvPr id="70" name="Text 62"/>
          <p:cNvSpPr/>
          <p:nvPr/>
        </p:nvSpPr>
        <p:spPr>
          <a:xfrm>
            <a:off x="8319943" y="5227442"/>
            <a:ext cx="17069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Agent</a:t>
            </a:r>
            <a:endParaRPr lang="en-US" sz="1440" dirty="0"/>
          </a:p>
        </p:txBody>
      </p:sp>
      <p:sp>
        <p:nvSpPr>
          <p:cNvPr id="71" name="Text 63"/>
          <p:cNvSpPr/>
          <p:nvPr/>
        </p:nvSpPr>
        <p:spPr>
          <a:xfrm>
            <a:off x="10011583" y="5265572"/>
            <a:ext cx="1254084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24" spc="63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ORCHESTRATION</a:t>
            </a:r>
            <a:endParaRPr lang="en-US" sz="924" dirty="0"/>
          </a:p>
        </p:txBody>
      </p:sp>
      <p:sp>
        <p:nvSpPr>
          <p:cNvPr id="72" name="Text 64"/>
          <p:cNvSpPr/>
          <p:nvPr/>
        </p:nvSpPr>
        <p:spPr>
          <a:xfrm>
            <a:off x="8319943" y="5448452"/>
            <a:ext cx="3366546" cy="237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3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→ Few-shot → 生成 → 安全 → 执行 → 修复</a:t>
            </a:r>
            <a:endParaRPr lang="en-US" sz="1140" dirty="0"/>
          </a:p>
        </p:txBody>
      </p:sp>
      <p:sp>
        <p:nvSpPr>
          <p:cNvPr id="73" name="Shape 65"/>
          <p:cNvSpPr/>
          <p:nvPr/>
        </p:nvSpPr>
        <p:spPr>
          <a:xfrm>
            <a:off x="8091343" y="5947898"/>
            <a:ext cx="106710" cy="106710"/>
          </a:xfrm>
          <a:prstGeom prst="rect">
            <a:avLst/>
          </a:prstGeom>
          <a:solidFill>
            <a:srgbClr val="6E85FF">
              <a:alpha val="25000"/>
            </a:srgbClr>
          </a:solidFill>
          <a:ln w="19050">
            <a:solidFill>
              <a:srgbClr val="6E85FF"/>
            </a:solidFill>
            <a:prstDash val="solid"/>
          </a:ln>
        </p:spPr>
      </p:sp>
      <p:sp>
        <p:nvSpPr>
          <p:cNvPr id="74" name="Text 66"/>
          <p:cNvSpPr/>
          <p:nvPr/>
        </p:nvSpPr>
        <p:spPr>
          <a:xfrm>
            <a:off x="8319943" y="5932627"/>
            <a:ext cx="1172261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只读</a:t>
            </a:r>
            <a:endParaRPr lang="en-US" sz="1440" dirty="0"/>
          </a:p>
        </p:txBody>
      </p:sp>
      <p:sp>
        <p:nvSpPr>
          <p:cNvPr id="75" name="Text 67"/>
          <p:cNvSpPr/>
          <p:nvPr/>
        </p:nvSpPr>
        <p:spPr>
          <a:xfrm>
            <a:off x="9424904" y="5970758"/>
            <a:ext cx="1154419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24" spc="63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ECOMMERCE.DB</a:t>
            </a:r>
            <a:endParaRPr lang="en-US" sz="924" dirty="0"/>
          </a:p>
        </p:txBody>
      </p:sp>
      <p:sp>
        <p:nvSpPr>
          <p:cNvPr id="76" name="Text 68"/>
          <p:cNvSpPr/>
          <p:nvPr/>
        </p:nvSpPr>
        <p:spPr>
          <a:xfrm>
            <a:off x="8319943" y="6168908"/>
            <a:ext cx="2096171" cy="2373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3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mode=ro · query_only=ON</a:t>
            </a:r>
            <a:endParaRPr lang="en-US" sz="1140" dirty="0"/>
          </a:p>
        </p:txBody>
      </p:sp>
      <p:sp>
        <p:nvSpPr>
          <p:cNvPr id="77" name="Shape 69"/>
          <p:cNvSpPr/>
          <p:nvPr/>
        </p:nvSpPr>
        <p:spPr>
          <a:xfrm>
            <a:off x="914400" y="7124730"/>
            <a:ext cx="12801600" cy="4038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78" name="Shape 70"/>
          <p:cNvSpPr/>
          <p:nvPr/>
        </p:nvSpPr>
        <p:spPr>
          <a:xfrm>
            <a:off x="914400" y="7124730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79" name="Text 71"/>
          <p:cNvSpPr/>
          <p:nvPr/>
        </p:nvSpPr>
        <p:spPr>
          <a:xfrm>
            <a:off x="914400" y="7254210"/>
            <a:ext cx="117134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实际技术栈</a:t>
            </a:r>
            <a:endParaRPr lang="en-US" sz="1584" dirty="0"/>
          </a:p>
        </p:txBody>
      </p:sp>
      <p:sp>
        <p:nvSpPr>
          <p:cNvPr id="80" name="Text 72"/>
          <p:cNvSpPr/>
          <p:nvPr/>
        </p:nvSpPr>
        <p:spPr>
          <a:xfrm>
            <a:off x="2020824" y="7275424"/>
            <a:ext cx="4006626" cy="259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7"/>
              </a:lnSpc>
              <a:buNone/>
            </a:pPr>
            <a:r>
              <a:rPr lang="en-US" sz="126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 · React 19 · Vite · ECharts 6 · LangGraph 1.2</a:t>
            </a:r>
            <a:endParaRPr lang="en-US" sz="1260" dirty="0"/>
          </a:p>
        </p:txBody>
      </p:sp>
      <p:pic>
        <p:nvPicPr>
          <p:cNvPr id="8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34970" y="83823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813530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950369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核心流程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1493917" y="720090"/>
            <a:ext cx="263447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 有界状态图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365512"/>
            <a:ext cx="1952884" cy="537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用户问题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2928183" y="1600200"/>
            <a:ext cx="4548226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repair_count≤1 · execute_count≤2 · 绝不无限循环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914400" y="2049445"/>
            <a:ext cx="2474915" cy="8534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049445"/>
            <a:ext cx="2474915" cy="34779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6290" y="2224644"/>
            <a:ext cx="38322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阶段</a:t>
            </a:r>
            <a:endParaRPr lang="en-US" sz="1056" dirty="0"/>
          </a:p>
        </p:txBody>
      </p:sp>
      <p:sp>
        <p:nvSpPr>
          <p:cNvPr id="14" name="Text 12"/>
          <p:cNvSpPr/>
          <p:nvPr/>
        </p:nvSpPr>
        <p:spPr>
          <a:xfrm>
            <a:off x="1036290" y="2407524"/>
            <a:ext cx="1955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6" dirty="0"/>
          </a:p>
        </p:txBody>
      </p:sp>
      <p:sp>
        <p:nvSpPr>
          <p:cNvPr id="15" name="Text 13"/>
          <p:cNvSpPr/>
          <p:nvPr/>
        </p:nvSpPr>
        <p:spPr>
          <a:xfrm>
            <a:off x="1432956" y="2163745"/>
            <a:ext cx="109728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32956" y="2407524"/>
            <a:ext cx="1010412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36290" y="2651394"/>
            <a:ext cx="452144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24" spc="63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</a:t>
            </a:r>
            <a:endParaRPr lang="en-US" sz="924" dirty="0"/>
          </a:p>
        </p:txBody>
      </p:sp>
      <p:sp>
        <p:nvSpPr>
          <p:cNvPr id="18" name="Shape 16"/>
          <p:cNvSpPr/>
          <p:nvPr/>
        </p:nvSpPr>
        <p:spPr>
          <a:xfrm>
            <a:off x="3496026" y="2049445"/>
            <a:ext cx="2474915" cy="8534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96026" y="2049445"/>
            <a:ext cx="2474915" cy="34779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7915" y="2293224"/>
            <a:ext cx="38322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阶段</a:t>
            </a:r>
            <a:endParaRPr lang="en-US" sz="1056" dirty="0"/>
          </a:p>
        </p:txBody>
      </p:sp>
      <p:sp>
        <p:nvSpPr>
          <p:cNvPr id="21" name="Text 19"/>
          <p:cNvSpPr/>
          <p:nvPr/>
        </p:nvSpPr>
        <p:spPr>
          <a:xfrm>
            <a:off x="3876416" y="2293224"/>
            <a:ext cx="1955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6" dirty="0"/>
          </a:p>
        </p:txBody>
      </p:sp>
      <p:sp>
        <p:nvSpPr>
          <p:cNvPr id="22" name="Text 20"/>
          <p:cNvSpPr/>
          <p:nvPr/>
        </p:nvSpPr>
        <p:spPr>
          <a:xfrm>
            <a:off x="4036253" y="2233788"/>
            <a:ext cx="171450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Few-shot 检索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617915" y="2498964"/>
            <a:ext cx="808562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24" spc="63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</a:t>
            </a:r>
            <a:endParaRPr lang="en-US" sz="924" dirty="0"/>
          </a:p>
        </p:txBody>
      </p:sp>
      <p:sp>
        <p:nvSpPr>
          <p:cNvPr id="24" name="Shape 22"/>
          <p:cNvSpPr/>
          <p:nvPr/>
        </p:nvSpPr>
        <p:spPr>
          <a:xfrm>
            <a:off x="6077651" y="2049445"/>
            <a:ext cx="2474915" cy="8534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77651" y="2049445"/>
            <a:ext cx="2474915" cy="34779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9541" y="2293224"/>
            <a:ext cx="38322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阶段</a:t>
            </a:r>
            <a:endParaRPr lang="en-US" sz="1056" dirty="0"/>
          </a:p>
        </p:txBody>
      </p:sp>
      <p:sp>
        <p:nvSpPr>
          <p:cNvPr id="27" name="Text 25"/>
          <p:cNvSpPr/>
          <p:nvPr/>
        </p:nvSpPr>
        <p:spPr>
          <a:xfrm>
            <a:off x="6458041" y="2293224"/>
            <a:ext cx="1955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6" dirty="0"/>
          </a:p>
        </p:txBody>
      </p:sp>
      <p:sp>
        <p:nvSpPr>
          <p:cNvPr id="28" name="Text 26"/>
          <p:cNvSpPr/>
          <p:nvPr/>
        </p:nvSpPr>
        <p:spPr>
          <a:xfrm>
            <a:off x="6617879" y="2233788"/>
            <a:ext cx="109728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 生成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199541" y="2498964"/>
            <a:ext cx="808562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24" spc="63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</a:t>
            </a:r>
            <a:endParaRPr lang="en-US" sz="924" dirty="0"/>
          </a:p>
        </p:txBody>
      </p:sp>
      <p:sp>
        <p:nvSpPr>
          <p:cNvPr id="30" name="Shape 28"/>
          <p:cNvSpPr/>
          <p:nvPr/>
        </p:nvSpPr>
        <p:spPr>
          <a:xfrm>
            <a:off x="8659277" y="2049445"/>
            <a:ext cx="2474915" cy="8534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59277" y="2049445"/>
            <a:ext cx="2474915" cy="34779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81258" y="2293224"/>
            <a:ext cx="38322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阶段</a:t>
            </a:r>
            <a:endParaRPr lang="en-US" sz="1056" dirty="0"/>
          </a:p>
        </p:txBody>
      </p:sp>
      <p:sp>
        <p:nvSpPr>
          <p:cNvPr id="33" name="Text 31"/>
          <p:cNvSpPr/>
          <p:nvPr/>
        </p:nvSpPr>
        <p:spPr>
          <a:xfrm>
            <a:off x="9039667" y="2293224"/>
            <a:ext cx="1955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6" dirty="0"/>
          </a:p>
        </p:txBody>
      </p:sp>
      <p:sp>
        <p:nvSpPr>
          <p:cNvPr id="34" name="Text 32"/>
          <p:cNvSpPr/>
          <p:nvPr/>
        </p:nvSpPr>
        <p:spPr>
          <a:xfrm>
            <a:off x="9199504" y="2233788"/>
            <a:ext cx="1396746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Safety 校验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781258" y="2498964"/>
            <a:ext cx="630353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24" spc="63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</a:t>
            </a:r>
            <a:endParaRPr lang="en-US" sz="924" dirty="0"/>
          </a:p>
        </p:txBody>
      </p:sp>
      <p:sp>
        <p:nvSpPr>
          <p:cNvPr id="36" name="Shape 34"/>
          <p:cNvSpPr/>
          <p:nvPr/>
        </p:nvSpPr>
        <p:spPr>
          <a:xfrm>
            <a:off x="11240902" y="2049445"/>
            <a:ext cx="2474915" cy="8534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240902" y="2049445"/>
            <a:ext cx="2474915" cy="34779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362883" y="2293224"/>
            <a:ext cx="38322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阶段</a:t>
            </a:r>
            <a:endParaRPr lang="en-US" sz="1056" dirty="0"/>
          </a:p>
        </p:txBody>
      </p:sp>
      <p:sp>
        <p:nvSpPr>
          <p:cNvPr id="39" name="Text 37"/>
          <p:cNvSpPr/>
          <p:nvPr/>
        </p:nvSpPr>
        <p:spPr>
          <a:xfrm>
            <a:off x="11621292" y="2293224"/>
            <a:ext cx="1955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6" dirty="0"/>
          </a:p>
        </p:txBody>
      </p:sp>
      <p:sp>
        <p:nvSpPr>
          <p:cNvPr id="40" name="Text 38"/>
          <p:cNvSpPr/>
          <p:nvPr/>
        </p:nvSpPr>
        <p:spPr>
          <a:xfrm>
            <a:off x="11781130" y="2233788"/>
            <a:ext cx="1595628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 + Repair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1362883" y="2498964"/>
            <a:ext cx="719458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24" spc="63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endParaRPr lang="en-US" sz="924" dirty="0"/>
          </a:p>
        </p:txBody>
      </p:sp>
      <p:sp>
        <p:nvSpPr>
          <p:cNvPr id="42" name="Text 40"/>
          <p:cNvSpPr/>
          <p:nvPr/>
        </p:nvSpPr>
        <p:spPr>
          <a:xfrm>
            <a:off x="914400" y="3009565"/>
            <a:ext cx="567162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8" spc="5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执行行为</a:t>
            </a:r>
            <a:endParaRPr lang="en-US" sz="858" dirty="0"/>
          </a:p>
        </p:txBody>
      </p:sp>
      <p:sp>
        <p:nvSpPr>
          <p:cNvPr id="43" name="Text 41"/>
          <p:cNvSpPr/>
          <p:nvPr/>
        </p:nvSpPr>
        <p:spPr>
          <a:xfrm>
            <a:off x="914400" y="3200034"/>
            <a:ext cx="2566355" cy="2300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识别表/字段/置信度</a:t>
            </a:r>
            <a:endParaRPr lang="en-US" sz="1140" dirty="0"/>
          </a:p>
        </p:txBody>
      </p:sp>
      <p:sp>
        <p:nvSpPr>
          <p:cNvPr id="44" name="Text 42"/>
          <p:cNvSpPr/>
          <p:nvPr/>
        </p:nvSpPr>
        <p:spPr>
          <a:xfrm>
            <a:off x="3496026" y="3009565"/>
            <a:ext cx="567162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8" spc="5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执行行为</a:t>
            </a:r>
            <a:endParaRPr lang="en-US" sz="858" dirty="0"/>
          </a:p>
        </p:txBody>
      </p:sp>
      <p:sp>
        <p:nvSpPr>
          <p:cNvPr id="45" name="Text 43"/>
          <p:cNvSpPr/>
          <p:nvPr/>
        </p:nvSpPr>
        <p:spPr>
          <a:xfrm>
            <a:off x="3496026" y="3200034"/>
            <a:ext cx="2566355" cy="2300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规则型 Top-K 示例</a:t>
            </a:r>
            <a:endParaRPr lang="en-US" sz="1140" dirty="0"/>
          </a:p>
        </p:txBody>
      </p:sp>
      <p:sp>
        <p:nvSpPr>
          <p:cNvPr id="46" name="Text 44"/>
          <p:cNvSpPr/>
          <p:nvPr/>
        </p:nvSpPr>
        <p:spPr>
          <a:xfrm>
            <a:off x="6077651" y="3009565"/>
            <a:ext cx="567162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8" spc="5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执行行为</a:t>
            </a:r>
            <a:endParaRPr lang="en-US" sz="858" dirty="0"/>
          </a:p>
        </p:txBody>
      </p:sp>
      <p:sp>
        <p:nvSpPr>
          <p:cNvPr id="47" name="Text 45"/>
          <p:cNvSpPr/>
          <p:nvPr/>
        </p:nvSpPr>
        <p:spPr>
          <a:xfrm>
            <a:off x="6077651" y="3200034"/>
            <a:ext cx="2566355" cy="2300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生成候选 SQL</a:t>
            </a:r>
            <a:endParaRPr lang="en-US" sz="1140" dirty="0"/>
          </a:p>
        </p:txBody>
      </p:sp>
      <p:sp>
        <p:nvSpPr>
          <p:cNvPr id="48" name="Text 46"/>
          <p:cNvSpPr/>
          <p:nvPr/>
        </p:nvSpPr>
        <p:spPr>
          <a:xfrm>
            <a:off x="8659277" y="3009565"/>
            <a:ext cx="567162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8" spc="5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执行行为</a:t>
            </a:r>
            <a:endParaRPr lang="en-US" sz="858" dirty="0"/>
          </a:p>
        </p:txBody>
      </p:sp>
      <p:sp>
        <p:nvSpPr>
          <p:cNvPr id="49" name="Text 47"/>
          <p:cNvSpPr/>
          <p:nvPr/>
        </p:nvSpPr>
        <p:spPr>
          <a:xfrm>
            <a:off x="8659277" y="3200034"/>
            <a:ext cx="2566355" cy="2300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独立校验层把关</a:t>
            </a:r>
            <a:endParaRPr lang="en-US" sz="1140" dirty="0"/>
          </a:p>
        </p:txBody>
      </p:sp>
      <p:sp>
        <p:nvSpPr>
          <p:cNvPr id="50" name="Text 48"/>
          <p:cNvSpPr/>
          <p:nvPr/>
        </p:nvSpPr>
        <p:spPr>
          <a:xfrm>
            <a:off x="11240902" y="3009565"/>
            <a:ext cx="567162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8" spc="5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执行行为</a:t>
            </a:r>
            <a:endParaRPr lang="en-US" sz="858" dirty="0"/>
          </a:p>
        </p:txBody>
      </p:sp>
      <p:sp>
        <p:nvSpPr>
          <p:cNvPr id="51" name="Text 49"/>
          <p:cNvSpPr/>
          <p:nvPr/>
        </p:nvSpPr>
        <p:spPr>
          <a:xfrm>
            <a:off x="11240902" y="3200034"/>
            <a:ext cx="2566355" cy="2300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 → Repair≤1 → Re-check → 重执</a:t>
            </a:r>
            <a:endParaRPr lang="en-US" sz="1140" dirty="0"/>
          </a:p>
        </p:txBody>
      </p:sp>
      <p:sp>
        <p:nvSpPr>
          <p:cNvPr id="52" name="Text 50"/>
          <p:cNvSpPr/>
          <p:nvPr/>
        </p:nvSpPr>
        <p:spPr>
          <a:xfrm>
            <a:off x="914400" y="3555096"/>
            <a:ext cx="2335210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8" spc="5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全链路 TRACE · 状态/失败/SKIP/耗时</a:t>
            </a:r>
            <a:endParaRPr lang="en-US" sz="858" dirty="0"/>
          </a:p>
        </p:txBody>
      </p:sp>
      <p:pic>
        <p:nvPicPr>
          <p:cNvPr id="5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768425"/>
            <a:ext cx="12801600" cy="3054187"/>
          </a:xfrm>
          <a:prstGeom prst="rect">
            <a:avLst/>
          </a:prstGeom>
        </p:spPr>
      </p:pic>
      <p:sp>
        <p:nvSpPr>
          <p:cNvPr id="54" name="Text 51"/>
          <p:cNvSpPr/>
          <p:nvPr/>
        </p:nvSpPr>
        <p:spPr>
          <a:xfrm>
            <a:off x="2049170" y="3958438"/>
            <a:ext cx="417412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理解</a:t>
            </a:r>
            <a:endParaRPr lang="en-US" sz="1188" dirty="0"/>
          </a:p>
        </p:txBody>
      </p:sp>
      <p:sp>
        <p:nvSpPr>
          <p:cNvPr id="55" name="Shape 52"/>
          <p:cNvSpPr/>
          <p:nvPr/>
        </p:nvSpPr>
        <p:spPr>
          <a:xfrm>
            <a:off x="2125980" y="4225168"/>
            <a:ext cx="137160" cy="137160"/>
          </a:xfrm>
          <a:prstGeom prst="ellipse">
            <a:avLst/>
          </a:prstGeom>
          <a:solidFill>
            <a:srgbClr val="161513"/>
          </a:solidFill>
          <a:ln w="28575">
            <a:solidFill>
              <a:srgbClr val="6E85FF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609490" y="4056187"/>
            <a:ext cx="417412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辅助</a:t>
            </a:r>
            <a:endParaRPr lang="en-US" sz="1188" dirty="0"/>
          </a:p>
        </p:txBody>
      </p:sp>
      <p:sp>
        <p:nvSpPr>
          <p:cNvPr id="57" name="Shape 54"/>
          <p:cNvSpPr/>
          <p:nvPr/>
        </p:nvSpPr>
        <p:spPr>
          <a:xfrm>
            <a:off x="4686300" y="4322917"/>
            <a:ext cx="137160" cy="137160"/>
          </a:xfrm>
          <a:prstGeom prst="ellipse">
            <a:avLst/>
          </a:prstGeom>
          <a:solidFill>
            <a:srgbClr val="161513"/>
          </a:solidFill>
          <a:ln w="28575">
            <a:solidFill>
              <a:srgbClr val="6E85FF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169810" y="4056187"/>
            <a:ext cx="417412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生成</a:t>
            </a:r>
            <a:endParaRPr lang="en-US" sz="1188" dirty="0"/>
          </a:p>
        </p:txBody>
      </p:sp>
      <p:sp>
        <p:nvSpPr>
          <p:cNvPr id="59" name="Shape 56"/>
          <p:cNvSpPr/>
          <p:nvPr/>
        </p:nvSpPr>
        <p:spPr>
          <a:xfrm>
            <a:off x="7246620" y="4322917"/>
            <a:ext cx="137160" cy="137160"/>
          </a:xfrm>
          <a:prstGeom prst="ellipse">
            <a:avLst/>
          </a:prstGeom>
          <a:solidFill>
            <a:srgbClr val="161513"/>
          </a:solidFill>
          <a:ln w="28575">
            <a:solidFill>
              <a:srgbClr val="6E85FF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9730130" y="4056187"/>
            <a:ext cx="417412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把关</a:t>
            </a:r>
            <a:endParaRPr lang="en-US" sz="1188" dirty="0"/>
          </a:p>
        </p:txBody>
      </p:sp>
      <p:sp>
        <p:nvSpPr>
          <p:cNvPr id="61" name="Shape 58"/>
          <p:cNvSpPr/>
          <p:nvPr/>
        </p:nvSpPr>
        <p:spPr>
          <a:xfrm>
            <a:off x="9806940" y="4322917"/>
            <a:ext cx="137160" cy="137160"/>
          </a:xfrm>
          <a:prstGeom prst="ellipse">
            <a:avLst/>
          </a:prstGeom>
          <a:solidFill>
            <a:srgbClr val="161513"/>
          </a:solidFill>
          <a:ln w="28575">
            <a:solidFill>
              <a:srgbClr val="6E85FF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12290359" y="4837999"/>
            <a:ext cx="417412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纠错</a:t>
            </a:r>
            <a:endParaRPr lang="en-US" sz="1188" dirty="0"/>
          </a:p>
        </p:txBody>
      </p:sp>
      <p:sp>
        <p:nvSpPr>
          <p:cNvPr id="63" name="Shape 60"/>
          <p:cNvSpPr/>
          <p:nvPr/>
        </p:nvSpPr>
        <p:spPr>
          <a:xfrm>
            <a:off x="12367260" y="5104729"/>
            <a:ext cx="137160" cy="137160"/>
          </a:xfrm>
          <a:prstGeom prst="ellipse">
            <a:avLst/>
          </a:prstGeom>
          <a:solidFill>
            <a:srgbClr val="161513"/>
          </a:solidFill>
          <a:ln w="28575">
            <a:solidFill>
              <a:srgbClr val="6E85FF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914400" y="6959773"/>
            <a:ext cx="2474915" cy="568757"/>
          </a:xfrm>
          <a:prstGeom prst="rect">
            <a:avLst/>
          </a:prstGeom>
          <a:solidFill>
            <a:srgbClr val="F3F2EE">
              <a:alpha val="5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914400" y="6959773"/>
            <a:ext cx="34779" cy="568757"/>
          </a:xfrm>
          <a:prstGeom prst="rect">
            <a:avLst/>
          </a:prstGeom>
          <a:solidFill>
            <a:srgbClr val="5F8F0C"/>
          </a:solidFill>
          <a:ln w="12700">
            <a:solidFill>
              <a:srgbClr val="5F8F0C">
                <a:alpha val="0"/>
              </a:srgbClr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1059150" y="7051213"/>
            <a:ext cx="567162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8" spc="59" kern="0" dirty="0">
                <a:solidFill>
                  <a:srgbClr val="5F8F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异常处理</a:t>
            </a:r>
            <a:endParaRPr lang="en-US" sz="858" dirty="0"/>
          </a:p>
        </p:txBody>
      </p:sp>
      <p:sp>
        <p:nvSpPr>
          <p:cNvPr id="67" name="Text 64"/>
          <p:cNvSpPr/>
          <p:nvPr/>
        </p:nvSpPr>
        <p:spPr>
          <a:xfrm>
            <a:off x="1059150" y="7241774"/>
            <a:ext cx="2299716" cy="2228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14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 → 受控拒答</a:t>
            </a:r>
            <a:endParaRPr lang="en-US" sz="1140" dirty="0"/>
          </a:p>
        </p:txBody>
      </p:sp>
      <p:sp>
        <p:nvSpPr>
          <p:cNvPr id="68" name="Shape 65"/>
          <p:cNvSpPr/>
          <p:nvPr/>
        </p:nvSpPr>
        <p:spPr>
          <a:xfrm>
            <a:off x="3496026" y="6959773"/>
            <a:ext cx="2474915" cy="568757"/>
          </a:xfrm>
          <a:prstGeom prst="rect">
            <a:avLst/>
          </a:prstGeom>
          <a:solidFill>
            <a:srgbClr val="F3F2EE">
              <a:alpha val="5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496026" y="6959773"/>
            <a:ext cx="34779" cy="568757"/>
          </a:xfrm>
          <a:prstGeom prst="rect">
            <a:avLst/>
          </a:prstGeom>
          <a:solidFill>
            <a:srgbClr val="5F8F0C"/>
          </a:solidFill>
          <a:ln w="12700">
            <a:solidFill>
              <a:srgbClr val="5F8F0C">
                <a:alpha val="0"/>
              </a:srgbClr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3640775" y="7051213"/>
            <a:ext cx="567162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8" spc="59" kern="0" dirty="0">
                <a:solidFill>
                  <a:srgbClr val="5F8F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异常处理</a:t>
            </a:r>
            <a:endParaRPr lang="en-US" sz="858" dirty="0"/>
          </a:p>
        </p:txBody>
      </p:sp>
      <p:sp>
        <p:nvSpPr>
          <p:cNvPr id="71" name="Text 68"/>
          <p:cNvSpPr/>
          <p:nvPr/>
        </p:nvSpPr>
        <p:spPr>
          <a:xfrm>
            <a:off x="3640775" y="7241774"/>
            <a:ext cx="2299716" cy="2228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14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无示例仍可生成</a:t>
            </a:r>
            <a:endParaRPr lang="en-US" sz="1140" dirty="0"/>
          </a:p>
        </p:txBody>
      </p:sp>
      <p:sp>
        <p:nvSpPr>
          <p:cNvPr id="72" name="Shape 69"/>
          <p:cNvSpPr/>
          <p:nvPr/>
        </p:nvSpPr>
        <p:spPr>
          <a:xfrm>
            <a:off x="6077651" y="6959773"/>
            <a:ext cx="2474915" cy="568757"/>
          </a:xfrm>
          <a:prstGeom prst="rect">
            <a:avLst/>
          </a:prstGeom>
          <a:solidFill>
            <a:srgbClr val="F3F2EE">
              <a:alpha val="5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6077651" y="6959773"/>
            <a:ext cx="34779" cy="568757"/>
          </a:xfrm>
          <a:prstGeom prst="rect">
            <a:avLst/>
          </a:prstGeom>
          <a:solidFill>
            <a:srgbClr val="5F8F0C"/>
          </a:solidFill>
          <a:ln w="12700">
            <a:solidFill>
              <a:srgbClr val="5F8F0C">
                <a:alpha val="0"/>
              </a:srgbClr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6222401" y="7051213"/>
            <a:ext cx="567162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8" spc="59" kern="0" dirty="0">
                <a:solidFill>
                  <a:srgbClr val="5F8F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异常处理</a:t>
            </a:r>
            <a:endParaRPr lang="en-US" sz="858" dirty="0"/>
          </a:p>
        </p:txBody>
      </p:sp>
      <p:sp>
        <p:nvSpPr>
          <p:cNvPr id="75" name="Text 72"/>
          <p:cNvSpPr/>
          <p:nvPr/>
        </p:nvSpPr>
        <p:spPr>
          <a:xfrm>
            <a:off x="6222401" y="7241774"/>
            <a:ext cx="2299716" cy="2228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14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 Safety 校验</a:t>
            </a:r>
            <a:endParaRPr lang="en-US" sz="1140" dirty="0"/>
          </a:p>
        </p:txBody>
      </p:sp>
      <p:sp>
        <p:nvSpPr>
          <p:cNvPr id="76" name="Shape 73"/>
          <p:cNvSpPr/>
          <p:nvPr/>
        </p:nvSpPr>
        <p:spPr>
          <a:xfrm>
            <a:off x="8659277" y="6959773"/>
            <a:ext cx="2474915" cy="568757"/>
          </a:xfrm>
          <a:prstGeom prst="rect">
            <a:avLst/>
          </a:prstGeom>
          <a:solidFill>
            <a:srgbClr val="F3F2EE">
              <a:alpha val="5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8659277" y="6959773"/>
            <a:ext cx="34779" cy="568757"/>
          </a:xfrm>
          <a:prstGeom prst="rect">
            <a:avLst/>
          </a:prstGeom>
          <a:solidFill>
            <a:srgbClr val="5F8F0C"/>
          </a:solidFill>
          <a:ln w="12700">
            <a:solidFill>
              <a:srgbClr val="5F8F0C">
                <a:alpha val="0"/>
              </a:srgbClr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8804118" y="7051213"/>
            <a:ext cx="567162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8" spc="59" kern="0" dirty="0">
                <a:solidFill>
                  <a:srgbClr val="5F8F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异常处理</a:t>
            </a:r>
            <a:endParaRPr lang="en-US" sz="858" dirty="0"/>
          </a:p>
        </p:txBody>
      </p:sp>
      <p:sp>
        <p:nvSpPr>
          <p:cNvPr id="79" name="Text 76"/>
          <p:cNvSpPr/>
          <p:nvPr/>
        </p:nvSpPr>
        <p:spPr>
          <a:xfrm>
            <a:off x="8804118" y="7241774"/>
            <a:ext cx="2299716" cy="2228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14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不安全 → 拦截</a:t>
            </a:r>
            <a:endParaRPr lang="en-US" sz="1140" dirty="0"/>
          </a:p>
        </p:txBody>
      </p:sp>
      <p:sp>
        <p:nvSpPr>
          <p:cNvPr id="80" name="Shape 77"/>
          <p:cNvSpPr/>
          <p:nvPr/>
        </p:nvSpPr>
        <p:spPr>
          <a:xfrm>
            <a:off x="11240902" y="6959773"/>
            <a:ext cx="2474915" cy="568757"/>
          </a:xfrm>
          <a:prstGeom prst="rect">
            <a:avLst/>
          </a:prstGeom>
          <a:solidFill>
            <a:srgbClr val="F3F2EE">
              <a:alpha val="5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11240902" y="6959773"/>
            <a:ext cx="34779" cy="568757"/>
          </a:xfrm>
          <a:prstGeom prst="rect">
            <a:avLst/>
          </a:prstGeom>
          <a:solidFill>
            <a:srgbClr val="5F8F0C"/>
          </a:solidFill>
          <a:ln w="12700">
            <a:solidFill>
              <a:srgbClr val="5F8F0C">
                <a:alpha val="0"/>
              </a:srgbClr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11385743" y="7051213"/>
            <a:ext cx="567162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8" spc="59" kern="0" dirty="0">
                <a:solidFill>
                  <a:srgbClr val="5F8F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异常处理</a:t>
            </a:r>
            <a:endParaRPr lang="en-US" sz="858" dirty="0"/>
          </a:p>
        </p:txBody>
      </p:sp>
      <p:sp>
        <p:nvSpPr>
          <p:cNvPr id="83" name="Text 80"/>
          <p:cNvSpPr/>
          <p:nvPr/>
        </p:nvSpPr>
        <p:spPr>
          <a:xfrm>
            <a:off x="11385743" y="7241774"/>
            <a:ext cx="2299716" cy="2228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14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仍失败 → 完整诊断</a:t>
            </a:r>
            <a:endParaRPr lang="en-US" sz="1140" dirty="0"/>
          </a:p>
        </p:txBody>
      </p:sp>
      <p:pic>
        <p:nvPicPr>
          <p:cNvPr id="8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0690" y="838230"/>
            <a:ext cx="883950" cy="883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226850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235354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数据库设计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0342687" y="720090"/>
            <a:ext cx="3603147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张核心表 · 固定 SEED · 可复现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470726"/>
            <a:ext cx="12893040" cy="537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ecommerce.db</a:t>
            </a:r>
            <a:endParaRPr lang="en-US" sz="3720" dirty="0"/>
          </a:p>
        </p:txBody>
      </p:sp>
      <p:sp>
        <p:nvSpPr>
          <p:cNvPr id="10" name="Shape 8"/>
          <p:cNvSpPr/>
          <p:nvPr/>
        </p:nvSpPr>
        <p:spPr>
          <a:xfrm>
            <a:off x="914400" y="2125614"/>
            <a:ext cx="12801600" cy="3504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452918"/>
            <a:ext cx="12801600" cy="23186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6290" y="2125614"/>
            <a:ext cx="278709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6" spc="95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表</a:t>
            </a:r>
            <a:endParaRPr lang="en-US" sz="1386" dirty="0"/>
          </a:p>
        </p:txBody>
      </p:sp>
      <p:sp>
        <p:nvSpPr>
          <p:cNvPr id="13" name="Text 11"/>
          <p:cNvSpPr/>
          <p:nvPr/>
        </p:nvSpPr>
        <p:spPr>
          <a:xfrm>
            <a:off x="1844070" y="2125614"/>
            <a:ext cx="468693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6" spc="95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行数</a:t>
            </a:r>
            <a:endParaRPr lang="en-US" sz="1386" dirty="0"/>
          </a:p>
        </p:txBody>
      </p:sp>
      <p:sp>
        <p:nvSpPr>
          <p:cNvPr id="14" name="Text 12"/>
          <p:cNvSpPr/>
          <p:nvPr/>
        </p:nvSpPr>
        <p:spPr>
          <a:xfrm>
            <a:off x="5280020" y="2125614"/>
            <a:ext cx="658677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6" spc="95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所属域</a:t>
            </a:r>
            <a:endParaRPr lang="en-US" sz="1386" dirty="0"/>
          </a:p>
        </p:txBody>
      </p:sp>
      <p:sp>
        <p:nvSpPr>
          <p:cNvPr id="15" name="Text 13"/>
          <p:cNvSpPr/>
          <p:nvPr/>
        </p:nvSpPr>
        <p:spPr>
          <a:xfrm>
            <a:off x="9152138" y="2125614"/>
            <a:ext cx="84866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6" spc="95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核心关系</a:t>
            </a:r>
            <a:endParaRPr lang="en-US" sz="1386" dirty="0"/>
          </a:p>
        </p:txBody>
      </p:sp>
      <p:sp>
        <p:nvSpPr>
          <p:cNvPr id="16" name="Shape 14"/>
          <p:cNvSpPr/>
          <p:nvPr/>
        </p:nvSpPr>
        <p:spPr>
          <a:xfrm>
            <a:off x="914400" y="2476104"/>
            <a:ext cx="12801600" cy="902238"/>
          </a:xfrm>
          <a:prstGeom prst="rect">
            <a:avLst/>
          </a:prstGeom>
          <a:solidFill>
            <a:srgbClr val="2742EC">
              <a:alpha val="7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8575" dir="16200000">
              <a:srgbClr val="6E85FF">
                <a:alpha val="7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3366749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6290" y="2751978"/>
            <a:ext cx="431597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80" b="1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80" dirty="0"/>
          </a:p>
        </p:txBody>
      </p:sp>
      <p:sp>
        <p:nvSpPr>
          <p:cNvPr id="19" name="Text 17"/>
          <p:cNvSpPr/>
          <p:nvPr/>
        </p:nvSpPr>
        <p:spPr>
          <a:xfrm>
            <a:off x="1844070" y="2801539"/>
            <a:ext cx="738378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280020" y="2877708"/>
            <a:ext cx="3155777" cy="91440"/>
          </a:xfrm>
          <a:prstGeom prst="rect">
            <a:avLst/>
          </a:prstGeom>
          <a:solidFill>
            <a:srgbClr val="161513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80020" y="2877708"/>
            <a:ext cx="207203" cy="91440"/>
          </a:xfrm>
          <a:prstGeom prst="rect">
            <a:avLst/>
          </a:prstGeom>
          <a:solidFill>
            <a:srgbClr val="6E8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0489" y="2805379"/>
            <a:ext cx="655930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680" b="1" dirty="0">
                <a:solidFill>
                  <a:srgbClr val="6E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</a:t>
            </a:r>
            <a:endParaRPr lang="en-US" sz="1680" dirty="0"/>
          </a:p>
        </p:txBody>
      </p:sp>
      <p:sp>
        <p:nvSpPr>
          <p:cNvPr id="23" name="Text 21"/>
          <p:cNvSpPr/>
          <p:nvPr/>
        </p:nvSpPr>
        <p:spPr>
          <a:xfrm>
            <a:off x="9152138" y="2847259"/>
            <a:ext cx="61722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用户域</a:t>
            </a:r>
            <a:endParaRPr lang="en-US" sz="1380" dirty="0"/>
          </a:p>
        </p:txBody>
      </p:sp>
      <p:sp>
        <p:nvSpPr>
          <p:cNvPr id="24" name="Shape 22"/>
          <p:cNvSpPr/>
          <p:nvPr/>
        </p:nvSpPr>
        <p:spPr>
          <a:xfrm>
            <a:off x="12481560" y="2767249"/>
            <a:ext cx="1219170" cy="312450"/>
          </a:xfrm>
          <a:prstGeom prst="rect">
            <a:avLst/>
          </a:prstGeom>
          <a:solidFill>
            <a:srgbClr val="161513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588270" y="2767249"/>
            <a:ext cx="1203389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spc="90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1—N orders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914400" y="3378434"/>
            <a:ext cx="12801600" cy="902330"/>
          </a:xfrm>
          <a:prstGeom prst="rect">
            <a:avLst/>
          </a:prstGeom>
          <a:solidFill>
            <a:srgbClr val="161513">
              <a:alpha val="1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4269171"/>
            <a:ext cx="12801600" cy="11593"/>
          </a:xfrm>
          <a:prstGeom prst="rect">
            <a:avLst/>
          </a:prstGeom>
          <a:solidFill>
            <a:srgbClr val="F3F2EE">
              <a:alpha val="6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6290" y="3654308"/>
            <a:ext cx="431597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80" b="1" dirty="0">
                <a:solidFill>
                  <a:srgbClr val="F3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80" dirty="0"/>
          </a:p>
        </p:txBody>
      </p:sp>
      <p:sp>
        <p:nvSpPr>
          <p:cNvPr id="29" name="Text 27"/>
          <p:cNvSpPr/>
          <p:nvPr/>
        </p:nvSpPr>
        <p:spPr>
          <a:xfrm>
            <a:off x="1844070" y="3703777"/>
            <a:ext cx="1367028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280020" y="3780038"/>
            <a:ext cx="3155777" cy="91440"/>
          </a:xfrm>
          <a:prstGeom prst="rect">
            <a:avLst/>
          </a:prstGeom>
          <a:solidFill>
            <a:srgbClr val="161513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01608" y="3707618"/>
            <a:ext cx="382829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68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680" dirty="0"/>
          </a:p>
        </p:txBody>
      </p:sp>
      <p:sp>
        <p:nvSpPr>
          <p:cNvPr id="32" name="Text 30"/>
          <p:cNvSpPr/>
          <p:nvPr/>
        </p:nvSpPr>
        <p:spPr>
          <a:xfrm>
            <a:off x="9152138" y="3749497"/>
            <a:ext cx="61722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商品域</a:t>
            </a:r>
            <a:endParaRPr lang="en-US" sz="1380" dirty="0"/>
          </a:p>
        </p:txBody>
      </p:sp>
      <p:sp>
        <p:nvSpPr>
          <p:cNvPr id="33" name="Shape 31"/>
          <p:cNvSpPr/>
          <p:nvPr/>
        </p:nvSpPr>
        <p:spPr>
          <a:xfrm>
            <a:off x="12380976" y="3669487"/>
            <a:ext cx="1420429" cy="312450"/>
          </a:xfrm>
          <a:prstGeom prst="rect">
            <a:avLst/>
          </a:prstGeom>
          <a:solidFill>
            <a:srgbClr val="161513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487595" y="3669487"/>
            <a:ext cx="1427798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spc="90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1—N products</a:t>
            </a:r>
            <a:endParaRPr lang="en-US" sz="1320" dirty="0"/>
          </a:p>
        </p:txBody>
      </p:sp>
      <p:sp>
        <p:nvSpPr>
          <p:cNvPr id="35" name="Shape 33"/>
          <p:cNvSpPr/>
          <p:nvPr/>
        </p:nvSpPr>
        <p:spPr>
          <a:xfrm>
            <a:off x="914400" y="4280764"/>
            <a:ext cx="12801600" cy="90223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4400" y="5171409"/>
            <a:ext cx="12801600" cy="11593"/>
          </a:xfrm>
          <a:prstGeom prst="rect">
            <a:avLst/>
          </a:prstGeom>
          <a:solidFill>
            <a:srgbClr val="F3F2EE">
              <a:alpha val="6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36290" y="4556638"/>
            <a:ext cx="431597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80" b="1" dirty="0">
                <a:solidFill>
                  <a:srgbClr val="F3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80" dirty="0"/>
          </a:p>
        </p:txBody>
      </p:sp>
      <p:sp>
        <p:nvSpPr>
          <p:cNvPr id="38" name="Text 36"/>
          <p:cNvSpPr/>
          <p:nvPr/>
        </p:nvSpPr>
        <p:spPr>
          <a:xfrm>
            <a:off x="1844070" y="4606199"/>
            <a:ext cx="1115568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5280020" y="4682368"/>
            <a:ext cx="3155777" cy="91440"/>
          </a:xfrm>
          <a:prstGeom prst="rect">
            <a:avLst/>
          </a:prstGeom>
          <a:solidFill>
            <a:srgbClr val="161513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80020" y="4682368"/>
            <a:ext cx="51755" cy="91440"/>
          </a:xfrm>
          <a:prstGeom prst="rect">
            <a:avLst/>
          </a:prstGeom>
          <a:solidFill>
            <a:srgbClr val="161513">
              <a:alpha val="3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65058" y="4609948"/>
            <a:ext cx="519379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68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680" dirty="0"/>
          </a:p>
        </p:txBody>
      </p:sp>
      <p:sp>
        <p:nvSpPr>
          <p:cNvPr id="42" name="Text 40"/>
          <p:cNvSpPr/>
          <p:nvPr/>
        </p:nvSpPr>
        <p:spPr>
          <a:xfrm>
            <a:off x="9152138" y="4651919"/>
            <a:ext cx="61722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商品域</a:t>
            </a:r>
            <a:endParaRPr lang="en-US" sz="1380" dirty="0"/>
          </a:p>
        </p:txBody>
      </p:sp>
      <p:sp>
        <p:nvSpPr>
          <p:cNvPr id="43" name="Shape 41"/>
          <p:cNvSpPr/>
          <p:nvPr/>
        </p:nvSpPr>
        <p:spPr>
          <a:xfrm>
            <a:off x="12230100" y="4571909"/>
            <a:ext cx="1722090" cy="312450"/>
          </a:xfrm>
          <a:prstGeom prst="rect">
            <a:avLst/>
          </a:prstGeom>
          <a:solidFill>
            <a:srgbClr val="161513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336810" y="4571909"/>
            <a:ext cx="1764411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spc="90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1—N order_items</a:t>
            </a:r>
            <a:endParaRPr lang="en-US" sz="1320" dirty="0"/>
          </a:p>
        </p:txBody>
      </p:sp>
      <p:sp>
        <p:nvSpPr>
          <p:cNvPr id="45" name="Shape 43"/>
          <p:cNvSpPr/>
          <p:nvPr/>
        </p:nvSpPr>
        <p:spPr>
          <a:xfrm>
            <a:off x="914400" y="5183002"/>
            <a:ext cx="12801600" cy="902238"/>
          </a:xfrm>
          <a:prstGeom prst="rect">
            <a:avLst/>
          </a:prstGeom>
          <a:solidFill>
            <a:srgbClr val="161513">
              <a:alpha val="1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4400" y="6073648"/>
            <a:ext cx="12801600" cy="11593"/>
          </a:xfrm>
          <a:prstGeom prst="rect">
            <a:avLst/>
          </a:prstGeom>
          <a:solidFill>
            <a:srgbClr val="F3F2EE">
              <a:alpha val="6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36290" y="5458877"/>
            <a:ext cx="431597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80" b="1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980" dirty="0"/>
          </a:p>
        </p:txBody>
      </p:sp>
      <p:sp>
        <p:nvSpPr>
          <p:cNvPr id="48" name="Text 46"/>
          <p:cNvSpPr/>
          <p:nvPr/>
        </p:nvSpPr>
        <p:spPr>
          <a:xfrm>
            <a:off x="1844070" y="5508437"/>
            <a:ext cx="864108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5280020" y="5584607"/>
            <a:ext cx="3155777" cy="91440"/>
          </a:xfrm>
          <a:prstGeom prst="rect">
            <a:avLst/>
          </a:prstGeom>
          <a:solidFill>
            <a:srgbClr val="161513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280020" y="5584607"/>
            <a:ext cx="1036107" cy="91440"/>
          </a:xfrm>
          <a:prstGeom prst="rect">
            <a:avLst/>
          </a:prstGeom>
          <a:solidFill>
            <a:srgbClr val="161513">
              <a:alpha val="4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51098" y="5512278"/>
            <a:ext cx="792480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68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10000</a:t>
            </a:r>
            <a:endParaRPr lang="en-US" sz="1680" dirty="0"/>
          </a:p>
        </p:txBody>
      </p:sp>
      <p:sp>
        <p:nvSpPr>
          <p:cNvPr id="52" name="Text 50"/>
          <p:cNvSpPr/>
          <p:nvPr/>
        </p:nvSpPr>
        <p:spPr>
          <a:xfrm>
            <a:off x="9152138" y="5554157"/>
            <a:ext cx="61722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交易域</a:t>
            </a:r>
            <a:endParaRPr lang="en-US" sz="1380" dirty="0"/>
          </a:p>
        </p:txBody>
      </p:sp>
      <p:sp>
        <p:nvSpPr>
          <p:cNvPr id="53" name="Shape 51"/>
          <p:cNvSpPr/>
          <p:nvPr/>
        </p:nvSpPr>
        <p:spPr>
          <a:xfrm>
            <a:off x="12230100" y="5474147"/>
            <a:ext cx="1722090" cy="312450"/>
          </a:xfrm>
          <a:prstGeom prst="rect">
            <a:avLst/>
          </a:prstGeom>
          <a:solidFill>
            <a:srgbClr val="161513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2336810" y="5474147"/>
            <a:ext cx="1764411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spc="90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1—N order_items</a:t>
            </a:r>
            <a:endParaRPr lang="en-US" sz="1320" dirty="0"/>
          </a:p>
        </p:txBody>
      </p:sp>
      <p:sp>
        <p:nvSpPr>
          <p:cNvPr id="55" name="Shape 53"/>
          <p:cNvSpPr/>
          <p:nvPr/>
        </p:nvSpPr>
        <p:spPr>
          <a:xfrm>
            <a:off x="914400" y="6085241"/>
            <a:ext cx="12801600" cy="90223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14400" y="6975886"/>
            <a:ext cx="12801600" cy="11593"/>
          </a:xfrm>
          <a:prstGeom prst="rect">
            <a:avLst/>
          </a:prstGeom>
          <a:solidFill>
            <a:srgbClr val="F3F2EE">
              <a:alpha val="6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36290" y="6361115"/>
            <a:ext cx="431597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80" b="1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980" dirty="0"/>
          </a:p>
        </p:txBody>
      </p:sp>
      <p:sp>
        <p:nvSpPr>
          <p:cNvPr id="58" name="Text 56"/>
          <p:cNvSpPr/>
          <p:nvPr/>
        </p:nvSpPr>
        <p:spPr>
          <a:xfrm>
            <a:off x="1844070" y="6410676"/>
            <a:ext cx="1492758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order_items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5280020" y="6486845"/>
            <a:ext cx="3155777" cy="91440"/>
          </a:xfrm>
          <a:prstGeom prst="rect">
            <a:avLst/>
          </a:prstGeom>
          <a:solidFill>
            <a:srgbClr val="161513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280020" y="6486845"/>
            <a:ext cx="3155777" cy="91440"/>
          </a:xfrm>
          <a:prstGeom prst="rect">
            <a:avLst/>
          </a:prstGeom>
          <a:solidFill>
            <a:srgbClr val="161513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451098" y="6414516"/>
            <a:ext cx="792480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68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30457</a:t>
            </a:r>
            <a:endParaRPr lang="en-US" sz="1680" dirty="0"/>
          </a:p>
        </p:txBody>
      </p:sp>
      <p:sp>
        <p:nvSpPr>
          <p:cNvPr id="62" name="Text 60"/>
          <p:cNvSpPr/>
          <p:nvPr/>
        </p:nvSpPr>
        <p:spPr>
          <a:xfrm>
            <a:off x="9152138" y="6456396"/>
            <a:ext cx="61722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交易域</a:t>
            </a:r>
            <a:endParaRPr lang="en-US" sz="1380" dirty="0"/>
          </a:p>
        </p:txBody>
      </p:sp>
      <p:sp>
        <p:nvSpPr>
          <p:cNvPr id="63" name="Shape 61"/>
          <p:cNvSpPr/>
          <p:nvPr/>
        </p:nvSpPr>
        <p:spPr>
          <a:xfrm>
            <a:off x="12730643" y="6376386"/>
            <a:ext cx="720913" cy="312450"/>
          </a:xfrm>
          <a:prstGeom prst="rect">
            <a:avLst/>
          </a:prstGeom>
          <a:solidFill>
            <a:srgbClr val="161513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2837353" y="6376386"/>
            <a:ext cx="632536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spc="90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明细行</a:t>
            </a:r>
            <a:endParaRPr lang="en-US" sz="1320" dirty="0"/>
          </a:p>
        </p:txBody>
      </p:sp>
      <p:sp>
        <p:nvSpPr>
          <p:cNvPr id="65" name="Shape 63"/>
          <p:cNvSpPr/>
          <p:nvPr/>
        </p:nvSpPr>
        <p:spPr>
          <a:xfrm>
            <a:off x="914400" y="7124730"/>
            <a:ext cx="12801600" cy="4038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4400" y="7124730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14400" y="7254210"/>
            <a:ext cx="95422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金额口径</a:t>
            </a:r>
            <a:endParaRPr lang="en-US" sz="1584" dirty="0"/>
          </a:p>
        </p:txBody>
      </p:sp>
      <p:sp>
        <p:nvSpPr>
          <p:cNvPr id="68" name="Text 66"/>
          <p:cNvSpPr/>
          <p:nvPr/>
        </p:nvSpPr>
        <p:spPr>
          <a:xfrm>
            <a:off x="1826971" y="7258782"/>
            <a:ext cx="64297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subtotal=明细行金额 · total_amount=订单最终实付 · cancelled=不计入实际销售</a:t>
            </a:r>
            <a:endParaRPr lang="en-US" sz="1440" dirty="0"/>
          </a:p>
        </p:txBody>
      </p:sp>
      <p:pic>
        <p:nvPicPr>
          <p:cNvPr id="6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30200" y="975390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965960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2079117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安全与可靠性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0569550" y="720090"/>
            <a:ext cx="331401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生成 ≠ 可执行 · 确定性代码把关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411232"/>
            <a:ext cx="8473470" cy="537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三道防线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914400" y="2003725"/>
            <a:ext cx="76565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Safety → 只读 → Repair（全链路 Trace 留痕）</a:t>
            </a:r>
            <a:endParaRPr lang="en-US" sz="144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97610" y="975390"/>
            <a:ext cx="1432590" cy="143259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3355665"/>
            <a:ext cx="113229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 SAFETY</a:t>
            </a:r>
            <a:endParaRPr lang="en-US" sz="1452" dirty="0"/>
          </a:p>
        </p:txBody>
      </p:sp>
      <p:sp>
        <p:nvSpPr>
          <p:cNvPr id="13" name="Text 10"/>
          <p:cNvSpPr/>
          <p:nvPr/>
        </p:nvSpPr>
        <p:spPr>
          <a:xfrm>
            <a:off x="914400" y="3654308"/>
            <a:ext cx="1514978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1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 安全校验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2621310" y="3254715"/>
            <a:ext cx="2033626" cy="7582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621310" y="3254715"/>
            <a:ext cx="2033626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43343" y="3254715"/>
            <a:ext cx="11593" cy="75822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621310" y="4001343"/>
            <a:ext cx="2033626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621310" y="3254715"/>
            <a:ext cx="46372" cy="758220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19342" y="3414735"/>
            <a:ext cx="1860423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spc="-19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SELECT/WITH 白名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503204" y="3633826"/>
            <a:ext cx="292608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spc="-19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746285" y="3511845"/>
            <a:ext cx="32004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848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5066325" y="3364260"/>
            <a:ext cx="2010857" cy="53913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15862" y="3364260"/>
            <a:ext cx="1311783" cy="56656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spc="-19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写/多语句拒绝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168622" y="3511845"/>
            <a:ext cx="32004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848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7488662" y="3364260"/>
            <a:ext cx="2010857" cy="53913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622530" y="3364260"/>
            <a:ext cx="1743121" cy="56656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spc="-19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AST+Schema 校验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9590959" y="3511845"/>
            <a:ext cx="32004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848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9910999" y="3364260"/>
            <a:ext cx="2010857" cy="53913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138524" y="3364260"/>
            <a:ext cx="1555623" cy="56656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spc="-19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LIMIT≤500注入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2013296" y="3511845"/>
            <a:ext cx="32004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12333336" y="3168945"/>
            <a:ext cx="1382664" cy="43434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2424776" y="3168945"/>
            <a:ext cx="1199784" cy="4617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40" b="1" spc="18" kern="0" dirty="0">
                <a:solidFill>
                  <a:srgbClr val="1615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不安全→拦截</a:t>
            </a:r>
            <a:endParaRPr lang="en-US" sz="1440" dirty="0"/>
          </a:p>
        </p:txBody>
      </p:sp>
      <p:sp>
        <p:nvSpPr>
          <p:cNvPr id="33" name="Shape 30"/>
          <p:cNvSpPr/>
          <p:nvPr/>
        </p:nvSpPr>
        <p:spPr>
          <a:xfrm>
            <a:off x="12333336" y="3664275"/>
            <a:ext cx="1382664" cy="43434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2517130" y="3664275"/>
            <a:ext cx="1014984" cy="4617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40" b="1" spc="18" kern="0" dirty="0">
                <a:solidFill>
                  <a:srgbClr val="1615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合法→放行</a:t>
            </a:r>
            <a:endParaRPr lang="en-US" sz="1440" dirty="0"/>
          </a:p>
        </p:txBody>
      </p:sp>
      <p:sp>
        <p:nvSpPr>
          <p:cNvPr id="35" name="Shape 32"/>
          <p:cNvSpPr/>
          <p:nvPr/>
        </p:nvSpPr>
        <p:spPr>
          <a:xfrm>
            <a:off x="914400" y="4296766"/>
            <a:ext cx="12801600" cy="13334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14400" y="4296766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14400" y="4689135"/>
            <a:ext cx="733623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 只读</a:t>
            </a:r>
            <a:endParaRPr lang="en-US" sz="1452" dirty="0"/>
          </a:p>
        </p:txBody>
      </p:sp>
      <p:sp>
        <p:nvSpPr>
          <p:cNvPr id="38" name="Text 35"/>
          <p:cNvSpPr/>
          <p:nvPr/>
        </p:nvSpPr>
        <p:spPr>
          <a:xfrm>
            <a:off x="914400" y="4987778"/>
            <a:ext cx="1001359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1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只读执行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2621310" y="4697730"/>
            <a:ext cx="2841041" cy="53913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621310" y="4697730"/>
            <a:ext cx="2841041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450758" y="4697730"/>
            <a:ext cx="11593" cy="53913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621310" y="5225267"/>
            <a:ext cx="2841041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621310" y="4697730"/>
            <a:ext cx="46372" cy="539130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602736" y="4697730"/>
            <a:ext cx="901050" cy="56656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spc="-19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mode=ro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5553791" y="4845406"/>
            <a:ext cx="32004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848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6" name="Shape 43"/>
          <p:cNvSpPr/>
          <p:nvPr/>
        </p:nvSpPr>
        <p:spPr>
          <a:xfrm>
            <a:off x="5873831" y="4697730"/>
            <a:ext cx="2818364" cy="53913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529875" y="4697730"/>
            <a:ext cx="1506093" cy="56656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spc="-19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query_only=ON</a:t>
            </a:r>
            <a:endParaRPr lang="en-US" sz="1500" dirty="0"/>
          </a:p>
        </p:txBody>
      </p:sp>
      <p:sp>
        <p:nvSpPr>
          <p:cNvPr id="48" name="Text 45"/>
          <p:cNvSpPr/>
          <p:nvPr/>
        </p:nvSpPr>
        <p:spPr>
          <a:xfrm>
            <a:off x="8783635" y="4845406"/>
            <a:ext cx="32004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848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9" name="Shape 46"/>
          <p:cNvSpPr/>
          <p:nvPr/>
        </p:nvSpPr>
        <p:spPr>
          <a:xfrm>
            <a:off x="9103675" y="4697730"/>
            <a:ext cx="2818181" cy="53913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0000656" y="4697730"/>
            <a:ext cx="1024128" cy="56656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spc="-19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500行截断</a:t>
            </a:r>
            <a:endParaRPr lang="en-US" sz="1500" dirty="0"/>
          </a:p>
        </p:txBody>
      </p:sp>
      <p:sp>
        <p:nvSpPr>
          <p:cNvPr id="51" name="Text 48"/>
          <p:cNvSpPr/>
          <p:nvPr/>
        </p:nvSpPr>
        <p:spPr>
          <a:xfrm>
            <a:off x="12013296" y="4845406"/>
            <a:ext cx="32004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52" name="Shape 49"/>
          <p:cNvSpPr/>
          <p:nvPr/>
        </p:nvSpPr>
        <p:spPr>
          <a:xfrm>
            <a:off x="12333336" y="4502506"/>
            <a:ext cx="1382664" cy="43434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2424776" y="4502506"/>
            <a:ext cx="1199784" cy="4617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40" b="1" spc="18" kern="0" dirty="0">
                <a:solidFill>
                  <a:srgbClr val="1615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写操作→拒绝</a:t>
            </a:r>
            <a:endParaRPr lang="en-US" sz="1440" dirty="0"/>
          </a:p>
        </p:txBody>
      </p:sp>
      <p:sp>
        <p:nvSpPr>
          <p:cNvPr id="54" name="Shape 51"/>
          <p:cNvSpPr/>
          <p:nvPr/>
        </p:nvSpPr>
        <p:spPr>
          <a:xfrm>
            <a:off x="12333336" y="4997745"/>
            <a:ext cx="1382664" cy="43434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2424776" y="4997745"/>
            <a:ext cx="1199784" cy="4617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40" b="1" spc="18" kern="0" dirty="0">
                <a:solidFill>
                  <a:srgbClr val="1615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结果→结构化</a:t>
            </a:r>
            <a:endParaRPr lang="en-US" sz="1440" dirty="0"/>
          </a:p>
        </p:txBody>
      </p:sp>
      <p:sp>
        <p:nvSpPr>
          <p:cNvPr id="56" name="Shape 53"/>
          <p:cNvSpPr/>
          <p:nvPr/>
        </p:nvSpPr>
        <p:spPr>
          <a:xfrm>
            <a:off x="914400" y="5630235"/>
            <a:ext cx="12801600" cy="13334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14400" y="5630235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14400" y="6022696"/>
            <a:ext cx="113229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 REPAIR</a:t>
            </a:r>
            <a:endParaRPr lang="en-US" sz="1452" dirty="0"/>
          </a:p>
        </p:txBody>
      </p:sp>
      <p:sp>
        <p:nvSpPr>
          <p:cNvPr id="59" name="Text 56"/>
          <p:cNvSpPr/>
          <p:nvPr/>
        </p:nvSpPr>
        <p:spPr>
          <a:xfrm>
            <a:off x="914400" y="6321339"/>
            <a:ext cx="1228862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1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有界自修复</a:t>
            </a:r>
            <a:endParaRPr lang="en-US" sz="1800" dirty="0"/>
          </a:p>
        </p:txBody>
      </p:sp>
      <p:sp>
        <p:nvSpPr>
          <p:cNvPr id="60" name="Shape 57"/>
          <p:cNvSpPr/>
          <p:nvPr/>
        </p:nvSpPr>
        <p:spPr>
          <a:xfrm>
            <a:off x="2621310" y="6031200"/>
            <a:ext cx="2824033" cy="53913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621310" y="6031200"/>
            <a:ext cx="2824033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5433750" y="6031200"/>
            <a:ext cx="11593" cy="53913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621310" y="6558737"/>
            <a:ext cx="2824033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2621310" y="6031200"/>
            <a:ext cx="46372" cy="539130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3455060" y="6031200"/>
            <a:ext cx="1179210" cy="56656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spc="-19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Repair≤1次</a:t>
            </a:r>
            <a:endParaRPr lang="en-US" sz="1500" dirty="0"/>
          </a:p>
        </p:txBody>
      </p:sp>
      <p:sp>
        <p:nvSpPr>
          <p:cNvPr id="66" name="Text 63"/>
          <p:cNvSpPr/>
          <p:nvPr/>
        </p:nvSpPr>
        <p:spPr>
          <a:xfrm>
            <a:off x="5536783" y="6178875"/>
            <a:ext cx="32004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848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67" name="Shape 64"/>
          <p:cNvSpPr/>
          <p:nvPr/>
        </p:nvSpPr>
        <p:spPr>
          <a:xfrm>
            <a:off x="5856823" y="6031200"/>
            <a:ext cx="2801173" cy="53913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6585783" y="6031200"/>
            <a:ext cx="1342979" cy="56656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spc="-19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二次校验+执行</a:t>
            </a:r>
            <a:endParaRPr lang="en-US" sz="1500" dirty="0"/>
          </a:p>
        </p:txBody>
      </p:sp>
      <p:sp>
        <p:nvSpPr>
          <p:cNvPr id="69" name="Text 66"/>
          <p:cNvSpPr/>
          <p:nvPr/>
        </p:nvSpPr>
        <p:spPr>
          <a:xfrm>
            <a:off x="8749436" y="6178875"/>
            <a:ext cx="32004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848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0" name="Shape 67"/>
          <p:cNvSpPr/>
          <p:nvPr/>
        </p:nvSpPr>
        <p:spPr>
          <a:xfrm>
            <a:off x="9069476" y="6031200"/>
            <a:ext cx="2801173" cy="53913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9952787" y="6031200"/>
            <a:ext cx="1034369" cy="56656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spc="-19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失败→诊断</a:t>
            </a:r>
            <a:endParaRPr lang="en-US" sz="1500" dirty="0"/>
          </a:p>
        </p:txBody>
      </p:sp>
      <p:sp>
        <p:nvSpPr>
          <p:cNvPr id="72" name="Text 69"/>
          <p:cNvSpPr/>
          <p:nvPr/>
        </p:nvSpPr>
        <p:spPr>
          <a:xfrm>
            <a:off x="11962089" y="6178875"/>
            <a:ext cx="32004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3" name="Shape 70"/>
          <p:cNvSpPr/>
          <p:nvPr/>
        </p:nvSpPr>
        <p:spPr>
          <a:xfrm>
            <a:off x="12282129" y="5835975"/>
            <a:ext cx="1433871" cy="43434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12373569" y="5835975"/>
            <a:ext cx="1250991" cy="4617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40" b="1" spc="18" kern="0" dirty="0">
                <a:solidFill>
                  <a:srgbClr val="1615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成功→Result</a:t>
            </a:r>
            <a:endParaRPr lang="en-US" sz="1440" dirty="0"/>
          </a:p>
        </p:txBody>
      </p:sp>
      <p:sp>
        <p:nvSpPr>
          <p:cNvPr id="75" name="Shape 72"/>
          <p:cNvSpPr/>
          <p:nvPr/>
        </p:nvSpPr>
        <p:spPr>
          <a:xfrm>
            <a:off x="12282129" y="6331306"/>
            <a:ext cx="1433871" cy="43434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12399173" y="6331306"/>
            <a:ext cx="1199784" cy="4617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40" b="1" spc="18" kern="0" dirty="0">
                <a:solidFill>
                  <a:srgbClr val="1615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仍失败→诊断</a:t>
            </a:r>
            <a:endParaRPr lang="en-US" sz="14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435699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468481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前端产品界面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0193640" y="720090"/>
            <a:ext cx="3854745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真实运行界面 · 分析结果与 SQL 留痕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365512"/>
            <a:ext cx="8719627" cy="537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提问 → Agent → SQL → Result → Trace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9695017" y="1600200"/>
            <a:ext cx="338328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主图展示真实分析结果，副图与证据辅助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914400" y="2826410"/>
            <a:ext cx="4183380" cy="278892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2826410"/>
            <a:ext cx="4183380" cy="27889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219670" y="2826410"/>
            <a:ext cx="4183380" cy="278892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219670" y="2826410"/>
            <a:ext cx="4183380" cy="27889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525030" y="2826410"/>
            <a:ext cx="4183380" cy="278892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525030" y="2826410"/>
            <a:ext cx="4183380" cy="27889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4400" y="6590629"/>
            <a:ext cx="4137660" cy="9379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14400" y="6590629"/>
            <a:ext cx="4137660" cy="34779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040467" y="6590629"/>
            <a:ext cx="11593" cy="937992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14400" y="6790152"/>
            <a:ext cx="996787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-22" kern="0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智能分析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3754801" y="6864949"/>
            <a:ext cx="1163966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24" spc="63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非原型 · 真实运行</a:t>
            </a:r>
            <a:endParaRPr lang="en-US" sz="924" dirty="0"/>
          </a:p>
        </p:txBody>
      </p:sp>
      <p:sp>
        <p:nvSpPr>
          <p:cNvPr id="22" name="Text 17"/>
          <p:cNvSpPr/>
          <p:nvPr/>
        </p:nvSpPr>
        <p:spPr>
          <a:xfrm>
            <a:off x="4771339" y="6864949"/>
            <a:ext cx="184831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24" spc="63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24" dirty="0"/>
          </a:p>
        </p:txBody>
      </p:sp>
      <p:sp>
        <p:nvSpPr>
          <p:cNvPr id="23" name="Text 18"/>
          <p:cNvSpPr/>
          <p:nvPr/>
        </p:nvSpPr>
        <p:spPr>
          <a:xfrm>
            <a:off x="914400" y="7116409"/>
            <a:ext cx="366131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90" spc="6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主图</a:t>
            </a:r>
            <a:endParaRPr lang="en-US" sz="990" dirty="0"/>
          </a:p>
        </p:txBody>
      </p:sp>
      <p:sp>
        <p:nvSpPr>
          <p:cNvPr id="24" name="Text 19"/>
          <p:cNvSpPr/>
          <p:nvPr/>
        </p:nvSpPr>
        <p:spPr>
          <a:xfrm>
            <a:off x="914400" y="7352599"/>
            <a:ext cx="1463040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66"/>
              </a:lnSpc>
              <a:buNone/>
            </a:pPr>
            <a:r>
              <a:rPr lang="en-US" sz="108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自然语言提问真实结果</a:t>
            </a:r>
            <a:endParaRPr lang="en-US" sz="1080" dirty="0"/>
          </a:p>
        </p:txBody>
      </p:sp>
      <p:sp>
        <p:nvSpPr>
          <p:cNvPr id="25" name="Shape 20"/>
          <p:cNvSpPr/>
          <p:nvPr/>
        </p:nvSpPr>
        <p:spPr>
          <a:xfrm>
            <a:off x="5250210" y="6590629"/>
            <a:ext cx="4137660" cy="9379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250210" y="6590629"/>
            <a:ext cx="4137660" cy="34779"/>
          </a:xfrm>
          <a:prstGeom prst="rect">
            <a:avLst/>
          </a:prstGeom>
          <a:solidFill>
            <a:srgbClr val="F3F2EE">
              <a:alpha val="5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376277" y="6590629"/>
            <a:ext cx="11593" cy="937992"/>
          </a:xfrm>
          <a:prstGeom prst="rect">
            <a:avLst/>
          </a:prstGeom>
          <a:solidFill>
            <a:srgbClr val="F3F2EE">
              <a:alpha val="5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250210" y="6790152"/>
            <a:ext cx="996787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-22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首页概览</a:t>
            </a:r>
            <a:endParaRPr lang="en-US" sz="1800" dirty="0"/>
          </a:p>
        </p:txBody>
      </p:sp>
      <p:sp>
        <p:nvSpPr>
          <p:cNvPr id="29" name="Text 24"/>
          <p:cNvSpPr/>
          <p:nvPr/>
        </p:nvSpPr>
        <p:spPr>
          <a:xfrm>
            <a:off x="8090520" y="6864949"/>
            <a:ext cx="1163966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24" spc="63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非原型 · 真实运行</a:t>
            </a:r>
            <a:endParaRPr lang="en-US" sz="924" dirty="0"/>
          </a:p>
        </p:txBody>
      </p:sp>
      <p:sp>
        <p:nvSpPr>
          <p:cNvPr id="30" name="Text 25"/>
          <p:cNvSpPr/>
          <p:nvPr/>
        </p:nvSpPr>
        <p:spPr>
          <a:xfrm>
            <a:off x="9107058" y="6864949"/>
            <a:ext cx="184831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24" spc="63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24" dirty="0"/>
          </a:p>
        </p:txBody>
      </p:sp>
      <p:sp>
        <p:nvSpPr>
          <p:cNvPr id="31" name="Text 26"/>
          <p:cNvSpPr/>
          <p:nvPr/>
        </p:nvSpPr>
        <p:spPr>
          <a:xfrm>
            <a:off x="5250210" y="7116409"/>
            <a:ext cx="366131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90" spc="6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副图</a:t>
            </a:r>
            <a:endParaRPr lang="en-US" sz="990" dirty="0"/>
          </a:p>
        </p:txBody>
      </p:sp>
      <p:sp>
        <p:nvSpPr>
          <p:cNvPr id="32" name="Text 27"/>
          <p:cNvSpPr/>
          <p:nvPr/>
        </p:nvSpPr>
        <p:spPr>
          <a:xfrm>
            <a:off x="5250210" y="7352599"/>
            <a:ext cx="640080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66"/>
              </a:lnSpc>
              <a:buNone/>
            </a:pPr>
            <a:r>
              <a:rPr lang="en-US" sz="108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指标概览</a:t>
            </a:r>
            <a:endParaRPr lang="en-US" sz="1080" dirty="0"/>
          </a:p>
        </p:txBody>
      </p:sp>
      <p:sp>
        <p:nvSpPr>
          <p:cNvPr id="33" name="Shape 28"/>
          <p:cNvSpPr/>
          <p:nvPr/>
        </p:nvSpPr>
        <p:spPr>
          <a:xfrm>
            <a:off x="9585930" y="6590629"/>
            <a:ext cx="4130070" cy="9379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9585930" y="6590629"/>
            <a:ext cx="4130070" cy="34779"/>
          </a:xfrm>
          <a:prstGeom prst="rect">
            <a:avLst/>
          </a:prstGeom>
          <a:solidFill>
            <a:srgbClr val="F3F2EE">
              <a:alpha val="5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9585930" y="6720108"/>
            <a:ext cx="1271016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-22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Trace</a:t>
            </a:r>
            <a:endParaRPr lang="en-US" sz="1800" dirty="0"/>
          </a:p>
        </p:txBody>
      </p:sp>
      <p:sp>
        <p:nvSpPr>
          <p:cNvPr id="36" name="Text 31"/>
          <p:cNvSpPr/>
          <p:nvPr/>
        </p:nvSpPr>
        <p:spPr>
          <a:xfrm>
            <a:off x="12426330" y="6796369"/>
            <a:ext cx="1163966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24" spc="63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非原型 · 真实运行</a:t>
            </a:r>
            <a:endParaRPr lang="en-US" sz="924" dirty="0"/>
          </a:p>
        </p:txBody>
      </p:sp>
      <p:sp>
        <p:nvSpPr>
          <p:cNvPr id="37" name="Text 32"/>
          <p:cNvSpPr/>
          <p:nvPr/>
        </p:nvSpPr>
        <p:spPr>
          <a:xfrm>
            <a:off x="13442869" y="6796369"/>
            <a:ext cx="184831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24" spc="63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24" dirty="0"/>
          </a:p>
        </p:txBody>
      </p:sp>
      <p:sp>
        <p:nvSpPr>
          <p:cNvPr id="38" name="Text 33"/>
          <p:cNvSpPr/>
          <p:nvPr/>
        </p:nvSpPr>
        <p:spPr>
          <a:xfrm>
            <a:off x="9585930" y="7024969"/>
            <a:ext cx="366131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90" spc="6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证据</a:t>
            </a:r>
            <a:endParaRPr lang="en-US" sz="990" dirty="0"/>
          </a:p>
        </p:txBody>
      </p:sp>
      <p:sp>
        <p:nvSpPr>
          <p:cNvPr id="39" name="Text 34"/>
          <p:cNvSpPr/>
          <p:nvPr/>
        </p:nvSpPr>
        <p:spPr>
          <a:xfrm>
            <a:off x="9585930" y="7261159"/>
            <a:ext cx="777240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66"/>
              </a:lnSpc>
              <a:buNone/>
            </a:pPr>
            <a:r>
              <a:rPr lang="en-US" sz="108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全链路留痕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018093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002228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评测体系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1461090" y="720090"/>
            <a:ext cx="2716545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ECO-SQL-BENCH V1.1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456952"/>
            <a:ext cx="12893040" cy="537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题 · 冻结基线</a:t>
            </a:r>
            <a:endParaRPr lang="en-US" sz="3720" dirty="0"/>
          </a:p>
        </p:txBody>
      </p:sp>
      <p:sp>
        <p:nvSpPr>
          <p:cNvPr id="10" name="Shape 8"/>
          <p:cNvSpPr/>
          <p:nvPr/>
        </p:nvSpPr>
        <p:spPr>
          <a:xfrm>
            <a:off x="914400" y="2125614"/>
            <a:ext cx="12801600" cy="7543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856808"/>
            <a:ext cx="12801600" cy="23186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514234"/>
            <a:ext cx="1228628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6" spc="95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唯一正式指标</a:t>
            </a:r>
            <a:endParaRPr lang="en-US" sz="1386" dirty="0"/>
          </a:p>
        </p:txBody>
      </p:sp>
      <p:sp>
        <p:nvSpPr>
          <p:cNvPr id="13" name="Text 11"/>
          <p:cNvSpPr/>
          <p:nvPr/>
        </p:nvSpPr>
        <p:spPr>
          <a:xfrm>
            <a:off x="3764310" y="2217054"/>
            <a:ext cx="1569385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spc="-25" kern="0" dirty="0">
                <a:solidFill>
                  <a:srgbClr val="6E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2040" dirty="0"/>
          </a:p>
        </p:txBody>
      </p:sp>
      <p:sp>
        <p:nvSpPr>
          <p:cNvPr id="14" name="Text 12"/>
          <p:cNvSpPr/>
          <p:nvPr/>
        </p:nvSpPr>
        <p:spPr>
          <a:xfrm>
            <a:off x="3764310" y="2544684"/>
            <a:ext cx="3592628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spc="86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EASY 25·MED 30·HARD 30·EXTRA 15</a:t>
            </a:r>
            <a:endParaRPr lang="en-US" sz="1254" dirty="0"/>
          </a:p>
        </p:txBody>
      </p:sp>
      <p:sp>
        <p:nvSpPr>
          <p:cNvPr id="15" name="Text 13"/>
          <p:cNvSpPr/>
          <p:nvPr/>
        </p:nvSpPr>
        <p:spPr>
          <a:xfrm>
            <a:off x="7086600" y="2195886"/>
            <a:ext cx="1283360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spc="-25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Gold 审核</a:t>
            </a:r>
            <a:endParaRPr lang="en-US" sz="2040" dirty="0"/>
          </a:p>
        </p:txBody>
      </p:sp>
      <p:sp>
        <p:nvSpPr>
          <p:cNvPr id="16" name="Text 14"/>
          <p:cNvSpPr/>
          <p:nvPr/>
        </p:nvSpPr>
        <p:spPr>
          <a:xfrm>
            <a:off x="7086600" y="2544684"/>
            <a:ext cx="1680410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spc="86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100/100 重算一致</a:t>
            </a:r>
            <a:endParaRPr lang="en-US" sz="1254" dirty="0"/>
          </a:p>
        </p:txBody>
      </p:sp>
      <p:sp>
        <p:nvSpPr>
          <p:cNvPr id="17" name="Text 15"/>
          <p:cNvSpPr/>
          <p:nvPr/>
        </p:nvSpPr>
        <p:spPr>
          <a:xfrm>
            <a:off x="10408890" y="2195886"/>
            <a:ext cx="1373977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spc="-25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归一化判定</a:t>
            </a:r>
            <a:endParaRPr lang="en-US" sz="2040" dirty="0"/>
          </a:p>
        </p:txBody>
      </p:sp>
      <p:sp>
        <p:nvSpPr>
          <p:cNvPr id="18" name="Text 16"/>
          <p:cNvSpPr/>
          <p:nvPr/>
        </p:nvSpPr>
        <p:spPr>
          <a:xfrm>
            <a:off x="10408890" y="2544684"/>
            <a:ext cx="1293956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spc="86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评测链唯一权威</a:t>
            </a:r>
            <a:endParaRPr lang="en-US" sz="1254" dirty="0"/>
          </a:p>
        </p:txBody>
      </p:sp>
      <p:sp>
        <p:nvSpPr>
          <p:cNvPr id="19" name="Shape 17"/>
          <p:cNvSpPr/>
          <p:nvPr/>
        </p:nvSpPr>
        <p:spPr>
          <a:xfrm>
            <a:off x="914400" y="2879994"/>
            <a:ext cx="1280160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3691361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3074304"/>
            <a:ext cx="685038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90.0%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51560" y="3302904"/>
            <a:ext cx="120135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执行准确率</a:t>
            </a:r>
            <a:endParaRPr lang="en-US" sz="1188" dirty="0"/>
          </a:p>
        </p:txBody>
      </p:sp>
      <p:sp>
        <p:nvSpPr>
          <p:cNvPr id="23" name="Shape 21"/>
          <p:cNvSpPr/>
          <p:nvPr/>
        </p:nvSpPr>
        <p:spPr>
          <a:xfrm>
            <a:off x="3627150" y="2879994"/>
            <a:ext cx="3307110" cy="815370"/>
          </a:xfrm>
          <a:prstGeom prst="rect">
            <a:avLst/>
          </a:prstGeom>
          <a:solidFill>
            <a:srgbClr val="2742EC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8575" dir="16200000">
              <a:srgbClr val="6E85FF">
                <a:alpha val="7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764310" y="3135295"/>
            <a:ext cx="1138428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spc="-27" kern="0" dirty="0">
                <a:solidFill>
                  <a:srgbClr val="6E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90/100</a:t>
            </a:r>
            <a:endParaRPr lang="en-US" sz="2160" dirty="0"/>
          </a:p>
        </p:txBody>
      </p:sp>
      <p:sp>
        <p:nvSpPr>
          <p:cNvPr id="25" name="Text 23"/>
          <p:cNvSpPr/>
          <p:nvPr/>
        </p:nvSpPr>
        <p:spPr>
          <a:xfrm>
            <a:off x="4761281" y="3226735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188" dirty="0"/>
          </a:p>
        </p:txBody>
      </p:sp>
      <p:sp>
        <p:nvSpPr>
          <p:cNvPr id="26" name="Text 24"/>
          <p:cNvSpPr/>
          <p:nvPr/>
        </p:nvSpPr>
        <p:spPr>
          <a:xfrm>
            <a:off x="7086600" y="3135295"/>
            <a:ext cx="1678838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spc="-27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86.67 Hard</a:t>
            </a:r>
            <a:endParaRPr lang="en-US" sz="2160" dirty="0"/>
          </a:p>
        </p:txBody>
      </p:sp>
      <p:sp>
        <p:nvSpPr>
          <p:cNvPr id="27" name="Text 25"/>
          <p:cNvSpPr/>
          <p:nvPr/>
        </p:nvSpPr>
        <p:spPr>
          <a:xfrm>
            <a:off x="8621329" y="3226735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188" dirty="0"/>
          </a:p>
        </p:txBody>
      </p:sp>
      <p:sp>
        <p:nvSpPr>
          <p:cNvPr id="28" name="Text 26"/>
          <p:cNvSpPr/>
          <p:nvPr/>
        </p:nvSpPr>
        <p:spPr>
          <a:xfrm>
            <a:off x="10408890" y="3135295"/>
            <a:ext cx="1327709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spc="-27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Extra</a:t>
            </a:r>
            <a:endParaRPr lang="en-US" sz="2160" dirty="0"/>
          </a:p>
        </p:txBody>
      </p:sp>
      <p:sp>
        <p:nvSpPr>
          <p:cNvPr id="29" name="Text 27"/>
          <p:cNvSpPr/>
          <p:nvPr/>
        </p:nvSpPr>
        <p:spPr>
          <a:xfrm>
            <a:off x="11590934" y="3226735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188" dirty="0"/>
          </a:p>
        </p:txBody>
      </p:sp>
      <p:sp>
        <p:nvSpPr>
          <p:cNvPr id="30" name="Shape 28"/>
          <p:cNvSpPr/>
          <p:nvPr/>
        </p:nvSpPr>
        <p:spPr>
          <a:xfrm>
            <a:off x="914400" y="3702954"/>
            <a:ext cx="12801600" cy="823051"/>
          </a:xfrm>
          <a:prstGeom prst="rect">
            <a:avLst/>
          </a:prstGeom>
          <a:solidFill>
            <a:srgbClr val="161513">
              <a:alpha val="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" y="4514413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3897264"/>
            <a:ext cx="685038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99.0%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51560" y="4125864"/>
            <a:ext cx="1430476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 执行成功率</a:t>
            </a:r>
            <a:endParaRPr lang="en-US" sz="1188" dirty="0"/>
          </a:p>
        </p:txBody>
      </p:sp>
      <p:sp>
        <p:nvSpPr>
          <p:cNvPr id="34" name="Shape 32"/>
          <p:cNvSpPr/>
          <p:nvPr/>
        </p:nvSpPr>
        <p:spPr>
          <a:xfrm>
            <a:off x="3627150" y="3702954"/>
            <a:ext cx="3307110" cy="815462"/>
          </a:xfrm>
          <a:prstGeom prst="rect">
            <a:avLst/>
          </a:prstGeom>
          <a:solidFill>
            <a:srgbClr val="2742EC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8575" dir="16200000">
              <a:srgbClr val="6E85FF">
                <a:alpha val="7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764310" y="3992545"/>
            <a:ext cx="909828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99/100</a:t>
            </a:r>
            <a:endParaRPr lang="en-US" sz="1680" dirty="0"/>
          </a:p>
        </p:txBody>
      </p:sp>
      <p:sp>
        <p:nvSpPr>
          <p:cNvPr id="36" name="Text 34"/>
          <p:cNvSpPr/>
          <p:nvPr/>
        </p:nvSpPr>
        <p:spPr>
          <a:xfrm>
            <a:off x="4513570" y="4030584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188" dirty="0"/>
          </a:p>
        </p:txBody>
      </p:sp>
      <p:sp>
        <p:nvSpPr>
          <p:cNvPr id="37" name="Text 35"/>
          <p:cNvSpPr/>
          <p:nvPr/>
        </p:nvSpPr>
        <p:spPr>
          <a:xfrm>
            <a:off x="7086600" y="3992545"/>
            <a:ext cx="1076249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Easy</a:t>
            </a:r>
            <a:endParaRPr lang="en-US" sz="1680" dirty="0"/>
          </a:p>
        </p:txBody>
      </p:sp>
      <p:sp>
        <p:nvSpPr>
          <p:cNvPr id="38" name="Text 36"/>
          <p:cNvSpPr/>
          <p:nvPr/>
        </p:nvSpPr>
        <p:spPr>
          <a:xfrm>
            <a:off x="8052572" y="4030584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188" dirty="0"/>
          </a:p>
        </p:txBody>
      </p:sp>
      <p:sp>
        <p:nvSpPr>
          <p:cNvPr id="39" name="Text 37"/>
          <p:cNvSpPr/>
          <p:nvPr/>
        </p:nvSpPr>
        <p:spPr>
          <a:xfrm>
            <a:off x="10408890" y="3992545"/>
            <a:ext cx="1310945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93.3 Extra</a:t>
            </a:r>
            <a:endParaRPr lang="en-US" sz="1680" dirty="0"/>
          </a:p>
        </p:txBody>
      </p:sp>
      <p:sp>
        <p:nvSpPr>
          <p:cNvPr id="40" name="Text 38"/>
          <p:cNvSpPr/>
          <p:nvPr/>
        </p:nvSpPr>
        <p:spPr>
          <a:xfrm>
            <a:off x="11484864" y="4030584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188" dirty="0"/>
          </a:p>
        </p:txBody>
      </p:sp>
      <p:sp>
        <p:nvSpPr>
          <p:cNvPr id="41" name="Shape 39"/>
          <p:cNvSpPr/>
          <p:nvPr/>
        </p:nvSpPr>
        <p:spPr>
          <a:xfrm>
            <a:off x="914400" y="4526006"/>
            <a:ext cx="1280160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4400" y="5337373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51560" y="4720316"/>
            <a:ext cx="685038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90.0%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051560" y="4948916"/>
            <a:ext cx="148318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PASS@1 一次生成</a:t>
            </a:r>
            <a:endParaRPr lang="en-US" sz="1188" dirty="0"/>
          </a:p>
        </p:txBody>
      </p:sp>
      <p:sp>
        <p:nvSpPr>
          <p:cNvPr id="45" name="Shape 43"/>
          <p:cNvSpPr/>
          <p:nvPr/>
        </p:nvSpPr>
        <p:spPr>
          <a:xfrm>
            <a:off x="3627150" y="4526006"/>
            <a:ext cx="3307110" cy="815370"/>
          </a:xfrm>
          <a:prstGeom prst="rect">
            <a:avLst/>
          </a:prstGeom>
          <a:solidFill>
            <a:srgbClr val="2742EC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8575" dir="16200000">
              <a:srgbClr val="6E85FF">
                <a:alpha val="7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764310" y="4815596"/>
            <a:ext cx="909828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90/100</a:t>
            </a:r>
            <a:endParaRPr lang="en-US" sz="1680" dirty="0"/>
          </a:p>
        </p:txBody>
      </p:sp>
      <p:sp>
        <p:nvSpPr>
          <p:cNvPr id="47" name="Text 45"/>
          <p:cNvSpPr/>
          <p:nvPr/>
        </p:nvSpPr>
        <p:spPr>
          <a:xfrm>
            <a:off x="4513570" y="4853727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188" dirty="0"/>
          </a:p>
        </p:txBody>
      </p:sp>
      <p:sp>
        <p:nvSpPr>
          <p:cNvPr id="48" name="Text 46"/>
          <p:cNvSpPr/>
          <p:nvPr/>
        </p:nvSpPr>
        <p:spPr>
          <a:xfrm>
            <a:off x="7086600" y="4836033"/>
            <a:ext cx="725211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无重试</a:t>
            </a:r>
            <a:endParaRPr lang="en-US" sz="1680" dirty="0"/>
          </a:p>
        </p:txBody>
      </p:sp>
      <p:sp>
        <p:nvSpPr>
          <p:cNvPr id="49" name="Text 47"/>
          <p:cNvSpPr/>
          <p:nvPr/>
        </p:nvSpPr>
        <p:spPr>
          <a:xfrm>
            <a:off x="7773680" y="4872746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188" dirty="0"/>
          </a:p>
        </p:txBody>
      </p:sp>
      <p:sp>
        <p:nvSpPr>
          <p:cNvPr id="50" name="Text 48"/>
          <p:cNvSpPr/>
          <p:nvPr/>
        </p:nvSpPr>
        <p:spPr>
          <a:xfrm>
            <a:off x="10408890" y="4836033"/>
            <a:ext cx="936437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直接通过</a:t>
            </a:r>
            <a:endParaRPr lang="en-US" sz="1680" dirty="0"/>
          </a:p>
        </p:txBody>
      </p:sp>
      <p:sp>
        <p:nvSpPr>
          <p:cNvPr id="51" name="Text 49"/>
          <p:cNvSpPr/>
          <p:nvPr/>
        </p:nvSpPr>
        <p:spPr>
          <a:xfrm>
            <a:off x="11307288" y="4872746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188" dirty="0"/>
          </a:p>
        </p:txBody>
      </p:sp>
      <p:sp>
        <p:nvSpPr>
          <p:cNvPr id="52" name="Shape 50"/>
          <p:cNvSpPr/>
          <p:nvPr/>
        </p:nvSpPr>
        <p:spPr>
          <a:xfrm>
            <a:off x="914400" y="5348966"/>
            <a:ext cx="12801600" cy="823051"/>
          </a:xfrm>
          <a:prstGeom prst="rect">
            <a:avLst/>
          </a:prstGeom>
          <a:solidFill>
            <a:srgbClr val="161513">
              <a:alpha val="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14400" y="6160424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1560" y="5543276"/>
            <a:ext cx="231648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1051560" y="5771876"/>
            <a:ext cx="1400198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 失败</a:t>
            </a:r>
            <a:endParaRPr lang="en-US" sz="1188" dirty="0"/>
          </a:p>
        </p:txBody>
      </p:sp>
      <p:sp>
        <p:nvSpPr>
          <p:cNvPr id="56" name="Shape 54"/>
          <p:cNvSpPr/>
          <p:nvPr/>
        </p:nvSpPr>
        <p:spPr>
          <a:xfrm>
            <a:off x="3627150" y="5348966"/>
            <a:ext cx="3307110" cy="815462"/>
          </a:xfrm>
          <a:prstGeom prst="rect">
            <a:avLst/>
          </a:prstGeom>
          <a:solidFill>
            <a:srgbClr val="2742EC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8575" dir="16200000">
              <a:srgbClr val="6E85FF">
                <a:alpha val="7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3764310" y="5662971"/>
            <a:ext cx="63108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16"/>
              </a:lnSpc>
              <a:buNone/>
            </a:pPr>
            <a:r>
              <a:rPr lang="en-US" sz="132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0/100</a:t>
            </a:r>
            <a:endParaRPr lang="en-US" sz="1320" dirty="0"/>
          </a:p>
        </p:txBody>
      </p:sp>
      <p:sp>
        <p:nvSpPr>
          <p:cNvPr id="58" name="Text 56"/>
          <p:cNvSpPr/>
          <p:nvPr/>
        </p:nvSpPr>
        <p:spPr>
          <a:xfrm>
            <a:off x="7086600" y="5662971"/>
            <a:ext cx="93116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16"/>
              </a:lnSpc>
              <a:buNone/>
            </a:pPr>
            <a:r>
              <a:rPr lang="en-US" sz="132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 0</a:t>
            </a:r>
            <a:endParaRPr lang="en-US" sz="1320" dirty="0"/>
          </a:p>
        </p:txBody>
      </p:sp>
      <p:sp>
        <p:nvSpPr>
          <p:cNvPr id="59" name="Text 57"/>
          <p:cNvSpPr/>
          <p:nvPr/>
        </p:nvSpPr>
        <p:spPr>
          <a:xfrm>
            <a:off x="10408890" y="5662971"/>
            <a:ext cx="5943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16"/>
              </a:lnSpc>
              <a:buNone/>
            </a:pPr>
            <a:r>
              <a:rPr lang="en-US" sz="13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无异常</a:t>
            </a:r>
            <a:endParaRPr lang="en-US" sz="1320" dirty="0"/>
          </a:p>
        </p:txBody>
      </p:sp>
      <p:sp>
        <p:nvSpPr>
          <p:cNvPr id="60" name="Text 58"/>
          <p:cNvSpPr/>
          <p:nvPr/>
        </p:nvSpPr>
        <p:spPr>
          <a:xfrm>
            <a:off x="1051560" y="6366419"/>
            <a:ext cx="685038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10.9s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1051560" y="6595019"/>
            <a:ext cx="743099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平均延迟</a:t>
            </a:r>
            <a:endParaRPr lang="en-US" sz="1188" dirty="0"/>
          </a:p>
        </p:txBody>
      </p:sp>
      <p:sp>
        <p:nvSpPr>
          <p:cNvPr id="62" name="Shape 60"/>
          <p:cNvSpPr/>
          <p:nvPr/>
        </p:nvSpPr>
        <p:spPr>
          <a:xfrm>
            <a:off x="3627150" y="6172109"/>
            <a:ext cx="3307110" cy="815462"/>
          </a:xfrm>
          <a:prstGeom prst="rect">
            <a:avLst/>
          </a:prstGeom>
          <a:solidFill>
            <a:srgbClr val="2742EC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8575" dir="16200000">
              <a:srgbClr val="6E85FF">
                <a:alpha val="70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3764310" y="6461608"/>
            <a:ext cx="1114654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P50 10.5</a:t>
            </a:r>
            <a:endParaRPr lang="en-US" sz="1680" dirty="0"/>
          </a:p>
        </p:txBody>
      </p:sp>
      <p:sp>
        <p:nvSpPr>
          <p:cNvPr id="64" name="Text 62"/>
          <p:cNvSpPr/>
          <p:nvPr/>
        </p:nvSpPr>
        <p:spPr>
          <a:xfrm>
            <a:off x="4699742" y="6499738"/>
            <a:ext cx="206289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188" dirty="0"/>
          </a:p>
        </p:txBody>
      </p:sp>
      <p:sp>
        <p:nvSpPr>
          <p:cNvPr id="65" name="Text 63"/>
          <p:cNvSpPr/>
          <p:nvPr/>
        </p:nvSpPr>
        <p:spPr>
          <a:xfrm>
            <a:off x="7086600" y="6461608"/>
            <a:ext cx="1114654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 15.4</a:t>
            </a:r>
            <a:endParaRPr lang="en-US" sz="1680" dirty="0"/>
          </a:p>
        </p:txBody>
      </p:sp>
      <p:sp>
        <p:nvSpPr>
          <p:cNvPr id="66" name="Text 64"/>
          <p:cNvSpPr/>
          <p:nvPr/>
        </p:nvSpPr>
        <p:spPr>
          <a:xfrm>
            <a:off x="8022031" y="6499738"/>
            <a:ext cx="206289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188" dirty="0"/>
          </a:p>
        </p:txBody>
      </p:sp>
      <p:sp>
        <p:nvSpPr>
          <p:cNvPr id="67" name="Text 65"/>
          <p:cNvSpPr/>
          <p:nvPr/>
        </p:nvSpPr>
        <p:spPr>
          <a:xfrm>
            <a:off x="10408890" y="6482136"/>
            <a:ext cx="972373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目标≤8s</a:t>
            </a:r>
            <a:endParaRPr lang="en-US" sz="1680" dirty="0"/>
          </a:p>
        </p:txBody>
      </p:sp>
      <p:sp>
        <p:nvSpPr>
          <p:cNvPr id="68" name="Text 66"/>
          <p:cNvSpPr/>
          <p:nvPr/>
        </p:nvSpPr>
        <p:spPr>
          <a:xfrm>
            <a:off x="11343223" y="6518758"/>
            <a:ext cx="206289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188" dirty="0"/>
          </a:p>
        </p:txBody>
      </p:sp>
      <p:sp>
        <p:nvSpPr>
          <p:cNvPr id="69" name="Shape 67"/>
          <p:cNvSpPr/>
          <p:nvPr/>
        </p:nvSpPr>
        <p:spPr>
          <a:xfrm>
            <a:off x="914400" y="7124730"/>
            <a:ext cx="12801600" cy="4038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14400" y="7124730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14400" y="7254210"/>
            <a:ext cx="95422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锁定口径</a:t>
            </a:r>
            <a:endParaRPr lang="en-US" sz="1584" dirty="0"/>
          </a:p>
        </p:txBody>
      </p:sp>
      <p:sp>
        <p:nvSpPr>
          <p:cNvPr id="72" name="Text 70"/>
          <p:cNvSpPr/>
          <p:nvPr/>
        </p:nvSpPr>
        <p:spPr>
          <a:xfrm>
            <a:off x="1826971" y="7258782"/>
            <a:ext cx="6071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 / Prompt V1.3 / FEWSHOT_V3(23) / dev-2026-09-14 / Mimo V2.5 Pro</a:t>
            </a:r>
            <a:endParaRPr lang="en-US" sz="1440" dirty="0"/>
          </a:p>
        </p:txBody>
      </p:sp>
      <p:pic>
        <p:nvPicPr>
          <p:cNvPr id="7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30200" y="975390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018093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002228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评测结果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1857939" y="720090"/>
            <a:ext cx="208785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难度分层 EX 准确率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426503"/>
            <a:ext cx="12893040" cy="537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评测结果</a:t>
            </a:r>
            <a:endParaRPr lang="en-US" sz="3720" dirty="0"/>
          </a:p>
        </p:txBody>
      </p:sp>
      <p:sp>
        <p:nvSpPr>
          <p:cNvPr id="10" name="Shape 8"/>
          <p:cNvSpPr/>
          <p:nvPr/>
        </p:nvSpPr>
        <p:spPr>
          <a:xfrm>
            <a:off x="914400" y="3018160"/>
            <a:ext cx="7985730" cy="78483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791397"/>
            <a:ext cx="798573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85770"/>
            <a:ext cx="633222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3193359"/>
            <a:ext cx="933259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/ 25</a:t>
            </a:r>
            <a:endParaRPr lang="en-US" sz="1452" dirty="0"/>
          </a:p>
        </p:txBody>
      </p:sp>
      <p:sp>
        <p:nvSpPr>
          <p:cNvPr id="14" name="Text 12"/>
          <p:cNvSpPr/>
          <p:nvPr/>
        </p:nvSpPr>
        <p:spPr>
          <a:xfrm>
            <a:off x="7307610" y="3155320"/>
            <a:ext cx="607162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6E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2040" dirty="0"/>
          </a:p>
        </p:txBody>
      </p:sp>
      <p:sp>
        <p:nvSpPr>
          <p:cNvPr id="15" name="Text 13"/>
          <p:cNvSpPr/>
          <p:nvPr/>
        </p:nvSpPr>
        <p:spPr>
          <a:xfrm>
            <a:off x="7787670" y="3239079"/>
            <a:ext cx="25905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8532453" y="3193359"/>
            <a:ext cx="367768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452" spc="9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452" dirty="0"/>
          </a:p>
        </p:txBody>
      </p:sp>
      <p:sp>
        <p:nvSpPr>
          <p:cNvPr id="17" name="Shape 15"/>
          <p:cNvSpPr/>
          <p:nvPr/>
        </p:nvSpPr>
        <p:spPr>
          <a:xfrm>
            <a:off x="914400" y="3536259"/>
            <a:ext cx="7985730" cy="121890"/>
          </a:xfrm>
          <a:prstGeom prst="rect">
            <a:avLst/>
          </a:prstGeom>
          <a:solidFill>
            <a:srgbClr val="161513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536259"/>
            <a:ext cx="7985730" cy="121890"/>
          </a:xfrm>
          <a:prstGeom prst="rect">
            <a:avLst/>
          </a:prstGeom>
          <a:solidFill>
            <a:srgbClr val="6E8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802990"/>
            <a:ext cx="7985730" cy="78483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576226"/>
            <a:ext cx="7985730" cy="11593"/>
          </a:xfrm>
          <a:prstGeom prst="rect">
            <a:avLst/>
          </a:prstGeom>
          <a:solidFill>
            <a:srgbClr val="F3F2EE">
              <a:alpha val="5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970599"/>
            <a:ext cx="96771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897380" y="3978280"/>
            <a:ext cx="933259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/ 30</a:t>
            </a:r>
            <a:endParaRPr lang="en-US" sz="1452" dirty="0"/>
          </a:p>
        </p:txBody>
      </p:sp>
      <p:sp>
        <p:nvSpPr>
          <p:cNvPr id="23" name="Text 21"/>
          <p:cNvSpPr/>
          <p:nvPr/>
        </p:nvSpPr>
        <p:spPr>
          <a:xfrm>
            <a:off x="7307610" y="3940150"/>
            <a:ext cx="607162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2040" dirty="0"/>
          </a:p>
        </p:txBody>
      </p:sp>
      <p:sp>
        <p:nvSpPr>
          <p:cNvPr id="24" name="Text 22"/>
          <p:cNvSpPr/>
          <p:nvPr/>
        </p:nvSpPr>
        <p:spPr>
          <a:xfrm>
            <a:off x="7787670" y="4024000"/>
            <a:ext cx="25905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8532453" y="3978280"/>
            <a:ext cx="367768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452" spc="9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52" dirty="0"/>
          </a:p>
        </p:txBody>
      </p:sp>
      <p:sp>
        <p:nvSpPr>
          <p:cNvPr id="26" name="Shape 24"/>
          <p:cNvSpPr/>
          <p:nvPr/>
        </p:nvSpPr>
        <p:spPr>
          <a:xfrm>
            <a:off x="914400" y="4321180"/>
            <a:ext cx="7985730" cy="121890"/>
          </a:xfrm>
          <a:prstGeom prst="rect">
            <a:avLst/>
          </a:prstGeom>
          <a:solidFill>
            <a:srgbClr val="161513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4321180"/>
            <a:ext cx="7985730" cy="121890"/>
          </a:xfrm>
          <a:prstGeom prst="rect">
            <a:avLst/>
          </a:prstGeom>
          <a:solidFill>
            <a:srgbClr val="A9A7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4587819"/>
            <a:ext cx="7985730" cy="78483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5361056"/>
            <a:ext cx="7985730" cy="11593"/>
          </a:xfrm>
          <a:prstGeom prst="rect">
            <a:avLst/>
          </a:prstGeom>
          <a:solidFill>
            <a:srgbClr val="F3F2EE">
              <a:alpha val="5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755520"/>
            <a:ext cx="633222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546890" y="4763110"/>
            <a:ext cx="933259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/ 30</a:t>
            </a:r>
            <a:endParaRPr lang="en-US" sz="1452" dirty="0"/>
          </a:p>
        </p:txBody>
      </p:sp>
      <p:sp>
        <p:nvSpPr>
          <p:cNvPr id="32" name="Text 30"/>
          <p:cNvSpPr/>
          <p:nvPr/>
        </p:nvSpPr>
        <p:spPr>
          <a:xfrm>
            <a:off x="7063740" y="4724979"/>
            <a:ext cx="915467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86.67</a:t>
            </a:r>
            <a:endParaRPr lang="en-US" sz="2040" dirty="0"/>
          </a:p>
        </p:txBody>
      </p:sp>
      <p:sp>
        <p:nvSpPr>
          <p:cNvPr id="33" name="Text 31"/>
          <p:cNvSpPr/>
          <p:nvPr/>
        </p:nvSpPr>
        <p:spPr>
          <a:xfrm>
            <a:off x="7787670" y="4808830"/>
            <a:ext cx="25905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8532453" y="4763110"/>
            <a:ext cx="367768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452" spc="9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52" dirty="0"/>
          </a:p>
        </p:txBody>
      </p:sp>
      <p:sp>
        <p:nvSpPr>
          <p:cNvPr id="35" name="Shape 33"/>
          <p:cNvSpPr/>
          <p:nvPr/>
        </p:nvSpPr>
        <p:spPr>
          <a:xfrm>
            <a:off x="914400" y="5106010"/>
            <a:ext cx="7985730" cy="121890"/>
          </a:xfrm>
          <a:prstGeom prst="rect">
            <a:avLst/>
          </a:prstGeom>
          <a:solidFill>
            <a:srgbClr val="161513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4400" y="5106010"/>
            <a:ext cx="6921185" cy="121890"/>
          </a:xfrm>
          <a:prstGeom prst="rect">
            <a:avLst/>
          </a:prstGeom>
          <a:solidFill>
            <a:srgbClr val="84827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4400" y="5372740"/>
            <a:ext cx="7985730" cy="78483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4400" y="6145977"/>
            <a:ext cx="7985730" cy="11593"/>
          </a:xfrm>
          <a:prstGeom prst="rect">
            <a:avLst/>
          </a:prstGeom>
          <a:solidFill>
            <a:srgbClr val="F3F2EE">
              <a:alpha val="5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5540350"/>
            <a:ext cx="1355598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Hard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2164110" y="5547939"/>
            <a:ext cx="793238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15</a:t>
            </a:r>
            <a:endParaRPr lang="en-US" sz="1452" dirty="0"/>
          </a:p>
        </p:txBody>
      </p:sp>
      <p:sp>
        <p:nvSpPr>
          <p:cNvPr id="41" name="Text 39"/>
          <p:cNvSpPr/>
          <p:nvPr/>
        </p:nvSpPr>
        <p:spPr>
          <a:xfrm>
            <a:off x="7467630" y="5509900"/>
            <a:ext cx="441350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2040" dirty="0"/>
          </a:p>
        </p:txBody>
      </p:sp>
      <p:sp>
        <p:nvSpPr>
          <p:cNvPr id="42" name="Text 40"/>
          <p:cNvSpPr/>
          <p:nvPr/>
        </p:nvSpPr>
        <p:spPr>
          <a:xfrm>
            <a:off x="7787670" y="5593659"/>
            <a:ext cx="25905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320" dirty="0"/>
          </a:p>
        </p:txBody>
      </p:sp>
      <p:sp>
        <p:nvSpPr>
          <p:cNvPr id="43" name="Text 41"/>
          <p:cNvSpPr/>
          <p:nvPr/>
        </p:nvSpPr>
        <p:spPr>
          <a:xfrm>
            <a:off x="8532453" y="5547939"/>
            <a:ext cx="367768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452" spc="9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452" dirty="0"/>
          </a:p>
        </p:txBody>
      </p:sp>
      <p:sp>
        <p:nvSpPr>
          <p:cNvPr id="44" name="Shape 42"/>
          <p:cNvSpPr/>
          <p:nvPr/>
        </p:nvSpPr>
        <p:spPr>
          <a:xfrm>
            <a:off x="914400" y="5890839"/>
            <a:ext cx="7985730" cy="121890"/>
          </a:xfrm>
          <a:prstGeom prst="rect">
            <a:avLst/>
          </a:prstGeom>
          <a:solidFill>
            <a:srgbClr val="161513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4400" y="5890839"/>
            <a:ext cx="4791456" cy="121890"/>
          </a:xfrm>
          <a:prstGeom prst="rect">
            <a:avLst/>
          </a:prstGeom>
          <a:solidFill>
            <a:srgbClr val="605E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4400" y="6325179"/>
            <a:ext cx="7985730" cy="43278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4400" y="6325179"/>
            <a:ext cx="7985730" cy="23186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4400" y="6477610"/>
            <a:ext cx="51997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观察</a:t>
            </a:r>
            <a:endParaRPr lang="en-US" sz="1584" dirty="0"/>
          </a:p>
        </p:txBody>
      </p:sp>
      <p:sp>
        <p:nvSpPr>
          <p:cNvPr id="49" name="Text 47"/>
          <p:cNvSpPr/>
          <p:nvPr/>
        </p:nvSpPr>
        <p:spPr>
          <a:xfrm>
            <a:off x="1439357" y="6492880"/>
            <a:ext cx="44866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 / Medium 全对；Hard / Extra Hard 的 EX 有所下降</a:t>
            </a:r>
            <a:endParaRPr lang="en-US" sz="1440" dirty="0"/>
          </a:p>
        </p:txBody>
      </p:sp>
      <p:sp>
        <p:nvSpPr>
          <p:cNvPr id="50" name="Text 48"/>
          <p:cNvSpPr/>
          <p:nvPr/>
        </p:nvSpPr>
        <p:spPr>
          <a:xfrm>
            <a:off x="10353660" y="3763945"/>
            <a:ext cx="3035808" cy="2496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5480"/>
              </a:lnSpc>
              <a:buNone/>
            </a:pPr>
            <a:r>
              <a:rPr lang="en-US" sz="18000" b="1" spc="-200" kern="0" dirty="0">
                <a:solidFill>
                  <a:srgbClr val="6E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8000" dirty="0"/>
          </a:p>
        </p:txBody>
      </p:sp>
      <p:sp>
        <p:nvSpPr>
          <p:cNvPr id="51" name="Text 49"/>
          <p:cNvSpPr/>
          <p:nvPr/>
        </p:nvSpPr>
        <p:spPr>
          <a:xfrm>
            <a:off x="13374289" y="3940150"/>
            <a:ext cx="341711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2448"/>
              </a:lnSpc>
              <a:buNone/>
            </a:pPr>
            <a:r>
              <a:rPr lang="en-US" sz="2040" b="1" spc="-13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2040" dirty="0"/>
          </a:p>
        </p:txBody>
      </p:sp>
      <p:sp>
        <p:nvSpPr>
          <p:cNvPr id="52" name="Text 50"/>
          <p:cNvSpPr/>
          <p:nvPr/>
        </p:nvSpPr>
        <p:spPr>
          <a:xfrm>
            <a:off x="9357330" y="5747955"/>
            <a:ext cx="4358670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2448"/>
              </a:lnSpc>
              <a:buNone/>
            </a:pPr>
            <a:r>
              <a:rPr lang="en-US" sz="2040" b="1" spc="-13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 EX 90.00%</a:t>
            </a:r>
            <a:endParaRPr lang="en-US" sz="20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793778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926001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 CASE 分析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1094324" y="720090"/>
            <a:ext cx="276912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个失败样本 → 3 类机制</a:t>
            </a:r>
            <a:endParaRPr lang="en-US" sz="1584" dirty="0"/>
          </a:p>
        </p:txBody>
      </p:sp>
      <p:sp>
        <p:nvSpPr>
          <p:cNvPr id="9" name="Shape 7"/>
          <p:cNvSpPr/>
          <p:nvPr/>
        </p:nvSpPr>
        <p:spPr>
          <a:xfrm>
            <a:off x="914400" y="7216170"/>
            <a:ext cx="3404677" cy="312450"/>
          </a:xfrm>
          <a:prstGeom prst="rect">
            <a:avLst/>
          </a:prstGeom>
          <a:solidFill>
            <a:srgbClr val="C2F5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7216170"/>
            <a:ext cx="3709858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1615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E-0086 / E-0099 / 输出结构</a:t>
            </a:r>
            <a:endParaRPr lang="en-US" sz="1584" dirty="0"/>
          </a:p>
        </p:txBody>
      </p:sp>
      <p:sp>
        <p:nvSpPr>
          <p:cNvPr id="11" name="Text 9"/>
          <p:cNvSpPr/>
          <p:nvPr/>
        </p:nvSpPr>
        <p:spPr>
          <a:xfrm>
            <a:off x="5730270" y="1472223"/>
            <a:ext cx="5882610" cy="537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讲错误机制，而非堆 SQL</a:t>
            </a:r>
            <a:endParaRPr lang="en-US" sz="3720" dirty="0"/>
          </a:p>
        </p:txBody>
      </p:sp>
      <p:sp>
        <p:nvSpPr>
          <p:cNvPr id="12" name="Text 10"/>
          <p:cNvSpPr/>
          <p:nvPr/>
        </p:nvSpPr>
        <p:spPr>
          <a:xfrm>
            <a:off x="5730270" y="2178924"/>
            <a:ext cx="5911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Clean Baseline 最终 10 个 Bad Case 中归纳出 3 类代表性错误</a:t>
            </a:r>
            <a:endParaRPr lang="en-US" sz="1620" dirty="0"/>
          </a:p>
        </p:txBody>
      </p:sp>
      <p:sp>
        <p:nvSpPr>
          <p:cNvPr id="13" name="Text 11"/>
          <p:cNvSpPr/>
          <p:nvPr/>
        </p:nvSpPr>
        <p:spPr>
          <a:xfrm>
            <a:off x="5730270" y="2487534"/>
            <a:ext cx="504749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</a:t>
            </a:r>
            <a:endParaRPr lang="en-US" sz="1620" dirty="0"/>
          </a:p>
        </p:txBody>
      </p:sp>
      <p:sp>
        <p:nvSpPr>
          <p:cNvPr id="14" name="Shape 12"/>
          <p:cNvSpPr/>
          <p:nvPr/>
        </p:nvSpPr>
        <p:spPr>
          <a:xfrm>
            <a:off x="5749290" y="3078145"/>
            <a:ext cx="83850" cy="83850"/>
          </a:xfrm>
          <a:prstGeom prst="ellipse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83580" y="3161904"/>
            <a:ext cx="15270" cy="630936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19770" y="3055285"/>
            <a:ext cx="98412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E-0086</a:t>
            </a:r>
            <a:endParaRPr lang="en-US" sz="1584" dirty="0"/>
          </a:p>
        </p:txBody>
      </p:sp>
      <p:sp>
        <p:nvSpPr>
          <p:cNvPr id="17" name="Text 15"/>
          <p:cNvSpPr/>
          <p:nvPr/>
        </p:nvSpPr>
        <p:spPr>
          <a:xfrm>
            <a:off x="6878117" y="3071881"/>
            <a:ext cx="1428293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Fan-out 粒度</a:t>
            </a:r>
            <a:endParaRPr lang="en-US" sz="1680" dirty="0"/>
          </a:p>
        </p:txBody>
      </p:sp>
      <p:sp>
        <p:nvSpPr>
          <p:cNvPr id="18" name="Text 16"/>
          <p:cNvSpPr/>
          <p:nvPr/>
        </p:nvSpPr>
        <p:spPr>
          <a:xfrm>
            <a:off x="6019770" y="3390504"/>
            <a:ext cx="329184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orders×order_items 金额放大 4.14×</a:t>
            </a:r>
            <a:endParaRPr lang="en-US" sz="1440" dirty="0"/>
          </a:p>
        </p:txBody>
      </p:sp>
      <p:sp>
        <p:nvSpPr>
          <p:cNvPr id="19" name="Shape 17"/>
          <p:cNvSpPr/>
          <p:nvPr/>
        </p:nvSpPr>
        <p:spPr>
          <a:xfrm>
            <a:off x="5749290" y="3853830"/>
            <a:ext cx="83850" cy="83850"/>
          </a:xfrm>
          <a:prstGeom prst="ellipse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83580" y="3937589"/>
            <a:ext cx="15270" cy="630936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19770" y="3830970"/>
            <a:ext cx="98412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E-0099</a:t>
            </a:r>
            <a:endParaRPr lang="en-US" sz="1584" dirty="0"/>
          </a:p>
        </p:txBody>
      </p:sp>
      <p:sp>
        <p:nvSpPr>
          <p:cNvPr id="22" name="Text 20"/>
          <p:cNvSpPr/>
          <p:nvPr/>
        </p:nvSpPr>
        <p:spPr>
          <a:xfrm>
            <a:off x="6878117" y="3847566"/>
            <a:ext cx="1251204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别名/列引用</a:t>
            </a:r>
            <a:endParaRPr lang="en-US" sz="1680" dirty="0"/>
          </a:p>
        </p:txBody>
      </p:sp>
      <p:sp>
        <p:nvSpPr>
          <p:cNvPr id="23" name="Text 21"/>
          <p:cNvSpPr/>
          <p:nvPr/>
        </p:nvSpPr>
        <p:spPr>
          <a:xfrm>
            <a:off x="6019770" y="4166189"/>
            <a:ext cx="432054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生成后执行报错→触发 Repair，但该样本修复仍失败</a:t>
            </a:r>
            <a:endParaRPr lang="en-US" sz="1440" dirty="0"/>
          </a:p>
        </p:txBody>
      </p:sp>
      <p:sp>
        <p:nvSpPr>
          <p:cNvPr id="24" name="Shape 22"/>
          <p:cNvSpPr/>
          <p:nvPr/>
        </p:nvSpPr>
        <p:spPr>
          <a:xfrm>
            <a:off x="5730270" y="4629516"/>
            <a:ext cx="121890" cy="121890"/>
          </a:xfrm>
          <a:prstGeom prst="ellipse">
            <a:avLst/>
          </a:prstGeom>
          <a:solidFill>
            <a:srgbClr val="6E8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83580" y="4751405"/>
            <a:ext cx="15270" cy="592806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19770" y="4606656"/>
            <a:ext cx="142426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E-0082/83</a:t>
            </a:r>
            <a:endParaRPr lang="en-US" sz="1584" dirty="0"/>
          </a:p>
        </p:txBody>
      </p:sp>
      <p:sp>
        <p:nvSpPr>
          <p:cNvPr id="27" name="Text 25"/>
          <p:cNvSpPr/>
          <p:nvPr/>
        </p:nvSpPr>
        <p:spPr>
          <a:xfrm>
            <a:off x="7254027" y="4623343"/>
            <a:ext cx="944850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输出结构</a:t>
            </a:r>
            <a:endParaRPr lang="en-US" sz="1680" dirty="0"/>
          </a:p>
        </p:txBody>
      </p:sp>
      <p:sp>
        <p:nvSpPr>
          <p:cNvPr id="28" name="Text 26"/>
          <p:cNvSpPr/>
          <p:nvPr/>
        </p:nvSpPr>
        <p:spPr>
          <a:xfrm>
            <a:off x="6019770" y="4941966"/>
            <a:ext cx="283464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数值正确但缺列，需规范输出形状</a:t>
            </a:r>
            <a:endParaRPr lang="en-US" sz="1440" dirty="0"/>
          </a:p>
        </p:txBody>
      </p:sp>
      <p:sp>
        <p:nvSpPr>
          <p:cNvPr id="29" name="Shape 27"/>
          <p:cNvSpPr/>
          <p:nvPr/>
        </p:nvSpPr>
        <p:spPr>
          <a:xfrm>
            <a:off x="5749290" y="5405201"/>
            <a:ext cx="83850" cy="83850"/>
          </a:xfrm>
          <a:prstGeom prst="ellipse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19770" y="5382341"/>
            <a:ext cx="51997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改进</a:t>
            </a:r>
            <a:endParaRPr lang="en-US" sz="1584" dirty="0"/>
          </a:p>
        </p:txBody>
      </p:sp>
      <p:sp>
        <p:nvSpPr>
          <p:cNvPr id="31" name="Text 29"/>
          <p:cNvSpPr/>
          <p:nvPr/>
        </p:nvSpPr>
        <p:spPr>
          <a:xfrm>
            <a:off x="6514277" y="5399029"/>
            <a:ext cx="1623060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示例库+Prompt</a:t>
            </a:r>
            <a:endParaRPr lang="en-US" sz="1680" dirty="0"/>
          </a:p>
        </p:txBody>
      </p:sp>
      <p:sp>
        <p:nvSpPr>
          <p:cNvPr id="32" name="Text 30"/>
          <p:cNvSpPr/>
          <p:nvPr/>
        </p:nvSpPr>
        <p:spPr>
          <a:xfrm>
            <a:off x="6019770" y="5717652"/>
            <a:ext cx="1984248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bad case 沉淀反哺迭代</a:t>
            </a:r>
            <a:endParaRPr lang="en-US" sz="1440" dirty="0"/>
          </a:p>
        </p:txBody>
      </p:sp>
      <p:sp>
        <p:nvSpPr>
          <p:cNvPr id="33" name="Shape 31"/>
          <p:cNvSpPr/>
          <p:nvPr/>
        </p:nvSpPr>
        <p:spPr>
          <a:xfrm>
            <a:off x="5730270" y="6727058"/>
            <a:ext cx="7985730" cy="80156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30270" y="6727058"/>
            <a:ext cx="7985730" cy="23186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30270" y="6881189"/>
            <a:ext cx="8077170" cy="3260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52"/>
              </a:lnSpc>
              <a:buNone/>
            </a:pPr>
            <a:r>
              <a:rPr lang="en-US" sz="168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错误集中于复杂聚合、粒度与输出结构问题</a:t>
            </a:r>
            <a:endParaRPr lang="en-US" sz="1680" dirty="0"/>
          </a:p>
        </p:txBody>
      </p:sp>
      <p:sp>
        <p:nvSpPr>
          <p:cNvPr id="36" name="Text 34"/>
          <p:cNvSpPr/>
          <p:nvPr/>
        </p:nvSpPr>
        <p:spPr>
          <a:xfrm>
            <a:off x="5730270" y="7254210"/>
            <a:ext cx="336375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BASELINE V1.1 观察</a:t>
            </a:r>
            <a:endParaRPr lang="en-US" sz="1584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360000">
            <a:off x="12222510" y="1386870"/>
            <a:ext cx="1493490" cy="14934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207099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210986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E3 创新点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1711544" y="720090"/>
            <a:ext cx="234667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E-0086 · FAN-OUT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485900"/>
            <a:ext cx="1701607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一个案例讲清楚</a:t>
            </a:r>
            <a:endParaRPr lang="en-US" sz="1584" dirty="0"/>
          </a:p>
        </p:txBody>
      </p:sp>
      <p:sp>
        <p:nvSpPr>
          <p:cNvPr id="10" name="Text 8"/>
          <p:cNvSpPr/>
          <p:nvPr/>
        </p:nvSpPr>
        <p:spPr>
          <a:xfrm>
            <a:off x="914400" y="1958483"/>
            <a:ext cx="2079803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×</a:t>
            </a:r>
            <a:endParaRPr lang="en-US" sz="3720" dirty="0"/>
          </a:p>
        </p:txBody>
      </p:sp>
      <p:sp>
        <p:nvSpPr>
          <p:cNvPr id="11" name="Text 9"/>
          <p:cNvSpPr/>
          <p:nvPr/>
        </p:nvSpPr>
        <p:spPr>
          <a:xfrm>
            <a:off x="914400" y="2468627"/>
            <a:ext cx="2967990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order_items</a:t>
            </a:r>
            <a:endParaRPr lang="en-US" sz="3720" dirty="0"/>
          </a:p>
        </p:txBody>
      </p:sp>
      <p:sp>
        <p:nvSpPr>
          <p:cNvPr id="12" name="Text 10"/>
          <p:cNvSpPr/>
          <p:nvPr/>
        </p:nvSpPr>
        <p:spPr>
          <a:xfrm>
            <a:off x="3671133" y="2454843"/>
            <a:ext cx="2703424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 与真实</a:t>
            </a:r>
            <a:endParaRPr lang="en-US" sz="3720" dirty="0"/>
          </a:p>
        </p:txBody>
      </p:sp>
      <p:sp>
        <p:nvSpPr>
          <p:cNvPr id="13" name="Text 11"/>
          <p:cNvSpPr/>
          <p:nvPr/>
        </p:nvSpPr>
        <p:spPr>
          <a:xfrm>
            <a:off x="914400" y="2965079"/>
            <a:ext cx="1952884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结果对比</a:t>
            </a:r>
            <a:endParaRPr lang="en-US" sz="3720" dirty="0"/>
          </a:p>
        </p:txBody>
      </p:sp>
      <p:sp>
        <p:nvSpPr>
          <p:cNvPr id="14" name="Text 12"/>
          <p:cNvSpPr/>
          <p:nvPr/>
        </p:nvSpPr>
        <p:spPr>
          <a:xfrm>
            <a:off x="914400" y="3626053"/>
            <a:ext cx="5711982" cy="336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修正为真实口径（DB 直连验证）</a:t>
            </a:r>
            <a:endParaRPr lang="en-US" sz="1620" dirty="0"/>
          </a:p>
        </p:txBody>
      </p:sp>
      <p:sp>
        <p:nvSpPr>
          <p:cNvPr id="15" name="Shape 13"/>
          <p:cNvSpPr/>
          <p:nvPr/>
        </p:nvSpPr>
        <p:spPr>
          <a:xfrm>
            <a:off x="914400" y="4239433"/>
            <a:ext cx="1615196" cy="114135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18003" y="4239433"/>
            <a:ext cx="11593" cy="1141354"/>
          </a:xfrm>
          <a:prstGeom prst="rect">
            <a:avLst/>
          </a:prstGeom>
          <a:solidFill>
            <a:srgbClr val="F3F2EE">
              <a:alpha val="4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214927"/>
            <a:ext cx="1577797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212"/>
              </a:lnSpc>
              <a:buNone/>
            </a:pPr>
            <a:r>
              <a:rPr lang="en-US" sz="4680" b="1" spc="-175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4.14</a:t>
            </a:r>
            <a:endParaRPr lang="en-US" sz="4680" dirty="0"/>
          </a:p>
        </p:txBody>
      </p:sp>
      <p:sp>
        <p:nvSpPr>
          <p:cNvPr id="18" name="Text 16"/>
          <p:cNvSpPr/>
          <p:nvPr/>
        </p:nvSpPr>
        <p:spPr>
          <a:xfrm>
            <a:off x="2199406" y="4513753"/>
            <a:ext cx="21115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452" dirty="0"/>
          </a:p>
        </p:txBody>
      </p:sp>
      <p:sp>
        <p:nvSpPr>
          <p:cNvPr id="19" name="Text 17"/>
          <p:cNvSpPr/>
          <p:nvPr/>
        </p:nvSpPr>
        <p:spPr>
          <a:xfrm>
            <a:off x="914400" y="4880976"/>
            <a:ext cx="134115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订单×明细 粒度</a:t>
            </a:r>
            <a:endParaRPr lang="en-US" sz="1440" dirty="0"/>
          </a:p>
        </p:txBody>
      </p:sp>
      <p:sp>
        <p:nvSpPr>
          <p:cNvPr id="20" name="Text 18"/>
          <p:cNvSpPr/>
          <p:nvPr/>
        </p:nvSpPr>
        <p:spPr>
          <a:xfrm>
            <a:off x="914400" y="5146152"/>
            <a:ext cx="460858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</a:t>
            </a:r>
            <a:endParaRPr lang="en-US" sz="1440" dirty="0"/>
          </a:p>
        </p:txBody>
      </p:sp>
      <p:sp>
        <p:nvSpPr>
          <p:cNvPr id="21" name="Shape 19"/>
          <p:cNvSpPr/>
          <p:nvPr/>
        </p:nvSpPr>
        <p:spPr>
          <a:xfrm>
            <a:off x="2742926" y="4239433"/>
            <a:ext cx="3283885" cy="114135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15217" y="4239433"/>
            <a:ext cx="11593" cy="1141354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2926" y="4214927"/>
            <a:ext cx="3479749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212"/>
              </a:lnSpc>
              <a:buNone/>
            </a:pPr>
            <a:r>
              <a:rPr lang="en-US" sz="4680" b="1" spc="-175" kern="0" dirty="0">
                <a:solidFill>
                  <a:srgbClr val="6E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369854.65</a:t>
            </a:r>
            <a:endParaRPr lang="en-US" sz="4680" dirty="0"/>
          </a:p>
        </p:txBody>
      </p:sp>
      <p:sp>
        <p:nvSpPr>
          <p:cNvPr id="24" name="Text 22"/>
          <p:cNvSpPr/>
          <p:nvPr/>
        </p:nvSpPr>
        <p:spPr>
          <a:xfrm>
            <a:off x="2742926" y="4880976"/>
            <a:ext cx="1464869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 累计消费额</a:t>
            </a:r>
            <a:endParaRPr lang="en-US" sz="1440" dirty="0"/>
          </a:p>
        </p:txBody>
      </p:sp>
      <p:sp>
        <p:nvSpPr>
          <p:cNvPr id="25" name="Text 23"/>
          <p:cNvSpPr/>
          <p:nvPr/>
        </p:nvSpPr>
        <p:spPr>
          <a:xfrm>
            <a:off x="6240140" y="4214927"/>
            <a:ext cx="3099359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212"/>
              </a:lnSpc>
              <a:buNone/>
            </a:pPr>
            <a:r>
              <a:rPr lang="en-US" sz="4680" b="1" spc="-175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89397.46</a:t>
            </a:r>
            <a:endParaRPr lang="en-US" sz="4680" dirty="0"/>
          </a:p>
        </p:txBody>
      </p:sp>
      <p:sp>
        <p:nvSpPr>
          <p:cNvPr id="26" name="Text 24"/>
          <p:cNvSpPr/>
          <p:nvPr/>
        </p:nvSpPr>
        <p:spPr>
          <a:xfrm>
            <a:off x="6240140" y="4880976"/>
            <a:ext cx="137160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修正后真实结果</a:t>
            </a:r>
            <a:endParaRPr lang="en-US" sz="1440" dirty="0"/>
          </a:p>
        </p:txBody>
      </p:sp>
      <p:sp>
        <p:nvSpPr>
          <p:cNvPr id="27" name="Shape 25"/>
          <p:cNvSpPr/>
          <p:nvPr/>
        </p:nvSpPr>
        <p:spPr>
          <a:xfrm>
            <a:off x="914400" y="6449629"/>
            <a:ext cx="5620542" cy="10789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6449629"/>
            <a:ext cx="5620542" cy="23186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6632509"/>
            <a:ext cx="51997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链路</a:t>
            </a:r>
            <a:endParaRPr lang="en-US" sz="1584" dirty="0"/>
          </a:p>
        </p:txBody>
      </p:sp>
      <p:sp>
        <p:nvSpPr>
          <p:cNvPr id="30" name="Text 28"/>
          <p:cNvSpPr/>
          <p:nvPr/>
        </p:nvSpPr>
        <p:spPr>
          <a:xfrm>
            <a:off x="914400" y="7028718"/>
            <a:ext cx="5637276" cy="225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 SQL → Detector → Alarm → FANOUT_RECHECK_HINT → 1 次</a:t>
            </a:r>
            <a:endParaRPr lang="en-US" sz="1440" dirty="0"/>
          </a:p>
        </p:txBody>
      </p:sp>
      <p:sp>
        <p:nvSpPr>
          <p:cNvPr id="31" name="Text 29"/>
          <p:cNvSpPr/>
          <p:nvPr/>
        </p:nvSpPr>
        <p:spPr>
          <a:xfrm>
            <a:off x="914400" y="7293894"/>
            <a:ext cx="184407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再生成 → EX✗→EX✓</a:t>
            </a:r>
            <a:endParaRPr lang="en-US" sz="144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420000">
            <a:off x="914400" y="5013930"/>
            <a:ext cx="990570" cy="990570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7083582" y="3893790"/>
            <a:ext cx="6632418" cy="120399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10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332686" y="3893790"/>
            <a:ext cx="2134118" cy="12314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584" spc="10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纯文字案例 · 无配图</a:t>
            </a:r>
            <a:endParaRPr lang="en-US" sz="158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415857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444112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E3 实验边界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1368644" y="720090"/>
            <a:ext cx="270474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BOUNDARY · 限制与归因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379286"/>
            <a:ext cx="2801447" cy="537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→ 93%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3776746" y="1600200"/>
            <a:ext cx="297180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观测差异，不代表整体 EX 稳定提升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914400" y="2034174"/>
            <a:ext cx="12801600" cy="3962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407198"/>
            <a:ext cx="12801600" cy="23186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133204"/>
            <a:ext cx="52797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限制项</a:t>
            </a:r>
            <a:endParaRPr lang="en-US" sz="1056" dirty="0"/>
          </a:p>
        </p:txBody>
      </p:sp>
      <p:sp>
        <p:nvSpPr>
          <p:cNvPr id="14" name="Text 12"/>
          <p:cNvSpPr/>
          <p:nvPr/>
        </p:nvSpPr>
        <p:spPr>
          <a:xfrm>
            <a:off x="4154942" y="2133204"/>
            <a:ext cx="49597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严重度</a:t>
            </a:r>
            <a:endParaRPr lang="en-US" sz="1056" dirty="0"/>
          </a:p>
        </p:txBody>
      </p:sp>
      <p:sp>
        <p:nvSpPr>
          <p:cNvPr id="15" name="Text 13"/>
          <p:cNvSpPr/>
          <p:nvPr/>
        </p:nvSpPr>
        <p:spPr>
          <a:xfrm>
            <a:off x="6094567" y="2133204"/>
            <a:ext cx="49597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可能性</a:t>
            </a:r>
            <a:endParaRPr lang="en-US" sz="1056" dirty="0"/>
          </a:p>
        </p:txBody>
      </p:sp>
      <p:sp>
        <p:nvSpPr>
          <p:cNvPr id="16" name="Text 14"/>
          <p:cNvSpPr/>
          <p:nvPr/>
        </p:nvSpPr>
        <p:spPr>
          <a:xfrm>
            <a:off x="8034193" y="2133204"/>
            <a:ext cx="367223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触发</a:t>
            </a:r>
            <a:endParaRPr lang="en-US" sz="1056" dirty="0"/>
          </a:p>
        </p:txBody>
      </p:sp>
      <p:sp>
        <p:nvSpPr>
          <p:cNvPr id="17" name="Text 15"/>
          <p:cNvSpPr/>
          <p:nvPr/>
        </p:nvSpPr>
        <p:spPr>
          <a:xfrm>
            <a:off x="11396167" y="2133204"/>
            <a:ext cx="367223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影响</a:t>
            </a:r>
            <a:endParaRPr lang="en-US" sz="1056" dirty="0"/>
          </a:p>
        </p:txBody>
      </p:sp>
      <p:sp>
        <p:nvSpPr>
          <p:cNvPr id="18" name="Shape 16"/>
          <p:cNvSpPr/>
          <p:nvPr/>
        </p:nvSpPr>
        <p:spPr>
          <a:xfrm>
            <a:off x="914400" y="2430384"/>
            <a:ext cx="12801600" cy="1549451"/>
          </a:xfrm>
          <a:prstGeom prst="rect">
            <a:avLst/>
          </a:prstGeom>
          <a:solidFill>
            <a:srgbClr val="6E85FF">
              <a:alpha val="14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968242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3094695"/>
            <a:ext cx="3103382" cy="21333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3094695"/>
            <a:ext cx="46372" cy="213330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094695"/>
            <a:ext cx="105915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500" b="1" dirty="0">
                <a:solidFill>
                  <a:srgbClr val="6E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 n=1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154942" y="3140415"/>
            <a:ext cx="121890" cy="121890"/>
          </a:xfrm>
          <a:prstGeom prst="rect">
            <a:avLst/>
          </a:prstGeom>
          <a:solidFill>
            <a:srgbClr val="6E85FF"/>
          </a:solidFill>
          <a:ln w="9525">
            <a:solidFill>
              <a:srgbClr val="6E85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4962" y="3140415"/>
            <a:ext cx="121890" cy="121890"/>
          </a:xfrm>
          <a:prstGeom prst="rect">
            <a:avLst/>
          </a:prstGeom>
          <a:solidFill>
            <a:srgbClr val="6E85FF"/>
          </a:solidFill>
          <a:ln w="9525">
            <a:solidFill>
              <a:srgbClr val="6E85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74982" y="3140415"/>
            <a:ext cx="121890" cy="121890"/>
          </a:xfrm>
          <a:prstGeom prst="rect">
            <a:avLst/>
          </a:prstGeom>
          <a:solidFill>
            <a:srgbClr val="6E85FF"/>
          </a:solidFill>
          <a:ln w="9525">
            <a:solidFill>
              <a:srgbClr val="6E85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35002" y="3140415"/>
            <a:ext cx="121890" cy="121890"/>
          </a:xfrm>
          <a:prstGeom prst="rect">
            <a:avLst/>
          </a:prstGeom>
          <a:solidFill>
            <a:srgbClr val="6E85FF"/>
          </a:solidFill>
          <a:ln w="9525">
            <a:solidFill>
              <a:srgbClr val="6E85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95022" y="3140415"/>
            <a:ext cx="121890" cy="121890"/>
          </a:xfrm>
          <a:prstGeom prst="rect">
            <a:avLst/>
          </a:prstGeom>
          <a:solidFill>
            <a:srgbClr val="6E85FF"/>
          </a:solidFill>
          <a:ln w="9525">
            <a:solidFill>
              <a:srgbClr val="6E85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94567" y="3140415"/>
            <a:ext cx="121890" cy="121890"/>
          </a:xfrm>
          <a:prstGeom prst="rect">
            <a:avLst/>
          </a:prstGeom>
          <a:solidFill>
            <a:srgbClr val="6E85FF"/>
          </a:solidFill>
          <a:ln w="9525">
            <a:solidFill>
              <a:srgbClr val="6E85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54587" y="3140415"/>
            <a:ext cx="121890" cy="121890"/>
          </a:xfrm>
          <a:prstGeom prst="rect">
            <a:avLst/>
          </a:prstGeom>
          <a:solidFill>
            <a:srgbClr val="6E85FF"/>
          </a:solidFill>
          <a:ln w="9525">
            <a:solidFill>
              <a:srgbClr val="6E85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14607" y="3140415"/>
            <a:ext cx="121890" cy="121890"/>
          </a:xfrm>
          <a:prstGeom prst="rect">
            <a:avLst/>
          </a:prstGeom>
          <a:solidFill>
            <a:srgbClr val="6E85FF"/>
          </a:solidFill>
          <a:ln w="9525">
            <a:solidFill>
              <a:srgbClr val="6E85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74627" y="3140415"/>
            <a:ext cx="121890" cy="121890"/>
          </a:xfrm>
          <a:prstGeom prst="rect">
            <a:avLst/>
          </a:prstGeom>
          <a:solidFill>
            <a:srgbClr val="6E85FF"/>
          </a:solidFill>
          <a:ln w="9525">
            <a:solidFill>
              <a:srgbClr val="6E85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34647" y="3140415"/>
            <a:ext cx="121890" cy="12189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34193" y="3128985"/>
            <a:ext cx="1217676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E-0086 命中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396167" y="3102285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↳</a:t>
            </a:r>
            <a:endParaRPr lang="en-US" sz="1188" dirty="0"/>
          </a:p>
        </p:txBody>
      </p:sp>
      <p:sp>
        <p:nvSpPr>
          <p:cNvPr id="35" name="Text 33"/>
          <p:cNvSpPr/>
          <p:nvPr/>
        </p:nvSpPr>
        <p:spPr>
          <a:xfrm>
            <a:off x="11541008" y="3128985"/>
            <a:ext cx="1092708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+1pt 直接归因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14400" y="3979926"/>
            <a:ext cx="12801600" cy="154963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4400" y="5517967"/>
            <a:ext cx="12801600" cy="11593"/>
          </a:xfrm>
          <a:prstGeom prst="rect">
            <a:avLst/>
          </a:prstGeom>
          <a:solidFill>
            <a:srgbClr val="F3F2EE">
              <a:alpha val="6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4644146"/>
            <a:ext cx="85341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5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OFF/ON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4154942" y="4689866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14962" y="4689866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74982" y="4689866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35002" y="4689866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95022" y="4689866"/>
            <a:ext cx="121890" cy="12189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13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94567" y="4689866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54587" y="4689866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14607" y="4689866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74627" y="4689866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734647" y="4689866"/>
            <a:ext cx="121890" cy="12189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13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34193" y="4678436"/>
            <a:ext cx="1005840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非严格单变量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1396167" y="4651736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↳</a:t>
            </a:r>
            <a:endParaRPr lang="en-US" sz="1188" dirty="0"/>
          </a:p>
        </p:txBody>
      </p:sp>
      <p:sp>
        <p:nvSpPr>
          <p:cNvPr id="51" name="Text 49"/>
          <p:cNvSpPr/>
          <p:nvPr/>
        </p:nvSpPr>
        <p:spPr>
          <a:xfrm>
            <a:off x="11541008" y="4678436"/>
            <a:ext cx="853410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机制层观测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14400" y="5529468"/>
            <a:ext cx="12801600" cy="154945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14400" y="7067326"/>
            <a:ext cx="12801600" cy="11593"/>
          </a:xfrm>
          <a:prstGeom prst="rect">
            <a:avLst/>
          </a:prstGeom>
          <a:solidFill>
            <a:srgbClr val="F3F2EE">
              <a:alpha val="6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4400" y="6193780"/>
            <a:ext cx="48765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5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4154942" y="6239500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314962" y="6239500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474982" y="6239500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635002" y="6239500"/>
            <a:ext cx="121890" cy="12189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13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95022" y="6239500"/>
            <a:ext cx="121890" cy="12189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13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094567" y="6239500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54587" y="6239500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14607" y="6239500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574627" y="6239500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734647" y="6239500"/>
            <a:ext cx="121890" cy="12189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13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034193" y="6228070"/>
            <a:ext cx="1456944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 orders×items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11396167" y="6201369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↳</a:t>
            </a:r>
            <a:endParaRPr lang="en-US" sz="1188" dirty="0"/>
          </a:p>
        </p:txBody>
      </p:sp>
      <p:sp>
        <p:nvSpPr>
          <p:cNvPr id="67" name="Text 65"/>
          <p:cNvSpPr/>
          <p:nvPr/>
        </p:nvSpPr>
        <p:spPr>
          <a:xfrm>
            <a:off x="11541008" y="6228070"/>
            <a:ext cx="1217676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子查询剪枝·盲区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914400" y="7124730"/>
            <a:ext cx="12801600" cy="4038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14400" y="7124730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14400" y="7254210"/>
            <a:ext cx="95422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结论限制</a:t>
            </a:r>
            <a:endParaRPr lang="en-US" sz="1584" dirty="0"/>
          </a:p>
        </p:txBody>
      </p:sp>
      <p:sp>
        <p:nvSpPr>
          <p:cNvPr id="71" name="Text 69"/>
          <p:cNvSpPr/>
          <p:nvPr/>
        </p:nvSpPr>
        <p:spPr>
          <a:xfrm>
            <a:off x="1826971" y="7275424"/>
            <a:ext cx="4608576" cy="259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7"/>
              </a:lnSpc>
              <a:buNone/>
            </a:pPr>
            <a:r>
              <a:rPr lang="en-US" sz="126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 orders×items · 超时/管道禁止表述「Hint 提升 3 个百分点」</a:t>
            </a:r>
            <a:endParaRPr lang="en-US" sz="1260" dirty="0"/>
          </a:p>
        </p:txBody>
      </p:sp>
      <p:pic>
        <p:nvPicPr>
          <p:cNvPr id="7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11230" y="761970"/>
            <a:ext cx="883950" cy="8839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263518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315364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清单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2108393" y="720090"/>
            <a:ext cx="184672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条真实验证问题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380783"/>
            <a:ext cx="2465040" cy="537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 Demo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3440430" y="1615470"/>
            <a:ext cx="470157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全部来自 Task 23 E2E Smoke 实测（真实 Mimo 全链路）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1645920" y="1988454"/>
            <a:ext cx="11582430" cy="526575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53510" y="1996044"/>
            <a:ext cx="5783580" cy="262524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25496" y="1996044"/>
            <a:ext cx="11593" cy="2625242"/>
          </a:xfrm>
          <a:prstGeom prst="rect">
            <a:avLst/>
          </a:prstGeom>
          <a:solidFill>
            <a:srgbClr val="F3F2EE">
              <a:alpha val="9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53510" y="4609693"/>
            <a:ext cx="5783580" cy="11593"/>
          </a:xfrm>
          <a:prstGeom prst="rect">
            <a:avLst/>
          </a:prstGeom>
          <a:solidFill>
            <a:srgbClr val="F3F2EE">
              <a:alpha val="9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58370" y="2302728"/>
            <a:ext cx="5257800" cy="3313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94"/>
              </a:lnSpc>
              <a:buNone/>
            </a:pPr>
            <a:r>
              <a:rPr lang="en-US" sz="2280" b="1" spc="-29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哪个地区的用户最多？</a:t>
            </a:r>
            <a:endParaRPr lang="en-US" sz="2280" dirty="0"/>
          </a:p>
        </p:txBody>
      </p:sp>
      <p:sp>
        <p:nvSpPr>
          <p:cNvPr id="16" name="Text 14"/>
          <p:cNvSpPr/>
          <p:nvPr/>
        </p:nvSpPr>
        <p:spPr>
          <a:xfrm>
            <a:off x="1958370" y="2665842"/>
            <a:ext cx="883848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普通查询</a:t>
            </a:r>
            <a:endParaRPr lang="en-US" sz="1452" dirty="0"/>
          </a:p>
        </p:txBody>
      </p:sp>
      <p:sp>
        <p:nvSpPr>
          <p:cNvPr id="17" name="Text 15"/>
          <p:cNvSpPr/>
          <p:nvPr/>
        </p:nvSpPr>
        <p:spPr>
          <a:xfrm>
            <a:off x="1958370" y="3039191"/>
            <a:ext cx="42062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 246 行</a:t>
            </a:r>
            <a:endParaRPr lang="en-US" sz="1440" dirty="0"/>
          </a:p>
        </p:txBody>
      </p:sp>
      <p:sp>
        <p:nvSpPr>
          <p:cNvPr id="18" name="Shape 16"/>
          <p:cNvSpPr/>
          <p:nvPr/>
        </p:nvSpPr>
        <p:spPr>
          <a:xfrm>
            <a:off x="1958370" y="3973617"/>
            <a:ext cx="891540" cy="3353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57400" y="3973617"/>
            <a:ext cx="80711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E2E 实测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2910810" y="3973617"/>
            <a:ext cx="998250" cy="3353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09930" y="3973617"/>
            <a:ext cx="8915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Mimo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7437090" y="1996044"/>
            <a:ext cx="5783580" cy="2625242"/>
          </a:xfrm>
          <a:prstGeom prst="rect">
            <a:avLst/>
          </a:prstGeom>
          <a:solidFill>
            <a:srgbClr val="2742EC">
              <a:alpha val="5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37090" y="4609693"/>
            <a:ext cx="578358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41950" y="2302728"/>
            <a:ext cx="5265390" cy="3313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94"/>
              </a:lnSpc>
              <a:buNone/>
            </a:pPr>
            <a:r>
              <a:rPr lang="en-US" sz="2280" b="1" spc="-29" kern="0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年每月销售额？</a:t>
            </a:r>
            <a:endParaRPr lang="en-US" sz="2280" dirty="0"/>
          </a:p>
        </p:txBody>
      </p:sp>
      <p:sp>
        <p:nvSpPr>
          <p:cNvPr id="25" name="Text 23"/>
          <p:cNvSpPr/>
          <p:nvPr/>
        </p:nvSpPr>
        <p:spPr>
          <a:xfrm>
            <a:off x="7741950" y="2665842"/>
            <a:ext cx="1169297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聚合 / 时间</a:t>
            </a:r>
            <a:endParaRPr lang="en-US" sz="1452" dirty="0"/>
          </a:p>
        </p:txBody>
      </p:sp>
      <p:sp>
        <p:nvSpPr>
          <p:cNvPr id="26" name="Text 24"/>
          <p:cNvSpPr/>
          <p:nvPr/>
        </p:nvSpPr>
        <p:spPr>
          <a:xfrm>
            <a:off x="7741950" y="3039191"/>
            <a:ext cx="42062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 12 行</a:t>
            </a:r>
            <a:endParaRPr lang="en-US" sz="1440" dirty="0"/>
          </a:p>
        </p:txBody>
      </p:sp>
      <p:sp>
        <p:nvSpPr>
          <p:cNvPr id="27" name="Shape 25"/>
          <p:cNvSpPr/>
          <p:nvPr/>
        </p:nvSpPr>
        <p:spPr>
          <a:xfrm>
            <a:off x="7741950" y="3973617"/>
            <a:ext cx="891540" cy="3353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6E8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40980" y="3973617"/>
            <a:ext cx="80711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E2E 实测</a:t>
            </a:r>
            <a:endParaRPr lang="en-US" sz="1320" dirty="0"/>
          </a:p>
        </p:txBody>
      </p:sp>
      <p:sp>
        <p:nvSpPr>
          <p:cNvPr id="29" name="Shape 27"/>
          <p:cNvSpPr/>
          <p:nvPr/>
        </p:nvSpPr>
        <p:spPr>
          <a:xfrm>
            <a:off x="8694390" y="3973617"/>
            <a:ext cx="998250" cy="3353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6E85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93510" y="3973617"/>
            <a:ext cx="8915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Mimo</a:t>
            </a:r>
            <a:endParaRPr lang="en-US" sz="1320" dirty="0"/>
          </a:p>
        </p:txBody>
      </p:sp>
      <p:sp>
        <p:nvSpPr>
          <p:cNvPr id="31" name="Shape 29"/>
          <p:cNvSpPr/>
          <p:nvPr/>
        </p:nvSpPr>
        <p:spPr>
          <a:xfrm>
            <a:off x="1653510" y="4621286"/>
            <a:ext cx="5783580" cy="262533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25496" y="4621286"/>
            <a:ext cx="11593" cy="2625334"/>
          </a:xfrm>
          <a:prstGeom prst="rect">
            <a:avLst/>
          </a:prstGeom>
          <a:solidFill>
            <a:srgbClr val="F3F2EE">
              <a:alpha val="9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58370" y="4927879"/>
            <a:ext cx="5257800" cy="3313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94"/>
              </a:lnSpc>
              <a:buNone/>
            </a:pPr>
            <a:r>
              <a:rPr lang="en-US" sz="2280" b="1" spc="-29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近30天销量 Top5？</a:t>
            </a:r>
            <a:endParaRPr lang="en-US" sz="2280" dirty="0"/>
          </a:p>
        </p:txBody>
      </p:sp>
      <p:sp>
        <p:nvSpPr>
          <p:cNvPr id="34" name="Text 32"/>
          <p:cNvSpPr/>
          <p:nvPr/>
        </p:nvSpPr>
        <p:spPr>
          <a:xfrm>
            <a:off x="1958370" y="5290993"/>
            <a:ext cx="485786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排名</a:t>
            </a:r>
            <a:endParaRPr lang="en-US" sz="1452" dirty="0"/>
          </a:p>
        </p:txBody>
      </p:sp>
      <p:sp>
        <p:nvSpPr>
          <p:cNvPr id="35" name="Text 33"/>
          <p:cNvSpPr/>
          <p:nvPr/>
        </p:nvSpPr>
        <p:spPr>
          <a:xfrm>
            <a:off x="1958370" y="5664434"/>
            <a:ext cx="42062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 5 行</a:t>
            </a:r>
            <a:endParaRPr lang="en-US" sz="1440" dirty="0"/>
          </a:p>
        </p:txBody>
      </p:sp>
      <p:sp>
        <p:nvSpPr>
          <p:cNvPr id="36" name="Shape 34"/>
          <p:cNvSpPr/>
          <p:nvPr/>
        </p:nvSpPr>
        <p:spPr>
          <a:xfrm>
            <a:off x="1958370" y="6606540"/>
            <a:ext cx="891540" cy="3353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57400" y="6606540"/>
            <a:ext cx="80711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E2E 实测</a:t>
            </a:r>
            <a:endParaRPr lang="en-US" sz="1320" dirty="0"/>
          </a:p>
        </p:txBody>
      </p:sp>
      <p:sp>
        <p:nvSpPr>
          <p:cNvPr id="38" name="Shape 36"/>
          <p:cNvSpPr/>
          <p:nvPr/>
        </p:nvSpPr>
        <p:spPr>
          <a:xfrm>
            <a:off x="2910810" y="6606540"/>
            <a:ext cx="998250" cy="3353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09930" y="6606540"/>
            <a:ext cx="8915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Mimo</a:t>
            </a:r>
            <a:endParaRPr lang="en-US" sz="1320" dirty="0"/>
          </a:p>
        </p:txBody>
      </p:sp>
      <p:sp>
        <p:nvSpPr>
          <p:cNvPr id="40" name="Text 38"/>
          <p:cNvSpPr/>
          <p:nvPr/>
        </p:nvSpPr>
        <p:spPr>
          <a:xfrm>
            <a:off x="7741950" y="4927879"/>
            <a:ext cx="5265390" cy="3313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94"/>
              </a:lnSpc>
              <a:buNone/>
            </a:pPr>
            <a:r>
              <a:rPr lang="en-US" sz="2280" b="1" spc="-29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哪个类目销售额最高？</a:t>
            </a:r>
            <a:endParaRPr lang="en-US" sz="2280" dirty="0"/>
          </a:p>
        </p:txBody>
      </p:sp>
      <p:sp>
        <p:nvSpPr>
          <p:cNvPr id="41" name="Text 39"/>
          <p:cNvSpPr/>
          <p:nvPr/>
        </p:nvSpPr>
        <p:spPr>
          <a:xfrm>
            <a:off x="7741950" y="5290993"/>
            <a:ext cx="1126884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多表 JOIN</a:t>
            </a:r>
            <a:endParaRPr lang="en-US" sz="1452" dirty="0"/>
          </a:p>
        </p:txBody>
      </p:sp>
      <p:sp>
        <p:nvSpPr>
          <p:cNvPr id="42" name="Text 40"/>
          <p:cNvSpPr/>
          <p:nvPr/>
        </p:nvSpPr>
        <p:spPr>
          <a:xfrm>
            <a:off x="7741950" y="5664434"/>
            <a:ext cx="42062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 1 行</a:t>
            </a:r>
            <a:endParaRPr lang="en-US" sz="1440" dirty="0"/>
          </a:p>
        </p:txBody>
      </p:sp>
      <p:sp>
        <p:nvSpPr>
          <p:cNvPr id="43" name="Shape 41"/>
          <p:cNvSpPr/>
          <p:nvPr/>
        </p:nvSpPr>
        <p:spPr>
          <a:xfrm>
            <a:off x="7741950" y="6606540"/>
            <a:ext cx="891540" cy="3353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40980" y="6606540"/>
            <a:ext cx="80711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E2E 实测</a:t>
            </a:r>
            <a:endParaRPr lang="en-US" sz="1320" dirty="0"/>
          </a:p>
        </p:txBody>
      </p:sp>
      <p:sp>
        <p:nvSpPr>
          <p:cNvPr id="45" name="Shape 43"/>
          <p:cNvSpPr/>
          <p:nvPr/>
        </p:nvSpPr>
        <p:spPr>
          <a:xfrm>
            <a:off x="8694390" y="6606540"/>
            <a:ext cx="998250" cy="3353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93510" y="6606540"/>
            <a:ext cx="8915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Mimo</a:t>
            </a:r>
            <a:endParaRPr lang="en-US" sz="1320" dirty="0"/>
          </a:p>
        </p:txBody>
      </p:sp>
      <p:sp>
        <p:nvSpPr>
          <p:cNvPr id="47" name="Text 45"/>
          <p:cNvSpPr/>
          <p:nvPr/>
        </p:nvSpPr>
        <p:spPr>
          <a:xfrm>
            <a:off x="11200120" y="7239030"/>
            <a:ext cx="239924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REPAIR/E3 证据讲解</a:t>
            </a:r>
            <a:endParaRPr lang="en-US" sz="1584" dirty="0"/>
          </a:p>
        </p:txBody>
      </p:sp>
      <p:sp>
        <p:nvSpPr>
          <p:cNvPr id="48" name="Text 46"/>
          <p:cNvSpPr/>
          <p:nvPr/>
        </p:nvSpPr>
        <p:spPr>
          <a:xfrm>
            <a:off x="1645920" y="7239030"/>
            <a:ext cx="273922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不作为稳定现场交互 DEMO</a:t>
            </a:r>
            <a:endParaRPr lang="en-US" sz="1584" dirty="0"/>
          </a:p>
        </p:txBody>
      </p:sp>
      <p:pic>
        <p:nvPicPr>
          <p:cNvPr id="4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360000">
            <a:off x="12207240" y="845454"/>
            <a:ext cx="1341150" cy="13411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833463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827886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总结 · 三问三答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0548427" y="720090"/>
            <a:ext cx="362125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DEFENSE · 面向电商分析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780798"/>
            <a:ext cx="7261860" cy="3151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784"/>
              </a:lnSpc>
              <a:buNone/>
            </a:pPr>
            <a:r>
              <a:rPr lang="en-US" sz="22800" b="1" spc="-200" kern="0" dirty="0">
                <a:solidFill>
                  <a:srgbClr val="274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90.0</a:t>
            </a:r>
            <a:endParaRPr lang="en-US" sz="22800" dirty="0"/>
          </a:p>
        </p:txBody>
      </p:sp>
      <p:sp>
        <p:nvSpPr>
          <p:cNvPr id="10" name="Text 8"/>
          <p:cNvSpPr/>
          <p:nvPr/>
        </p:nvSpPr>
        <p:spPr>
          <a:xfrm>
            <a:off x="7293894" y="2072459"/>
            <a:ext cx="1211580" cy="12771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0"/>
              </a:lnSpc>
              <a:buNone/>
            </a:pPr>
            <a:r>
              <a:rPr lang="en-US" sz="9000" b="1" spc="-200" kern="0" dirty="0">
                <a:solidFill>
                  <a:srgbClr val="274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914400" y="4316544"/>
            <a:ext cx="6284946" cy="763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98"/>
              </a:lnSpc>
              <a:buNone/>
            </a:pPr>
            <a:r>
              <a:rPr lang="en-US" sz="2760" b="1" spc="-34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面向电商分析的 Text2SQLAgent。</a:t>
            </a:r>
            <a:endParaRPr lang="en-US" sz="276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720000">
            <a:off x="3749040" y="1337310"/>
            <a:ext cx="1904970" cy="190497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901684" y="2937510"/>
            <a:ext cx="4814316" cy="101343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901684" y="2937510"/>
            <a:ext cx="11593" cy="101343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36024" y="2937510"/>
            <a:ext cx="51997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274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总结</a:t>
            </a:r>
            <a:endParaRPr lang="en-US" sz="1584" dirty="0"/>
          </a:p>
        </p:txBody>
      </p:sp>
      <p:sp>
        <p:nvSpPr>
          <p:cNvPr id="16" name="Text 13"/>
          <p:cNvSpPr/>
          <p:nvPr/>
        </p:nvSpPr>
        <p:spPr>
          <a:xfrm>
            <a:off x="9336024" y="3371850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E3：验证典型 Fan-out 风险检测与条件干预机制</a:t>
            </a:r>
            <a:endParaRPr lang="en-US" sz="1620" dirty="0"/>
          </a:p>
        </p:txBody>
      </p:sp>
      <p:sp>
        <p:nvSpPr>
          <p:cNvPr id="17" name="Text 14"/>
          <p:cNvSpPr/>
          <p:nvPr/>
        </p:nvSpPr>
        <p:spPr>
          <a:xfrm>
            <a:off x="9336024" y="3680460"/>
            <a:ext cx="339333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｜ 可执行 · 可验证 · 可纠错 · 可评测</a:t>
            </a:r>
            <a:endParaRPr lang="en-US" sz="1620" dirty="0"/>
          </a:p>
        </p:txBody>
      </p:sp>
      <p:sp>
        <p:nvSpPr>
          <p:cNvPr id="18" name="Shape 15"/>
          <p:cNvSpPr/>
          <p:nvPr/>
        </p:nvSpPr>
        <p:spPr>
          <a:xfrm>
            <a:off x="914400" y="5638830"/>
            <a:ext cx="12801600" cy="759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5837690"/>
            <a:ext cx="2474976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840" b="1" spc="-96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Text2SQL</a:t>
            </a:r>
            <a:endParaRPr lang="en-US" sz="3840" dirty="0"/>
          </a:p>
        </p:txBody>
      </p:sp>
      <p:sp>
        <p:nvSpPr>
          <p:cNvPr id="20" name="Text 17"/>
          <p:cNvSpPr/>
          <p:nvPr/>
        </p:nvSpPr>
        <p:spPr>
          <a:xfrm>
            <a:off x="3328142" y="6012180"/>
            <a:ext cx="845515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48"/>
              </a:lnSpc>
              <a:buNone/>
            </a:pPr>
            <a:r>
              <a:rPr lang="en-US" sz="2040" b="1" spc="-13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2040" dirty="0"/>
          </a:p>
        </p:txBody>
      </p:sp>
      <p:sp>
        <p:nvSpPr>
          <p:cNvPr id="21" name="Text 18"/>
          <p:cNvSpPr/>
          <p:nvPr/>
        </p:nvSpPr>
        <p:spPr>
          <a:xfrm>
            <a:off x="914400" y="6400800"/>
            <a:ext cx="3906408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我们做了什么？</a:t>
            </a:r>
            <a:endParaRPr lang="en-US" sz="1452" dirty="0"/>
          </a:p>
        </p:txBody>
      </p:sp>
      <p:sp>
        <p:nvSpPr>
          <p:cNvPr id="22" name="Shape 19"/>
          <p:cNvSpPr/>
          <p:nvPr/>
        </p:nvSpPr>
        <p:spPr>
          <a:xfrm>
            <a:off x="5064679" y="5814030"/>
            <a:ext cx="4158051" cy="17145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064679" y="5814030"/>
            <a:ext cx="11593" cy="171450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07579" y="5960654"/>
            <a:ext cx="577901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840" b="1" spc="-96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</a:t>
            </a:r>
            <a:endParaRPr lang="en-US" sz="3840" dirty="0"/>
          </a:p>
        </p:txBody>
      </p:sp>
      <p:sp>
        <p:nvSpPr>
          <p:cNvPr id="25" name="Text 22"/>
          <p:cNvSpPr/>
          <p:nvPr/>
        </p:nvSpPr>
        <p:spPr>
          <a:xfrm>
            <a:off x="5407579" y="6661724"/>
            <a:ext cx="577901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840" b="1" spc="-96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</a:t>
            </a:r>
            <a:endParaRPr lang="en-US" sz="3840" dirty="0"/>
          </a:p>
        </p:txBody>
      </p:sp>
      <p:sp>
        <p:nvSpPr>
          <p:cNvPr id="26" name="Text 23"/>
          <p:cNvSpPr/>
          <p:nvPr/>
        </p:nvSpPr>
        <p:spPr>
          <a:xfrm>
            <a:off x="6254679" y="6151031"/>
            <a:ext cx="2927177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48"/>
              </a:lnSpc>
              <a:buNone/>
            </a:pPr>
            <a:r>
              <a:rPr lang="en-US" sz="2040" b="1" spc="-13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生成→安全→执行→修复</a:t>
            </a:r>
            <a:endParaRPr lang="en-US" sz="2040" dirty="0"/>
          </a:p>
        </p:txBody>
      </p:sp>
      <p:sp>
        <p:nvSpPr>
          <p:cNvPr id="27" name="Text 24"/>
          <p:cNvSpPr/>
          <p:nvPr/>
        </p:nvSpPr>
        <p:spPr>
          <a:xfrm>
            <a:off x="6254679" y="6461927"/>
            <a:ext cx="864840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48"/>
              </a:lnSpc>
              <a:buNone/>
            </a:pPr>
            <a:r>
              <a:rPr lang="en-US" sz="2040" b="1" spc="-13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→评测</a:t>
            </a:r>
            <a:endParaRPr lang="en-US" sz="2040" dirty="0"/>
          </a:p>
        </p:txBody>
      </p:sp>
      <p:sp>
        <p:nvSpPr>
          <p:cNvPr id="28" name="Text 25"/>
          <p:cNvSpPr/>
          <p:nvPr/>
        </p:nvSpPr>
        <p:spPr>
          <a:xfrm>
            <a:off x="5407579" y="7277070"/>
            <a:ext cx="390659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核心价值？</a:t>
            </a:r>
            <a:endParaRPr lang="en-US" sz="1452" dirty="0"/>
          </a:p>
        </p:txBody>
      </p:sp>
      <p:sp>
        <p:nvSpPr>
          <p:cNvPr id="29" name="Shape 26"/>
          <p:cNvSpPr/>
          <p:nvPr/>
        </p:nvSpPr>
        <p:spPr>
          <a:xfrm>
            <a:off x="9557949" y="5814030"/>
            <a:ext cx="4158051" cy="17145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557949" y="5814030"/>
            <a:ext cx="11593" cy="171450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900849" y="5837690"/>
            <a:ext cx="1589593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840" b="1" spc="-96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90.0%</a:t>
            </a:r>
            <a:endParaRPr lang="en-US" sz="3840" dirty="0"/>
          </a:p>
        </p:txBody>
      </p:sp>
      <p:sp>
        <p:nvSpPr>
          <p:cNvPr id="32" name="Text 29"/>
          <p:cNvSpPr/>
          <p:nvPr/>
        </p:nvSpPr>
        <p:spPr>
          <a:xfrm>
            <a:off x="11459992" y="6012180"/>
            <a:ext cx="447050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48"/>
              </a:lnSpc>
              <a:buNone/>
            </a:pPr>
            <a:r>
              <a:rPr lang="en-US" sz="2040" b="1" spc="-13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</a:t>
            </a:r>
            <a:endParaRPr lang="en-US" sz="2040" dirty="0"/>
          </a:p>
        </p:txBody>
      </p:sp>
      <p:sp>
        <p:nvSpPr>
          <p:cNvPr id="33" name="Text 30"/>
          <p:cNvSpPr/>
          <p:nvPr/>
        </p:nvSpPr>
        <p:spPr>
          <a:xfrm>
            <a:off x="9900849" y="6400800"/>
            <a:ext cx="390659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如何证明？100 题 · ECO-SQL V1.1</a:t>
            </a:r>
            <a:endParaRPr lang="en-US" sz="1452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978499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082238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THANKS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2940589" y="720090"/>
            <a:ext cx="95422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谢谢聆听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469166"/>
            <a:ext cx="782726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906"/>
              </a:lnSpc>
              <a:buNone/>
            </a:pPr>
            <a:r>
              <a:rPr lang="en-US" sz="5520" b="1" spc="-138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</a:t>
            </a:r>
            <a:endParaRPr lang="en-US" sz="5520" dirty="0"/>
          </a:p>
        </p:txBody>
      </p:sp>
      <p:sp>
        <p:nvSpPr>
          <p:cNvPr id="10" name="Text 8"/>
          <p:cNvSpPr/>
          <p:nvPr/>
        </p:nvSpPr>
        <p:spPr>
          <a:xfrm>
            <a:off x="914400" y="2219248"/>
            <a:ext cx="4637562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906"/>
              </a:lnSpc>
              <a:buNone/>
            </a:pPr>
            <a:r>
              <a:rPr lang="en-US" sz="5520" b="1" spc="-138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 · THANK</a:t>
            </a:r>
            <a:endParaRPr lang="en-US" sz="5520" dirty="0"/>
          </a:p>
        </p:txBody>
      </p:sp>
      <p:sp>
        <p:nvSpPr>
          <p:cNvPr id="11" name="Text 9"/>
          <p:cNvSpPr/>
          <p:nvPr/>
        </p:nvSpPr>
        <p:spPr>
          <a:xfrm>
            <a:off x="914400" y="2989904"/>
            <a:ext cx="1748699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906"/>
              </a:lnSpc>
              <a:buNone/>
            </a:pPr>
            <a:r>
              <a:rPr lang="en-US" sz="5520" b="1" spc="-138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5520" dirty="0"/>
          </a:p>
        </p:txBody>
      </p:sp>
      <p:sp>
        <p:nvSpPr>
          <p:cNvPr id="12" name="Text 10"/>
          <p:cNvSpPr/>
          <p:nvPr/>
        </p:nvSpPr>
        <p:spPr>
          <a:xfrm>
            <a:off x="2571659" y="2969331"/>
            <a:ext cx="782726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906"/>
              </a:lnSpc>
              <a:buNone/>
            </a:pPr>
            <a:r>
              <a:rPr lang="en-US" sz="5520" b="1" spc="-138" kern="0" dirty="0">
                <a:solidFill>
                  <a:srgbClr val="274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</a:t>
            </a:r>
            <a:endParaRPr lang="en-US" sz="5520" dirty="0"/>
          </a:p>
        </p:txBody>
      </p:sp>
      <p:sp>
        <p:nvSpPr>
          <p:cNvPr id="13" name="Text 11"/>
          <p:cNvSpPr/>
          <p:nvPr/>
        </p:nvSpPr>
        <p:spPr>
          <a:xfrm>
            <a:off x="3258739" y="2969331"/>
            <a:ext cx="782726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906"/>
              </a:lnSpc>
              <a:buNone/>
            </a:pPr>
            <a:r>
              <a:rPr lang="en-US" sz="5520" b="1" spc="-138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</a:t>
            </a:r>
            <a:endParaRPr lang="en-US" sz="5520" dirty="0"/>
          </a:p>
        </p:txBody>
      </p:sp>
      <p:sp>
        <p:nvSpPr>
          <p:cNvPr id="14" name="Text 12"/>
          <p:cNvSpPr/>
          <p:nvPr/>
        </p:nvSpPr>
        <p:spPr>
          <a:xfrm>
            <a:off x="3945819" y="2969331"/>
            <a:ext cx="782726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906"/>
              </a:lnSpc>
              <a:buNone/>
            </a:pPr>
            <a:r>
              <a:rPr lang="en-US" sz="5520" b="1" spc="-138" kern="0" dirty="0">
                <a:solidFill>
                  <a:srgbClr val="274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endParaRPr lang="en-US" sz="5520" dirty="0"/>
          </a:p>
        </p:txBody>
      </p:sp>
      <p:sp>
        <p:nvSpPr>
          <p:cNvPr id="15" name="Text 13"/>
          <p:cNvSpPr/>
          <p:nvPr/>
        </p:nvSpPr>
        <p:spPr>
          <a:xfrm>
            <a:off x="4632990" y="2969331"/>
            <a:ext cx="1465509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906"/>
              </a:lnSpc>
              <a:buNone/>
            </a:pPr>
            <a:r>
              <a:rPr lang="en-US" sz="5520" b="1" spc="-138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指正</a:t>
            </a:r>
            <a:endParaRPr lang="en-US" sz="5520" dirty="0"/>
          </a:p>
        </p:txBody>
      </p:sp>
      <p:sp>
        <p:nvSpPr>
          <p:cNvPr id="16" name="Text 14"/>
          <p:cNvSpPr/>
          <p:nvPr/>
        </p:nvSpPr>
        <p:spPr>
          <a:xfrm>
            <a:off x="914400" y="3964747"/>
            <a:ext cx="5416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Text2SQL 的电商智能数据分析 Agent —— 课程项目最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914400" y="4273357"/>
            <a:ext cx="70866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终答辩</a:t>
            </a:r>
            <a:endParaRPr lang="en-US" sz="1620" dirty="0"/>
          </a:p>
        </p:txBody>
      </p:sp>
      <p:sp>
        <p:nvSpPr>
          <p:cNvPr id="18" name="Shape 16"/>
          <p:cNvSpPr/>
          <p:nvPr/>
        </p:nvSpPr>
        <p:spPr>
          <a:xfrm>
            <a:off x="914400" y="7124730"/>
            <a:ext cx="6413327" cy="759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7269480"/>
            <a:ext cx="1464225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18" spc="103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报告人：何钊新</a:t>
            </a:r>
            <a:endParaRPr lang="en-US" sz="1518" dirty="0"/>
          </a:p>
        </p:txBody>
      </p:sp>
      <p:sp>
        <p:nvSpPr>
          <p:cNvPr id="20" name="Text 18"/>
          <p:cNvSpPr/>
          <p:nvPr/>
        </p:nvSpPr>
        <p:spPr>
          <a:xfrm>
            <a:off x="2603571" y="7269480"/>
            <a:ext cx="2167499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18" spc="103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数据科学与大数据技术</a:t>
            </a:r>
            <a:endParaRPr lang="en-US" sz="1518" dirty="0"/>
          </a:p>
        </p:txBody>
      </p:sp>
      <p:sp>
        <p:nvSpPr>
          <p:cNvPr id="21" name="Text 19"/>
          <p:cNvSpPr/>
          <p:nvPr/>
        </p:nvSpPr>
        <p:spPr>
          <a:xfrm>
            <a:off x="4872838" y="7269480"/>
            <a:ext cx="1488893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18" spc="103" kern="0" dirty="0">
                <a:solidFill>
                  <a:srgbClr val="274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 年 9 月</a:t>
            </a:r>
            <a:endParaRPr lang="en-US" sz="1518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">
            <a:off x="1219170" y="4114800"/>
            <a:ext cx="1600200" cy="160020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7937266" y="1463040"/>
            <a:ext cx="5778734" cy="60654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937266" y="1463040"/>
            <a:ext cx="11593" cy="606549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71606" y="2388138"/>
            <a:ext cx="95422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274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数据来源</a:t>
            </a:r>
            <a:endParaRPr lang="en-US" sz="1584" dirty="0"/>
          </a:p>
        </p:txBody>
      </p:sp>
      <p:sp>
        <p:nvSpPr>
          <p:cNvPr id="26" name="Text 23"/>
          <p:cNvSpPr/>
          <p:nvPr/>
        </p:nvSpPr>
        <p:spPr>
          <a:xfrm>
            <a:off x="8371606" y="2952049"/>
            <a:ext cx="757009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6" spc="95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</a:t>
            </a:r>
            <a:endParaRPr lang="en-US" sz="1386" dirty="0"/>
          </a:p>
        </p:txBody>
      </p:sp>
      <p:sp>
        <p:nvSpPr>
          <p:cNvPr id="27" name="Text 24"/>
          <p:cNvSpPr/>
          <p:nvPr/>
        </p:nvSpPr>
        <p:spPr>
          <a:xfrm>
            <a:off x="8371606" y="3195919"/>
            <a:ext cx="1157979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6" spc="95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</a:t>
            </a:r>
            <a:endParaRPr lang="en-US" sz="1386" dirty="0"/>
          </a:p>
        </p:txBody>
      </p:sp>
      <p:sp>
        <p:nvSpPr>
          <p:cNvPr id="28" name="Text 25"/>
          <p:cNvSpPr/>
          <p:nvPr/>
        </p:nvSpPr>
        <p:spPr>
          <a:xfrm>
            <a:off x="9423166" y="2982498"/>
            <a:ext cx="3361334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reports/eval/clean_baseline_v1_1</a:t>
            </a:r>
            <a:endParaRPr lang="en-US" sz="1440" dirty="0"/>
          </a:p>
        </p:txBody>
      </p:sp>
      <p:sp>
        <p:nvSpPr>
          <p:cNvPr id="29" name="Shape 26"/>
          <p:cNvSpPr/>
          <p:nvPr/>
        </p:nvSpPr>
        <p:spPr>
          <a:xfrm>
            <a:off x="8371606" y="3561679"/>
            <a:ext cx="5344394" cy="5166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371606" y="3561679"/>
            <a:ext cx="5344394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371606" y="3691158"/>
            <a:ext cx="813336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6" spc="95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E3 冻结</a:t>
            </a:r>
            <a:endParaRPr lang="en-US" sz="1386" dirty="0"/>
          </a:p>
        </p:txBody>
      </p:sp>
      <p:sp>
        <p:nvSpPr>
          <p:cNvPr id="32" name="Text 29"/>
          <p:cNvSpPr/>
          <p:nvPr/>
        </p:nvSpPr>
        <p:spPr>
          <a:xfrm>
            <a:off x="9423166" y="3721699"/>
            <a:ext cx="3441802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reports/eval/E3_FINAL_FREEZE.md</a:t>
            </a:r>
            <a:endParaRPr lang="en-US" sz="1440" dirty="0"/>
          </a:p>
        </p:txBody>
      </p:sp>
      <p:sp>
        <p:nvSpPr>
          <p:cNvPr id="33" name="Shape 30"/>
          <p:cNvSpPr/>
          <p:nvPr/>
        </p:nvSpPr>
        <p:spPr>
          <a:xfrm>
            <a:off x="8371606" y="4078224"/>
            <a:ext cx="5344394" cy="7391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371606" y="4078224"/>
            <a:ext cx="5344394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371606" y="4207794"/>
            <a:ext cx="84866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6" spc="95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验收与缺</a:t>
            </a:r>
            <a:endParaRPr lang="en-US" sz="1386" dirty="0"/>
          </a:p>
        </p:txBody>
      </p:sp>
      <p:sp>
        <p:nvSpPr>
          <p:cNvPr id="36" name="Text 33"/>
          <p:cNvSpPr/>
          <p:nvPr/>
        </p:nvSpPr>
        <p:spPr>
          <a:xfrm>
            <a:off x="8371606" y="4451665"/>
            <a:ext cx="278709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6" spc="95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口</a:t>
            </a:r>
            <a:endParaRPr lang="en-US" sz="1386" dirty="0"/>
          </a:p>
        </p:txBody>
      </p:sp>
      <p:sp>
        <p:nvSpPr>
          <p:cNvPr id="37" name="Text 34"/>
          <p:cNvSpPr/>
          <p:nvPr/>
        </p:nvSpPr>
        <p:spPr>
          <a:xfrm>
            <a:off x="9423166" y="4238244"/>
            <a:ext cx="3220517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FINAL_ACCEPTANCE / GAP_CHECK</a:t>
            </a:r>
            <a:endParaRPr lang="en-US" sz="1440" dirty="0"/>
          </a:p>
        </p:txBody>
      </p:sp>
      <p:sp>
        <p:nvSpPr>
          <p:cNvPr id="38" name="Shape 35"/>
          <p:cNvSpPr/>
          <p:nvPr/>
        </p:nvSpPr>
        <p:spPr>
          <a:xfrm>
            <a:off x="8371606" y="5046025"/>
            <a:ext cx="5344394" cy="155749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742EC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371606" y="5046025"/>
            <a:ext cx="5344394" cy="23186"/>
          </a:xfrm>
          <a:prstGeom prst="rect">
            <a:avLst/>
          </a:prstGeom>
          <a:solidFill>
            <a:srgbClr val="2742EC"/>
          </a:solidFill>
          <a:ln w="12700">
            <a:solidFill>
              <a:srgbClr val="2742EC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371606" y="5244084"/>
            <a:ext cx="51997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274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说明</a:t>
            </a:r>
            <a:endParaRPr lang="en-US" sz="1584" dirty="0"/>
          </a:p>
        </p:txBody>
      </p:sp>
      <p:sp>
        <p:nvSpPr>
          <p:cNvPr id="41" name="Text 38"/>
          <p:cNvSpPr/>
          <p:nvPr/>
        </p:nvSpPr>
        <p:spPr>
          <a:xfrm>
            <a:off x="8371606" y="5617525"/>
            <a:ext cx="39122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97"/>
              </a:lnSpc>
              <a:buNone/>
            </a:pPr>
            <a:r>
              <a:rPr lang="en-US" sz="1584" spc="108" kern="0" dirty="0">
                <a:solidFill>
                  <a:srgbClr val="274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84" dirty="0"/>
          </a:p>
        </p:txBody>
      </p:sp>
      <p:sp>
        <p:nvSpPr>
          <p:cNvPr id="42" name="Text 39"/>
          <p:cNvSpPr/>
          <p:nvPr/>
        </p:nvSpPr>
        <p:spPr>
          <a:xfrm>
            <a:off x="8713683" y="5655564"/>
            <a:ext cx="2710282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API Key 不出现于任何文档</a:t>
            </a:r>
            <a:endParaRPr lang="en-US" sz="1440" dirty="0"/>
          </a:p>
        </p:txBody>
      </p:sp>
      <p:sp>
        <p:nvSpPr>
          <p:cNvPr id="43" name="Text 40"/>
          <p:cNvSpPr/>
          <p:nvPr/>
        </p:nvSpPr>
        <p:spPr>
          <a:xfrm>
            <a:off x="8371606" y="5974050"/>
            <a:ext cx="39122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97"/>
              </a:lnSpc>
              <a:buNone/>
            </a:pPr>
            <a:r>
              <a:rPr lang="en-US" sz="1584" spc="108" kern="0" dirty="0">
                <a:solidFill>
                  <a:srgbClr val="274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84" dirty="0"/>
          </a:p>
        </p:txBody>
      </p:sp>
      <p:sp>
        <p:nvSpPr>
          <p:cNvPr id="44" name="Text 41"/>
          <p:cNvSpPr/>
          <p:nvPr/>
        </p:nvSpPr>
        <p:spPr>
          <a:xfrm>
            <a:off x="8713683" y="6012180"/>
            <a:ext cx="2258568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E3 为机制验证·非全局增益</a:t>
            </a:r>
            <a:endParaRPr lang="en-US" sz="1440" dirty="0"/>
          </a:p>
        </p:txBody>
      </p:sp>
      <p:sp>
        <p:nvSpPr>
          <p:cNvPr id="45" name="Text 42"/>
          <p:cNvSpPr/>
          <p:nvPr/>
        </p:nvSpPr>
        <p:spPr>
          <a:xfrm>
            <a:off x="8371606" y="6330666"/>
            <a:ext cx="39122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97"/>
              </a:lnSpc>
              <a:buNone/>
            </a:pPr>
            <a:r>
              <a:rPr lang="en-US" sz="1584" spc="108" kern="0" dirty="0">
                <a:solidFill>
                  <a:srgbClr val="274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84" dirty="0"/>
          </a:p>
        </p:txBody>
      </p:sp>
      <p:sp>
        <p:nvSpPr>
          <p:cNvPr id="46" name="Text 43"/>
          <p:cNvSpPr/>
          <p:nvPr/>
        </p:nvSpPr>
        <p:spPr>
          <a:xfrm>
            <a:off x="8713683" y="6368796"/>
            <a:ext cx="192024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未实现能力已如实披露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Deck Export</dc:title>
  <dc:subject>Editable PPTX export</dc:subject>
  <dc:creator>Dashi PPT</dc:creator>
  <cp:lastModifiedBy>Dashi PPT</cp:lastModifiedBy>
  <cp:revision>1</cp:revision>
  <dcterms:created xsi:type="dcterms:W3CDTF">2026-09-17T04:03:38Z</dcterms:created>
  <dcterms:modified xsi:type="dcterms:W3CDTF">2026-09-17T04:03:38Z</dcterms:modified>
</cp:coreProperties>
</file>