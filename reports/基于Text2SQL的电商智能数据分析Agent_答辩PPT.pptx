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363724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50289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课程项目答辩 · 2026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9579163" y="720090"/>
            <a:ext cx="472497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基于 TEXT2SQL 的电商智能数据分析 AGENT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50193"/>
            <a:ext cx="5947623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Text2SQL</a:t>
            </a:r>
            <a:endParaRPr lang="en-US" sz="9120" dirty="0"/>
          </a:p>
        </p:txBody>
      </p:sp>
      <p:sp>
        <p:nvSpPr>
          <p:cNvPr id="10" name="Text 8"/>
          <p:cNvSpPr/>
          <p:nvPr/>
        </p:nvSpPr>
        <p:spPr>
          <a:xfrm>
            <a:off x="914400" y="2559040"/>
            <a:ext cx="4585442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电商智能</a:t>
            </a:r>
            <a:endParaRPr lang="en-US" sz="9120" dirty="0"/>
          </a:p>
        </p:txBody>
      </p:sp>
      <p:sp>
        <p:nvSpPr>
          <p:cNvPr id="11" name="Text 9"/>
          <p:cNvSpPr/>
          <p:nvPr/>
        </p:nvSpPr>
        <p:spPr>
          <a:xfrm>
            <a:off x="5408402" y="2559040"/>
            <a:ext cx="4585442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9120" dirty="0"/>
          </a:p>
        </p:txBody>
      </p:sp>
      <p:sp>
        <p:nvSpPr>
          <p:cNvPr id="12" name="Text 10"/>
          <p:cNvSpPr/>
          <p:nvPr/>
        </p:nvSpPr>
        <p:spPr>
          <a:xfrm>
            <a:off x="914400" y="3743325"/>
            <a:ext cx="3636294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120" dirty="0"/>
          </a:p>
        </p:txBody>
      </p:sp>
      <p:sp>
        <p:nvSpPr>
          <p:cNvPr id="13" name="Text 11"/>
          <p:cNvSpPr/>
          <p:nvPr/>
        </p:nvSpPr>
        <p:spPr>
          <a:xfrm>
            <a:off x="914400" y="5093171"/>
            <a:ext cx="9028146" cy="31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60" spc="-12" kern="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面向电商业务的自然语言数据分析与可验证 SQL Agent</a:t>
            </a:r>
            <a:endParaRPr lang="en-US" sz="1860" dirty="0"/>
          </a:p>
        </p:txBody>
      </p:sp>
      <p:sp>
        <p:nvSpPr>
          <p:cNvPr id="14" name="Shape 12"/>
          <p:cNvSpPr/>
          <p:nvPr/>
        </p:nvSpPr>
        <p:spPr>
          <a:xfrm>
            <a:off x="914400" y="5914065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6150254"/>
            <a:ext cx="3964930" cy="9058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7737" y="6150254"/>
            <a:ext cx="11593" cy="90580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979443"/>
            <a:ext cx="2236074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90.0%</a:t>
            </a:r>
            <a:endParaRPr lang="en-US" sz="5544" dirty="0"/>
          </a:p>
        </p:txBody>
      </p:sp>
      <p:sp>
        <p:nvSpPr>
          <p:cNvPr id="18" name="Text 16"/>
          <p:cNvSpPr/>
          <p:nvPr/>
        </p:nvSpPr>
        <p:spPr>
          <a:xfrm>
            <a:off x="2854482" y="6366510"/>
            <a:ext cx="41458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6781830"/>
            <a:ext cx="37439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BASELINE</a:t>
            </a:r>
            <a:endParaRPr lang="en-US" sz="1584" dirty="0"/>
          </a:p>
        </p:txBody>
      </p:sp>
      <p:sp>
        <p:nvSpPr>
          <p:cNvPr id="20" name="Shape 18"/>
          <p:cNvSpPr/>
          <p:nvPr/>
        </p:nvSpPr>
        <p:spPr>
          <a:xfrm>
            <a:off x="5184099" y="6150254"/>
            <a:ext cx="3965021" cy="9058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7528" y="6150254"/>
            <a:ext cx="11593" cy="90580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099" y="5979443"/>
            <a:ext cx="2236074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99.0%</a:t>
            </a:r>
            <a:endParaRPr lang="en-US" sz="5544" dirty="0"/>
          </a:p>
        </p:txBody>
      </p:sp>
      <p:sp>
        <p:nvSpPr>
          <p:cNvPr id="23" name="Text 21"/>
          <p:cNvSpPr/>
          <p:nvPr/>
        </p:nvSpPr>
        <p:spPr>
          <a:xfrm>
            <a:off x="7124182" y="6366510"/>
            <a:ext cx="6538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84099" y="6781830"/>
            <a:ext cx="374401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执行成功率</a:t>
            </a:r>
            <a:endParaRPr lang="en-US" sz="1584" dirty="0"/>
          </a:p>
        </p:txBody>
      </p:sp>
      <p:sp>
        <p:nvSpPr>
          <p:cNvPr id="25" name="Text 23"/>
          <p:cNvSpPr/>
          <p:nvPr/>
        </p:nvSpPr>
        <p:spPr>
          <a:xfrm>
            <a:off x="9453890" y="5979443"/>
            <a:ext cx="1461577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5544" dirty="0"/>
          </a:p>
        </p:txBody>
      </p:sp>
      <p:sp>
        <p:nvSpPr>
          <p:cNvPr id="26" name="Text 24"/>
          <p:cNvSpPr/>
          <p:nvPr/>
        </p:nvSpPr>
        <p:spPr>
          <a:xfrm>
            <a:off x="10642427" y="6367973"/>
            <a:ext cx="32918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53890" y="6781830"/>
            <a:ext cx="37439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评测集 ECO-SQL-BENCH</a:t>
            </a:r>
            <a:endParaRPr lang="en-US" sz="1584" dirty="0"/>
          </a:p>
        </p:txBody>
      </p:sp>
      <p:sp>
        <p:nvSpPr>
          <p:cNvPr id="28" name="Text 26"/>
          <p:cNvSpPr/>
          <p:nvPr/>
        </p:nvSpPr>
        <p:spPr>
          <a:xfrm>
            <a:off x="914400" y="7254210"/>
            <a:ext cx="15231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报告人：何钊新</a:t>
            </a:r>
            <a:endParaRPr lang="en-US" sz="1584" dirty="0"/>
          </a:p>
        </p:txBody>
      </p:sp>
      <p:sp>
        <p:nvSpPr>
          <p:cNvPr id="29" name="Text 27"/>
          <p:cNvSpPr/>
          <p:nvPr/>
        </p:nvSpPr>
        <p:spPr>
          <a:xfrm>
            <a:off x="2606772" y="7254210"/>
            <a:ext cx="195736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嘉应学院·数据科学</a:t>
            </a:r>
            <a:endParaRPr lang="en-US" sz="1584" dirty="0"/>
          </a:p>
        </p:txBody>
      </p:sp>
      <p:sp>
        <p:nvSpPr>
          <p:cNvPr id="30" name="Text 28"/>
          <p:cNvSpPr/>
          <p:nvPr/>
        </p:nvSpPr>
        <p:spPr>
          <a:xfrm>
            <a:off x="4618177" y="7254210"/>
            <a:ext cx="18227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与大数据技术本科</a:t>
            </a:r>
            <a:endParaRPr lang="en-US" sz="1584" dirty="0"/>
          </a:p>
        </p:txBody>
      </p:sp>
      <p:sp>
        <p:nvSpPr>
          <p:cNvPr id="31" name="Text 29"/>
          <p:cNvSpPr/>
          <p:nvPr/>
        </p:nvSpPr>
        <p:spPr>
          <a:xfrm>
            <a:off x="12326021" y="7254210"/>
            <a:ext cx="154885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年 9 月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2685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3535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背景与问题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777381" y="720090"/>
            <a:ext cx="217448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为什么需要这个系统？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03649"/>
            <a:ext cx="288356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传统提数链路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706520" y="1403649"/>
            <a:ext cx="288356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三个核心痛点</a:t>
            </a:r>
            <a:endParaRPr lang="en-US" sz="37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80000">
            <a:off x="11536710" y="960120"/>
            <a:ext cx="1417320" cy="1417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9710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520" dirty="0"/>
          </a:p>
        </p:txBody>
      </p:sp>
      <p:sp>
        <p:nvSpPr>
          <p:cNvPr id="13" name="Text 10"/>
          <p:cNvSpPr/>
          <p:nvPr/>
        </p:nvSpPr>
        <p:spPr>
          <a:xfrm>
            <a:off x="1249710" y="3015600"/>
            <a:ext cx="166496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不会 SQL 的门槛</a:t>
            </a:r>
            <a:endParaRPr lang="en-US" sz="1452" dirty="0"/>
          </a:p>
        </p:txBody>
      </p:sp>
      <p:sp>
        <p:nvSpPr>
          <p:cNvPr id="14" name="Text 11"/>
          <p:cNvSpPr/>
          <p:nvPr/>
        </p:nvSpPr>
        <p:spPr>
          <a:xfrm>
            <a:off x="1249710" y="3299657"/>
            <a:ext cx="158493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9710" y="4198376"/>
            <a:ext cx="368292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业务人员不会 SQL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49710" y="4608210"/>
            <a:ext cx="343659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运营/管理层提数依赖分析师排期，响应周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1249710" y="4873386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期长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1249710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76510" y="2018904"/>
            <a:ext cx="4269791" cy="5128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76510" y="2018904"/>
            <a:ext cx="11593" cy="512859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19410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520" dirty="0"/>
          </a:p>
        </p:txBody>
      </p:sp>
      <p:sp>
        <p:nvSpPr>
          <p:cNvPr id="22" name="Text 19"/>
          <p:cNvSpPr/>
          <p:nvPr/>
        </p:nvSpPr>
        <p:spPr>
          <a:xfrm>
            <a:off x="5519410" y="3015600"/>
            <a:ext cx="119823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生成 ≠ 可信</a:t>
            </a:r>
            <a:endParaRPr lang="en-US" sz="1452" dirty="0"/>
          </a:p>
        </p:txBody>
      </p:sp>
      <p:sp>
        <p:nvSpPr>
          <p:cNvPr id="23" name="Text 20"/>
          <p:cNvSpPr/>
          <p:nvPr/>
        </p:nvSpPr>
        <p:spPr>
          <a:xfrm>
            <a:off x="5519410" y="3299657"/>
            <a:ext cx="158493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6000" dirty="0"/>
          </a:p>
        </p:txBody>
      </p:sp>
      <p:sp>
        <p:nvSpPr>
          <p:cNvPr id="24" name="Text 21"/>
          <p:cNvSpPr/>
          <p:nvPr/>
        </p:nvSpPr>
        <p:spPr>
          <a:xfrm>
            <a:off x="5519410" y="4198376"/>
            <a:ext cx="368311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需执行验证纠错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519410" y="4577669"/>
            <a:ext cx="344427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生成后要能执行、安全校验、自动修复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5519410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46301" y="2018904"/>
            <a:ext cx="4269699" cy="5128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46301" y="2018904"/>
            <a:ext cx="11593" cy="512859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9201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520" dirty="0"/>
          </a:p>
        </p:txBody>
      </p:sp>
      <p:sp>
        <p:nvSpPr>
          <p:cNvPr id="30" name="Text 27"/>
          <p:cNvSpPr/>
          <p:nvPr/>
        </p:nvSpPr>
        <p:spPr>
          <a:xfrm>
            <a:off x="9789201" y="3015600"/>
            <a:ext cx="108287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本项目定位</a:t>
            </a:r>
            <a:endParaRPr lang="en-US" sz="1452" dirty="0"/>
          </a:p>
        </p:txBody>
      </p:sp>
      <p:sp>
        <p:nvSpPr>
          <p:cNvPr id="31" name="Text 28"/>
          <p:cNvSpPr/>
          <p:nvPr/>
        </p:nvSpPr>
        <p:spPr>
          <a:xfrm>
            <a:off x="9789201" y="3299657"/>
            <a:ext cx="158493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6000" dirty="0"/>
          </a:p>
        </p:txBody>
      </p:sp>
      <p:sp>
        <p:nvSpPr>
          <p:cNvPr id="32" name="Text 29"/>
          <p:cNvSpPr/>
          <p:nvPr/>
        </p:nvSpPr>
        <p:spPr>
          <a:xfrm>
            <a:off x="9789201" y="4198376"/>
            <a:ext cx="368292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不是聊天机器人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789201" y="4608210"/>
            <a:ext cx="265176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是能执行、验证、纠错、评测的</a:t>
            </a:r>
            <a:endParaRPr lang="en-US" sz="1440" dirty="0"/>
          </a:p>
        </p:txBody>
      </p:sp>
      <p:sp>
        <p:nvSpPr>
          <p:cNvPr id="34" name="Text 31"/>
          <p:cNvSpPr/>
          <p:nvPr/>
        </p:nvSpPr>
        <p:spPr>
          <a:xfrm>
            <a:off x="9789201" y="4873386"/>
            <a:ext cx="157459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Text2SQL Agent</a:t>
            </a:r>
            <a:endParaRPr lang="en-US" sz="1440" dirty="0"/>
          </a:p>
        </p:txBody>
      </p:sp>
      <p:sp>
        <p:nvSpPr>
          <p:cNvPr id="35" name="Shape 32"/>
          <p:cNvSpPr/>
          <p:nvPr/>
        </p:nvSpPr>
        <p:spPr>
          <a:xfrm>
            <a:off x="9789201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714759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" y="7277070"/>
            <a:ext cx="5704393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业务问题 → 理解 SCHEMA → 手写 SQL → 检查 → 执行 → 分析</a:t>
            </a:r>
            <a:endParaRPr lang="en-US" sz="1452" dirty="0"/>
          </a:p>
        </p:txBody>
      </p:sp>
      <p:sp>
        <p:nvSpPr>
          <p:cNvPr id="38" name="Text 35"/>
          <p:cNvSpPr/>
          <p:nvPr/>
        </p:nvSpPr>
        <p:spPr>
          <a:xfrm>
            <a:off x="10819729" y="7277070"/>
            <a:ext cx="3262617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结论：需要的是 AGENT 而非生成器</a:t>
            </a:r>
            <a:endParaRPr lang="en-US" sz="14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53214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3473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从提问到可信结论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9167683" y="720090"/>
            <a:ext cx="463975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自然语言 → 可执行 SQL → 安全执行 → 可评测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1952884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2928183" y="1600200"/>
            <a:ext cx="370332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 SQL 执行准确率目标 ≥85%，已达成</a:t>
            </a:r>
            <a:endParaRPr lang="en-US" sz="14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49445"/>
            <a:ext cx="12801600" cy="4572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715000" y="3588654"/>
            <a:ext cx="3200400" cy="1493490"/>
          </a:xfrm>
          <a:prstGeom prst="rect">
            <a:avLst/>
          </a:prstGeom>
          <a:solidFill>
            <a:srgbClr val="F3F2EE">
              <a:alpha val="6000"/>
            </a:srgbClr>
          </a:solidFill>
          <a:ln w="28575">
            <a:solidFill>
              <a:srgbClr val="F3F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66460" y="3922319"/>
            <a:ext cx="1051560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2280" dirty="0"/>
          </a:p>
        </p:txBody>
      </p:sp>
      <p:sp>
        <p:nvSpPr>
          <p:cNvPr id="14" name="Shape 11"/>
          <p:cNvSpPr/>
          <p:nvPr/>
        </p:nvSpPr>
        <p:spPr>
          <a:xfrm>
            <a:off x="7018020" y="4028938"/>
            <a:ext cx="701070" cy="20574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028938"/>
            <a:ext cx="66754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90" b="1" spc="113" kern="0" dirty="0">
                <a:solidFill>
                  <a:srgbClr val="0D1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项目目标</a:t>
            </a:r>
            <a:endParaRPr lang="en-US" sz="990" dirty="0"/>
          </a:p>
        </p:txBody>
      </p:sp>
      <p:sp>
        <p:nvSpPr>
          <p:cNvPr id="16" name="Text 13"/>
          <p:cNvSpPr/>
          <p:nvPr/>
        </p:nvSpPr>
        <p:spPr>
          <a:xfrm>
            <a:off x="5966460" y="4265219"/>
            <a:ext cx="309122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2" spc="77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endParaRPr lang="en-US" sz="1122" dirty="0"/>
          </a:p>
        </p:txBody>
      </p:sp>
      <p:sp>
        <p:nvSpPr>
          <p:cNvPr id="17" name="Text 14"/>
          <p:cNvSpPr/>
          <p:nvPr/>
        </p:nvSpPr>
        <p:spPr>
          <a:xfrm>
            <a:off x="5966460" y="4516679"/>
            <a:ext cx="2788920" cy="259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ECO-SQL-Bench v1.1 执行准确率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5867430" y="204944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65490" y="2357277"/>
            <a:ext cx="137160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自然语言分析</a:t>
            </a:r>
            <a:endParaRPr lang="en-US" sz="1680" dirty="0"/>
          </a:p>
        </p:txBody>
      </p:sp>
      <p:sp>
        <p:nvSpPr>
          <p:cNvPr id="20" name="Text 17"/>
          <p:cNvSpPr/>
          <p:nvPr/>
        </p:nvSpPr>
        <p:spPr>
          <a:xfrm>
            <a:off x="6065490" y="2637861"/>
            <a:ext cx="8182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QUERY</a:t>
            </a:r>
            <a:endParaRPr lang="en-US" sz="990" dirty="0"/>
          </a:p>
        </p:txBody>
      </p:sp>
      <p:sp>
        <p:nvSpPr>
          <p:cNvPr id="21" name="Text 18"/>
          <p:cNvSpPr/>
          <p:nvPr/>
        </p:nvSpPr>
        <p:spPr>
          <a:xfrm>
            <a:off x="6065490" y="2866461"/>
            <a:ext cx="259077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业务人员直接向数据提问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10820370" y="369536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018520" y="4003197"/>
            <a:ext cx="150117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理解</a:t>
            </a:r>
            <a:endParaRPr lang="en-US" sz="1680" dirty="0"/>
          </a:p>
        </p:txBody>
      </p:sp>
      <p:sp>
        <p:nvSpPr>
          <p:cNvPr id="24" name="Text 21"/>
          <p:cNvSpPr/>
          <p:nvPr/>
        </p:nvSpPr>
        <p:spPr>
          <a:xfrm>
            <a:off x="11018520" y="4283781"/>
            <a:ext cx="66754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endParaRPr lang="en-US" sz="990" dirty="0"/>
          </a:p>
        </p:txBody>
      </p:sp>
      <p:sp>
        <p:nvSpPr>
          <p:cNvPr id="25" name="Text 22"/>
          <p:cNvSpPr/>
          <p:nvPr/>
        </p:nvSpPr>
        <p:spPr>
          <a:xfrm>
            <a:off x="11018520" y="4512381"/>
            <a:ext cx="259077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表/字段/口径结构化管理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5867430" y="534128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65490" y="5649117"/>
            <a:ext cx="179067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Text2SQL+安全</a:t>
            </a:r>
            <a:endParaRPr lang="en-US" sz="1680" dirty="0"/>
          </a:p>
        </p:txBody>
      </p:sp>
      <p:sp>
        <p:nvSpPr>
          <p:cNvPr id="28" name="Text 25"/>
          <p:cNvSpPr/>
          <p:nvPr/>
        </p:nvSpPr>
        <p:spPr>
          <a:xfrm>
            <a:off x="6065490" y="5929701"/>
            <a:ext cx="94263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GEN+GUARD</a:t>
            </a:r>
            <a:endParaRPr lang="en-US" sz="990" dirty="0"/>
          </a:p>
        </p:txBody>
      </p:sp>
      <p:sp>
        <p:nvSpPr>
          <p:cNvPr id="29" name="Text 26"/>
          <p:cNvSpPr/>
          <p:nvPr/>
        </p:nvSpPr>
        <p:spPr>
          <a:xfrm>
            <a:off x="6065490" y="6158301"/>
            <a:ext cx="259077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SQL + 独立安全校验层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914400" y="369536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12550" y="4003197"/>
            <a:ext cx="157337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执行·修复·评测</a:t>
            </a:r>
            <a:endParaRPr lang="en-US" sz="1680" dirty="0"/>
          </a:p>
        </p:txBody>
      </p:sp>
      <p:sp>
        <p:nvSpPr>
          <p:cNvPr id="32" name="Text 29"/>
          <p:cNvSpPr/>
          <p:nvPr/>
        </p:nvSpPr>
        <p:spPr>
          <a:xfrm>
            <a:off x="1112550" y="4283781"/>
            <a:ext cx="47660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990" dirty="0"/>
          </a:p>
        </p:txBody>
      </p:sp>
      <p:sp>
        <p:nvSpPr>
          <p:cNvPr id="33" name="Text 30"/>
          <p:cNvSpPr/>
          <p:nvPr/>
        </p:nvSpPr>
        <p:spPr>
          <a:xfrm>
            <a:off x="1112550" y="4512381"/>
            <a:ext cx="259077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只读执行、有界 Repair、可评测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4400" y="7254210"/>
            <a:ext cx="13884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四个能力支柱</a:t>
            </a:r>
            <a:endParaRPr lang="en-US" sz="1584" dirty="0"/>
          </a:p>
        </p:txBody>
      </p:sp>
      <p:sp>
        <p:nvSpPr>
          <p:cNvPr id="37" name="Text 34"/>
          <p:cNvSpPr/>
          <p:nvPr/>
        </p:nvSpPr>
        <p:spPr>
          <a:xfrm>
            <a:off x="2214677" y="7275424"/>
            <a:ext cx="3800886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99.0% · Pass@1 90.0% · 0 Provider · 0 Timeout</a:t>
            </a:r>
            <a:endParaRPr lang="en-US" sz="126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13411230" y="822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356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6848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系统总体架构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879440" y="720090"/>
            <a:ext cx="329348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MIMO 是外部 LLM PROVIDER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5207356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外部调用 · 非系统内部层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6042081" y="1600200"/>
            <a:ext cx="31775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→ 前端 → API → Agent → 只读库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2425629" y="304010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2509205" y="304010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6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7767"/>
            <a:ext cx="6468283" cy="4876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084271" y="3009656"/>
            <a:ext cx="179149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V2.5 Pro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75855" y="3078236"/>
            <a:ext cx="120012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PROVIDER</a:t>
            </a:r>
            <a:endParaRPr lang="en-US" sz="990" dirty="0"/>
          </a:p>
        </p:txBody>
      </p:sp>
      <p:sp>
        <p:nvSpPr>
          <p:cNvPr id="16" name="Text 13"/>
          <p:cNvSpPr/>
          <p:nvPr/>
        </p:nvSpPr>
        <p:spPr>
          <a:xfrm>
            <a:off x="2069836" y="3573567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17" name="Text 14"/>
          <p:cNvSpPr/>
          <p:nvPr/>
        </p:nvSpPr>
        <p:spPr>
          <a:xfrm>
            <a:off x="2153412" y="3573567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6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1136"/>
            <a:ext cx="6468283" cy="4876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28570" y="3567349"/>
            <a:ext cx="5486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272638" y="3634466"/>
            <a:ext cx="47660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90" dirty="0"/>
          </a:p>
        </p:txBody>
      </p:sp>
      <p:sp>
        <p:nvSpPr>
          <p:cNvPr id="21" name="Text 17"/>
          <p:cNvSpPr/>
          <p:nvPr/>
        </p:nvSpPr>
        <p:spPr>
          <a:xfrm>
            <a:off x="1714134" y="410693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22" name="Text 18"/>
          <p:cNvSpPr/>
          <p:nvPr/>
        </p:nvSpPr>
        <p:spPr>
          <a:xfrm>
            <a:off x="1797710" y="410693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6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54506"/>
            <a:ext cx="6468283" cy="4876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372777" y="4076487"/>
            <a:ext cx="199275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ECharts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365528" y="4145067"/>
            <a:ext cx="85847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90" dirty="0"/>
          </a:p>
        </p:txBody>
      </p:sp>
      <p:sp>
        <p:nvSpPr>
          <p:cNvPr id="26" name="Text 21"/>
          <p:cNvSpPr/>
          <p:nvPr/>
        </p:nvSpPr>
        <p:spPr>
          <a:xfrm>
            <a:off x="1358341" y="464030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27" name="Text 22"/>
          <p:cNvSpPr/>
          <p:nvPr/>
        </p:nvSpPr>
        <p:spPr>
          <a:xfrm>
            <a:off x="1441917" y="464030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6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7967"/>
            <a:ext cx="6468283" cy="4876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017075" y="4609856"/>
            <a:ext cx="107213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3052633" y="4678436"/>
            <a:ext cx="381133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90" dirty="0"/>
          </a:p>
        </p:txBody>
      </p:sp>
      <p:sp>
        <p:nvSpPr>
          <p:cNvPr id="31" name="Text 25"/>
          <p:cNvSpPr/>
          <p:nvPr/>
        </p:nvSpPr>
        <p:spPr>
          <a:xfrm>
            <a:off x="1002548" y="5173767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32" name="Text 26"/>
          <p:cNvSpPr/>
          <p:nvPr/>
        </p:nvSpPr>
        <p:spPr>
          <a:xfrm>
            <a:off x="1086124" y="5173767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6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021336"/>
            <a:ext cx="6468283" cy="4876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61282" y="5143226"/>
            <a:ext cx="2183221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3844503" y="5211806"/>
            <a:ext cx="133582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990" dirty="0"/>
          </a:p>
        </p:txBody>
      </p:sp>
      <p:sp>
        <p:nvSpPr>
          <p:cNvPr id="36" name="Text 29"/>
          <p:cNvSpPr/>
          <p:nvPr/>
        </p:nvSpPr>
        <p:spPr>
          <a:xfrm>
            <a:off x="646938" y="570713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56" dirty="0"/>
          </a:p>
        </p:txBody>
      </p:sp>
      <p:sp>
        <p:nvSpPr>
          <p:cNvPr id="37" name="Text 30"/>
          <p:cNvSpPr/>
          <p:nvPr/>
        </p:nvSpPr>
        <p:spPr>
          <a:xfrm>
            <a:off x="730514" y="5707136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6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554706"/>
            <a:ext cx="6468283" cy="4876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305489" y="5701010"/>
            <a:ext cx="143789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只读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2710007" y="5768127"/>
            <a:ext cx="122903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ECOMMERCE.DB</a:t>
            </a:r>
            <a:endParaRPr lang="en-US" sz="990" dirty="0"/>
          </a:p>
        </p:txBody>
      </p:sp>
      <p:sp>
        <p:nvSpPr>
          <p:cNvPr id="41" name="Shape 33"/>
          <p:cNvSpPr/>
          <p:nvPr/>
        </p:nvSpPr>
        <p:spPr>
          <a:xfrm>
            <a:off x="7778984" y="1912285"/>
            <a:ext cx="5937016" cy="51057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778984" y="1912285"/>
            <a:ext cx="11593" cy="510573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8091343" y="2444740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091343" y="3085023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091343" y="2619939"/>
            <a:ext cx="106710" cy="106710"/>
          </a:xfrm>
          <a:prstGeom prst="rect">
            <a:avLst/>
          </a:prstGeom>
          <a:solidFill>
            <a:srgbClr val="6E85FF"/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319943" y="2551359"/>
            <a:ext cx="141732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V2.5 Pro</a:t>
            </a:r>
            <a:endParaRPr lang="en-US" sz="1440" dirty="0"/>
          </a:p>
        </p:txBody>
      </p:sp>
      <p:sp>
        <p:nvSpPr>
          <p:cNvPr id="47" name="Text 39"/>
          <p:cNvSpPr/>
          <p:nvPr/>
        </p:nvSpPr>
        <p:spPr>
          <a:xfrm>
            <a:off x="9722084" y="2589489"/>
            <a:ext cx="1127429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PROVIDER</a:t>
            </a:r>
            <a:endParaRPr lang="en-US" sz="924" dirty="0"/>
          </a:p>
        </p:txBody>
      </p:sp>
      <p:sp>
        <p:nvSpPr>
          <p:cNvPr id="48" name="Text 40"/>
          <p:cNvSpPr/>
          <p:nvPr/>
        </p:nvSpPr>
        <p:spPr>
          <a:xfrm>
            <a:off x="8319943" y="2772369"/>
            <a:ext cx="2508733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OpenAI-compatible · 外部推理服务</a:t>
            </a:r>
            <a:endParaRPr lang="en-US" sz="1140" dirty="0"/>
          </a:p>
        </p:txBody>
      </p:sp>
      <p:sp>
        <p:nvSpPr>
          <p:cNvPr id="49" name="Shape 41"/>
          <p:cNvSpPr/>
          <p:nvPr/>
        </p:nvSpPr>
        <p:spPr>
          <a:xfrm>
            <a:off x="8091343" y="3096616"/>
            <a:ext cx="5624657" cy="720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8091343" y="3805478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8091343" y="3271815"/>
            <a:ext cx="106710" cy="106710"/>
          </a:xfrm>
          <a:prstGeom prst="rect">
            <a:avLst/>
          </a:prstGeom>
          <a:solidFill>
            <a:srgbClr val="6E85FF">
              <a:alpha val="84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319943" y="3256636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440" dirty="0"/>
          </a:p>
        </p:txBody>
      </p:sp>
      <p:sp>
        <p:nvSpPr>
          <p:cNvPr id="53" name="Text 45"/>
          <p:cNvSpPr/>
          <p:nvPr/>
        </p:nvSpPr>
        <p:spPr>
          <a:xfrm>
            <a:off x="8761964" y="3294675"/>
            <a:ext cx="452144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24" dirty="0"/>
          </a:p>
        </p:txBody>
      </p:sp>
      <p:sp>
        <p:nvSpPr>
          <p:cNvPr id="54" name="Text 46"/>
          <p:cNvSpPr/>
          <p:nvPr/>
        </p:nvSpPr>
        <p:spPr>
          <a:xfrm>
            <a:off x="8319943" y="3492825"/>
            <a:ext cx="1671904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自然语言提问 / 结果消费</a:t>
            </a:r>
            <a:endParaRPr lang="en-US" sz="1140" dirty="0"/>
          </a:p>
        </p:txBody>
      </p:sp>
      <p:sp>
        <p:nvSpPr>
          <p:cNvPr id="55" name="Shape 47"/>
          <p:cNvSpPr/>
          <p:nvPr/>
        </p:nvSpPr>
        <p:spPr>
          <a:xfrm>
            <a:off x="8091343" y="3816980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8091343" y="4457263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8091343" y="3992270"/>
            <a:ext cx="106710" cy="106710"/>
          </a:xfrm>
          <a:prstGeom prst="rect">
            <a:avLst/>
          </a:prstGeom>
          <a:solidFill>
            <a:srgbClr val="6E85FF">
              <a:alpha val="69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8319943" y="3923690"/>
            <a:ext cx="158493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ECharts</a:t>
            </a:r>
            <a:endParaRPr lang="en-US" sz="1440" dirty="0"/>
          </a:p>
        </p:txBody>
      </p:sp>
      <p:sp>
        <p:nvSpPr>
          <p:cNvPr id="59" name="Text 51"/>
          <p:cNvSpPr/>
          <p:nvPr/>
        </p:nvSpPr>
        <p:spPr>
          <a:xfrm>
            <a:off x="9889693" y="3961821"/>
            <a:ext cx="80856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24" dirty="0"/>
          </a:p>
        </p:txBody>
      </p:sp>
      <p:sp>
        <p:nvSpPr>
          <p:cNvPr id="60" name="Text 52"/>
          <p:cNvSpPr/>
          <p:nvPr/>
        </p:nvSpPr>
        <p:spPr>
          <a:xfrm>
            <a:off x="8319943" y="4144701"/>
            <a:ext cx="2261128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 · 结果 · Trace · 图表</a:t>
            </a:r>
            <a:endParaRPr lang="en-US" sz="1140" dirty="0"/>
          </a:p>
        </p:txBody>
      </p:sp>
      <p:sp>
        <p:nvSpPr>
          <p:cNvPr id="61" name="Shape 53"/>
          <p:cNvSpPr/>
          <p:nvPr/>
        </p:nvSpPr>
        <p:spPr>
          <a:xfrm>
            <a:off x="8091343" y="4468856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8091343" y="5109138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8091343" y="4644146"/>
            <a:ext cx="106710" cy="106710"/>
          </a:xfrm>
          <a:prstGeom prst="rect">
            <a:avLst/>
          </a:prstGeom>
          <a:solidFill>
            <a:srgbClr val="6E85FF">
              <a:alpha val="53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8319943" y="4575566"/>
            <a:ext cx="87965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440" dirty="0"/>
          </a:p>
        </p:txBody>
      </p:sp>
      <p:sp>
        <p:nvSpPr>
          <p:cNvPr id="65" name="Text 57"/>
          <p:cNvSpPr/>
          <p:nvPr/>
        </p:nvSpPr>
        <p:spPr>
          <a:xfrm>
            <a:off x="9120043" y="4613697"/>
            <a:ext cx="36304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24" dirty="0"/>
          </a:p>
        </p:txBody>
      </p:sp>
      <p:sp>
        <p:nvSpPr>
          <p:cNvPr id="66" name="Text 58"/>
          <p:cNvSpPr/>
          <p:nvPr/>
        </p:nvSpPr>
        <p:spPr>
          <a:xfrm>
            <a:off x="8319943" y="4796577"/>
            <a:ext cx="1977390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路由 · /docs 自动文档</a:t>
            </a:r>
            <a:endParaRPr lang="en-US" sz="1140" dirty="0"/>
          </a:p>
        </p:txBody>
      </p:sp>
      <p:sp>
        <p:nvSpPr>
          <p:cNvPr id="67" name="Shape 59"/>
          <p:cNvSpPr/>
          <p:nvPr/>
        </p:nvSpPr>
        <p:spPr>
          <a:xfrm>
            <a:off x="8091343" y="5120731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8091343" y="5761014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8091343" y="5296022"/>
            <a:ext cx="106710" cy="106710"/>
          </a:xfrm>
          <a:prstGeom prst="rect">
            <a:avLst/>
          </a:prstGeom>
          <a:solidFill>
            <a:srgbClr val="6E85FF">
              <a:alpha val="3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8319943" y="5227442"/>
            <a:ext cx="17069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</a:t>
            </a:r>
            <a:endParaRPr lang="en-US" sz="1440" dirty="0"/>
          </a:p>
        </p:txBody>
      </p:sp>
      <p:sp>
        <p:nvSpPr>
          <p:cNvPr id="71" name="Text 63"/>
          <p:cNvSpPr/>
          <p:nvPr/>
        </p:nvSpPr>
        <p:spPr>
          <a:xfrm>
            <a:off x="10011583" y="5265572"/>
            <a:ext cx="1254084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924" dirty="0"/>
          </a:p>
        </p:txBody>
      </p:sp>
      <p:sp>
        <p:nvSpPr>
          <p:cNvPr id="72" name="Text 64"/>
          <p:cNvSpPr/>
          <p:nvPr/>
        </p:nvSpPr>
        <p:spPr>
          <a:xfrm>
            <a:off x="8319943" y="5448452"/>
            <a:ext cx="336654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→ Few-shot → 生成 → 安全 → 执行 → 修复</a:t>
            </a:r>
            <a:endParaRPr lang="en-US" sz="1140" dirty="0"/>
          </a:p>
        </p:txBody>
      </p:sp>
      <p:sp>
        <p:nvSpPr>
          <p:cNvPr id="73" name="Shape 65"/>
          <p:cNvSpPr/>
          <p:nvPr/>
        </p:nvSpPr>
        <p:spPr>
          <a:xfrm>
            <a:off x="8091343" y="5947898"/>
            <a:ext cx="106710" cy="106710"/>
          </a:xfrm>
          <a:prstGeom prst="rect">
            <a:avLst/>
          </a:prstGeom>
          <a:solidFill>
            <a:srgbClr val="6E85FF">
              <a:alpha val="25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8319943" y="5932627"/>
            <a:ext cx="1172261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只读</a:t>
            </a:r>
            <a:endParaRPr lang="en-US" sz="1440" dirty="0"/>
          </a:p>
        </p:txBody>
      </p:sp>
      <p:sp>
        <p:nvSpPr>
          <p:cNvPr id="75" name="Text 67"/>
          <p:cNvSpPr/>
          <p:nvPr/>
        </p:nvSpPr>
        <p:spPr>
          <a:xfrm>
            <a:off x="9424904" y="5970758"/>
            <a:ext cx="1154419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ECOMMERCE.DB</a:t>
            </a:r>
            <a:endParaRPr lang="en-US" sz="924" dirty="0"/>
          </a:p>
        </p:txBody>
      </p:sp>
      <p:sp>
        <p:nvSpPr>
          <p:cNvPr id="76" name="Text 68"/>
          <p:cNvSpPr/>
          <p:nvPr/>
        </p:nvSpPr>
        <p:spPr>
          <a:xfrm>
            <a:off x="8319943" y="6168908"/>
            <a:ext cx="2096171" cy="23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mode=ro · query_only=ON</a:t>
            </a:r>
            <a:endParaRPr lang="en-US" sz="1140" dirty="0"/>
          </a:p>
        </p:txBody>
      </p:sp>
      <p:sp>
        <p:nvSpPr>
          <p:cNvPr id="77" name="Shape 69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914400" y="7254210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实际技术栈</a:t>
            </a:r>
            <a:endParaRPr lang="en-US" sz="1584" dirty="0"/>
          </a:p>
        </p:txBody>
      </p:sp>
      <p:sp>
        <p:nvSpPr>
          <p:cNvPr id="80" name="Text 72"/>
          <p:cNvSpPr/>
          <p:nvPr/>
        </p:nvSpPr>
        <p:spPr>
          <a:xfrm>
            <a:off x="2020824" y="7275424"/>
            <a:ext cx="4006626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· React 19 · Vite · ECharts 6 · LangGraph 1.2</a:t>
            </a:r>
            <a:endParaRPr lang="en-US" sz="1260" dirty="0"/>
          </a:p>
        </p:txBody>
      </p:sp>
      <p:pic>
        <p:nvPicPr>
          <p:cNvPr id="8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480000">
            <a:off x="13334970" y="83823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1353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5036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核心流程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493917" y="720090"/>
            <a:ext cx="26344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有界状态图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1952884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2928183" y="1600200"/>
            <a:ext cx="454822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repair_count≤1 · execute_count≤2 · 绝不无限循环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6290" y="222464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14" name="Text 12"/>
          <p:cNvSpPr/>
          <p:nvPr/>
        </p:nvSpPr>
        <p:spPr>
          <a:xfrm>
            <a:off x="1036290" y="24075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1432956" y="2163745"/>
            <a:ext cx="109728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2956" y="2407524"/>
            <a:ext cx="101041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36290" y="2651394"/>
            <a:ext cx="452144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endParaRPr lang="en-US" sz="924" dirty="0"/>
          </a:p>
        </p:txBody>
      </p:sp>
      <p:sp>
        <p:nvSpPr>
          <p:cNvPr id="18" name="Shape 16"/>
          <p:cNvSpPr/>
          <p:nvPr/>
        </p:nvSpPr>
        <p:spPr>
          <a:xfrm>
            <a:off x="3496026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96026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7915" y="229322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21" name="Text 19"/>
          <p:cNvSpPr/>
          <p:nvPr/>
        </p:nvSpPr>
        <p:spPr>
          <a:xfrm>
            <a:off x="3876416" y="22932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6" dirty="0"/>
          </a:p>
        </p:txBody>
      </p:sp>
      <p:sp>
        <p:nvSpPr>
          <p:cNvPr id="22" name="Text 20"/>
          <p:cNvSpPr/>
          <p:nvPr/>
        </p:nvSpPr>
        <p:spPr>
          <a:xfrm>
            <a:off x="4036253" y="2233788"/>
            <a:ext cx="171450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Few-shot 检索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7915" y="2498964"/>
            <a:ext cx="80856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endParaRPr lang="en-US" sz="924" dirty="0"/>
          </a:p>
        </p:txBody>
      </p:sp>
      <p:sp>
        <p:nvSpPr>
          <p:cNvPr id="24" name="Shape 22"/>
          <p:cNvSpPr/>
          <p:nvPr/>
        </p:nvSpPr>
        <p:spPr>
          <a:xfrm>
            <a:off x="6077651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7651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541" y="229322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27" name="Text 25"/>
          <p:cNvSpPr/>
          <p:nvPr/>
        </p:nvSpPr>
        <p:spPr>
          <a:xfrm>
            <a:off x="6458041" y="22932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6" dirty="0"/>
          </a:p>
        </p:txBody>
      </p:sp>
      <p:sp>
        <p:nvSpPr>
          <p:cNvPr id="28" name="Text 26"/>
          <p:cNvSpPr/>
          <p:nvPr/>
        </p:nvSpPr>
        <p:spPr>
          <a:xfrm>
            <a:off x="6617879" y="2233788"/>
            <a:ext cx="109728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生成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99541" y="2498964"/>
            <a:ext cx="80856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endParaRPr lang="en-US" sz="924" dirty="0"/>
          </a:p>
        </p:txBody>
      </p:sp>
      <p:sp>
        <p:nvSpPr>
          <p:cNvPr id="30" name="Shape 28"/>
          <p:cNvSpPr/>
          <p:nvPr/>
        </p:nvSpPr>
        <p:spPr>
          <a:xfrm>
            <a:off x="8659277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9277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81258" y="229322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33" name="Text 31"/>
          <p:cNvSpPr/>
          <p:nvPr/>
        </p:nvSpPr>
        <p:spPr>
          <a:xfrm>
            <a:off x="9039667" y="22932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6" dirty="0"/>
          </a:p>
        </p:txBody>
      </p:sp>
      <p:sp>
        <p:nvSpPr>
          <p:cNvPr id="34" name="Text 32"/>
          <p:cNvSpPr/>
          <p:nvPr/>
        </p:nvSpPr>
        <p:spPr>
          <a:xfrm>
            <a:off x="9199504" y="2233788"/>
            <a:ext cx="139674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校验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781258" y="2498964"/>
            <a:ext cx="630353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</a:t>
            </a:r>
            <a:endParaRPr lang="en-US" sz="924" dirty="0"/>
          </a:p>
        </p:txBody>
      </p:sp>
      <p:sp>
        <p:nvSpPr>
          <p:cNvPr id="36" name="Shape 34"/>
          <p:cNvSpPr/>
          <p:nvPr/>
        </p:nvSpPr>
        <p:spPr>
          <a:xfrm>
            <a:off x="11240902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40902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62883" y="2293224"/>
            <a:ext cx="3832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</a:t>
            </a:r>
            <a:endParaRPr lang="en-US" sz="1056" dirty="0"/>
          </a:p>
        </p:txBody>
      </p:sp>
      <p:sp>
        <p:nvSpPr>
          <p:cNvPr id="39" name="Text 37"/>
          <p:cNvSpPr/>
          <p:nvPr/>
        </p:nvSpPr>
        <p:spPr>
          <a:xfrm>
            <a:off x="11621292" y="2293224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6" dirty="0"/>
          </a:p>
        </p:txBody>
      </p:sp>
      <p:sp>
        <p:nvSpPr>
          <p:cNvPr id="40" name="Text 38"/>
          <p:cNvSpPr/>
          <p:nvPr/>
        </p:nvSpPr>
        <p:spPr>
          <a:xfrm>
            <a:off x="11781130" y="2233788"/>
            <a:ext cx="159562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+ Repair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362883" y="2498964"/>
            <a:ext cx="71945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924" dirty="0"/>
          </a:p>
        </p:txBody>
      </p:sp>
      <p:sp>
        <p:nvSpPr>
          <p:cNvPr id="42" name="Text 40"/>
          <p:cNvSpPr/>
          <p:nvPr/>
        </p:nvSpPr>
        <p:spPr>
          <a:xfrm>
            <a:off x="914400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43" name="Text 41"/>
          <p:cNvSpPr/>
          <p:nvPr/>
        </p:nvSpPr>
        <p:spPr>
          <a:xfrm>
            <a:off x="914400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识别表/字段/置信度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3496026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45" name="Text 43"/>
          <p:cNvSpPr/>
          <p:nvPr/>
        </p:nvSpPr>
        <p:spPr>
          <a:xfrm>
            <a:off x="3496026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规则型 Top-K 示例</a:t>
            </a:r>
            <a:endParaRPr lang="en-US" sz="1140" dirty="0"/>
          </a:p>
        </p:txBody>
      </p:sp>
      <p:sp>
        <p:nvSpPr>
          <p:cNvPr id="46" name="Text 44"/>
          <p:cNvSpPr/>
          <p:nvPr/>
        </p:nvSpPr>
        <p:spPr>
          <a:xfrm>
            <a:off x="6077651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47" name="Text 45"/>
          <p:cNvSpPr/>
          <p:nvPr/>
        </p:nvSpPr>
        <p:spPr>
          <a:xfrm>
            <a:off x="6077651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生成候选 SQL</a:t>
            </a:r>
            <a:endParaRPr lang="en-US" sz="1140" dirty="0"/>
          </a:p>
        </p:txBody>
      </p:sp>
      <p:sp>
        <p:nvSpPr>
          <p:cNvPr id="48" name="Text 46"/>
          <p:cNvSpPr/>
          <p:nvPr/>
        </p:nvSpPr>
        <p:spPr>
          <a:xfrm>
            <a:off x="8659277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49" name="Text 47"/>
          <p:cNvSpPr/>
          <p:nvPr/>
        </p:nvSpPr>
        <p:spPr>
          <a:xfrm>
            <a:off x="8659277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独立校验层把关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11240902" y="3009565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执行行为</a:t>
            </a:r>
            <a:endParaRPr lang="en-US" sz="858" dirty="0"/>
          </a:p>
        </p:txBody>
      </p:sp>
      <p:sp>
        <p:nvSpPr>
          <p:cNvPr id="51" name="Text 49"/>
          <p:cNvSpPr/>
          <p:nvPr/>
        </p:nvSpPr>
        <p:spPr>
          <a:xfrm>
            <a:off x="11240902" y="3200034"/>
            <a:ext cx="2566355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Repair≤1 → Re-check → 重执</a:t>
            </a:r>
            <a:endParaRPr lang="en-US" sz="1140" dirty="0"/>
          </a:p>
        </p:txBody>
      </p:sp>
      <p:sp>
        <p:nvSpPr>
          <p:cNvPr id="52" name="Text 50"/>
          <p:cNvSpPr/>
          <p:nvPr/>
        </p:nvSpPr>
        <p:spPr>
          <a:xfrm>
            <a:off x="914400" y="3555096"/>
            <a:ext cx="233521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全链路 TRACE · 状态/失败/SKIP/耗时</a:t>
            </a:r>
            <a:endParaRPr lang="en-US" sz="858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68425"/>
            <a:ext cx="12801600" cy="3054187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2049170" y="3958438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理解</a:t>
            </a:r>
            <a:endParaRPr lang="en-US" sz="1188" dirty="0"/>
          </a:p>
        </p:txBody>
      </p:sp>
      <p:sp>
        <p:nvSpPr>
          <p:cNvPr id="55" name="Shape 52"/>
          <p:cNvSpPr/>
          <p:nvPr/>
        </p:nvSpPr>
        <p:spPr>
          <a:xfrm>
            <a:off x="2125980" y="4225168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09490" y="4056187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辅助</a:t>
            </a:r>
            <a:endParaRPr lang="en-US" sz="1188" dirty="0"/>
          </a:p>
        </p:txBody>
      </p:sp>
      <p:sp>
        <p:nvSpPr>
          <p:cNvPr id="57" name="Shape 54"/>
          <p:cNvSpPr/>
          <p:nvPr/>
        </p:nvSpPr>
        <p:spPr>
          <a:xfrm>
            <a:off x="468630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69810" y="4056187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生成</a:t>
            </a:r>
            <a:endParaRPr lang="en-US" sz="1188" dirty="0"/>
          </a:p>
        </p:txBody>
      </p:sp>
      <p:sp>
        <p:nvSpPr>
          <p:cNvPr id="59" name="Shape 56"/>
          <p:cNvSpPr/>
          <p:nvPr/>
        </p:nvSpPr>
        <p:spPr>
          <a:xfrm>
            <a:off x="724662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730130" y="4056187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把关</a:t>
            </a:r>
            <a:endParaRPr lang="en-US" sz="1188" dirty="0"/>
          </a:p>
        </p:txBody>
      </p:sp>
      <p:sp>
        <p:nvSpPr>
          <p:cNvPr id="61" name="Shape 58"/>
          <p:cNvSpPr/>
          <p:nvPr/>
        </p:nvSpPr>
        <p:spPr>
          <a:xfrm>
            <a:off x="980694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2290359" y="4837999"/>
            <a:ext cx="41741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纠错</a:t>
            </a:r>
            <a:endParaRPr lang="en-US" sz="1188" dirty="0"/>
          </a:p>
        </p:txBody>
      </p:sp>
      <p:sp>
        <p:nvSpPr>
          <p:cNvPr id="63" name="Shape 60"/>
          <p:cNvSpPr/>
          <p:nvPr/>
        </p:nvSpPr>
        <p:spPr>
          <a:xfrm>
            <a:off x="12367260" y="5104729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14400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14400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59150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67" name="Text 64"/>
          <p:cNvSpPr/>
          <p:nvPr/>
        </p:nvSpPr>
        <p:spPr>
          <a:xfrm>
            <a:off x="1059150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受控拒答</a:t>
            </a:r>
            <a:endParaRPr lang="en-US" sz="1140" dirty="0"/>
          </a:p>
        </p:txBody>
      </p:sp>
      <p:sp>
        <p:nvSpPr>
          <p:cNvPr id="68" name="Shape 65"/>
          <p:cNvSpPr/>
          <p:nvPr/>
        </p:nvSpPr>
        <p:spPr>
          <a:xfrm>
            <a:off x="3496026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496026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640775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71" name="Text 68"/>
          <p:cNvSpPr/>
          <p:nvPr/>
        </p:nvSpPr>
        <p:spPr>
          <a:xfrm>
            <a:off x="3640775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无示例仍可生成</a:t>
            </a:r>
            <a:endParaRPr lang="en-US" sz="1140" dirty="0"/>
          </a:p>
        </p:txBody>
      </p:sp>
      <p:sp>
        <p:nvSpPr>
          <p:cNvPr id="72" name="Shape 69"/>
          <p:cNvSpPr/>
          <p:nvPr/>
        </p:nvSpPr>
        <p:spPr>
          <a:xfrm>
            <a:off x="6077651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077651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222401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75" name="Text 72"/>
          <p:cNvSpPr/>
          <p:nvPr/>
        </p:nvSpPr>
        <p:spPr>
          <a:xfrm>
            <a:off x="6222401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Safety 校验</a:t>
            </a:r>
            <a:endParaRPr lang="en-US" sz="1140" dirty="0"/>
          </a:p>
        </p:txBody>
      </p:sp>
      <p:sp>
        <p:nvSpPr>
          <p:cNvPr id="76" name="Shape 73"/>
          <p:cNvSpPr/>
          <p:nvPr/>
        </p:nvSpPr>
        <p:spPr>
          <a:xfrm>
            <a:off x="8659277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659277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804118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79" name="Text 76"/>
          <p:cNvSpPr/>
          <p:nvPr/>
        </p:nvSpPr>
        <p:spPr>
          <a:xfrm>
            <a:off x="8804118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不安全 → 拦截</a:t>
            </a:r>
            <a:endParaRPr lang="en-US" sz="1140" dirty="0"/>
          </a:p>
        </p:txBody>
      </p:sp>
      <p:sp>
        <p:nvSpPr>
          <p:cNvPr id="80" name="Shape 77"/>
          <p:cNvSpPr/>
          <p:nvPr/>
        </p:nvSpPr>
        <p:spPr>
          <a:xfrm>
            <a:off x="11240902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1240902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1385743" y="7051213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5F8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异常处理</a:t>
            </a:r>
            <a:endParaRPr lang="en-US" sz="858" dirty="0"/>
          </a:p>
        </p:txBody>
      </p:sp>
      <p:sp>
        <p:nvSpPr>
          <p:cNvPr id="83" name="Text 80"/>
          <p:cNvSpPr/>
          <p:nvPr/>
        </p:nvSpPr>
        <p:spPr>
          <a:xfrm>
            <a:off x="11385743" y="7241774"/>
            <a:ext cx="2299716" cy="222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仍失败 → 完整诊断</a:t>
            </a:r>
            <a:endParaRPr lang="en-US" sz="1140" dirty="0"/>
          </a:p>
        </p:txBody>
      </p:sp>
      <p:pic>
        <p:nvPicPr>
          <p:cNvPr id="8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20000">
            <a:off x="13380690" y="838230"/>
            <a:ext cx="883950" cy="883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2685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3535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数据库设计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342687" y="720090"/>
            <a:ext cx="360314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张核心表 · 固定 SEED · 可复现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70726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ecommerce.db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2125614"/>
            <a:ext cx="1280160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45291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6290" y="2125614"/>
            <a:ext cx="27870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表</a:t>
            </a:r>
            <a:endParaRPr lang="en-US" sz="1386" dirty="0"/>
          </a:p>
        </p:txBody>
      </p:sp>
      <p:sp>
        <p:nvSpPr>
          <p:cNvPr id="13" name="Text 11"/>
          <p:cNvSpPr/>
          <p:nvPr/>
        </p:nvSpPr>
        <p:spPr>
          <a:xfrm>
            <a:off x="1844070" y="2125614"/>
            <a:ext cx="468693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行数</a:t>
            </a:r>
            <a:endParaRPr lang="en-US" sz="1386" dirty="0"/>
          </a:p>
        </p:txBody>
      </p:sp>
      <p:sp>
        <p:nvSpPr>
          <p:cNvPr id="14" name="Text 12"/>
          <p:cNvSpPr/>
          <p:nvPr/>
        </p:nvSpPr>
        <p:spPr>
          <a:xfrm>
            <a:off x="5280020" y="2125614"/>
            <a:ext cx="65867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所属域</a:t>
            </a:r>
            <a:endParaRPr lang="en-US" sz="1386" dirty="0"/>
          </a:p>
        </p:txBody>
      </p:sp>
      <p:sp>
        <p:nvSpPr>
          <p:cNvPr id="15" name="Text 13"/>
          <p:cNvSpPr/>
          <p:nvPr/>
        </p:nvSpPr>
        <p:spPr>
          <a:xfrm>
            <a:off x="9152138" y="2125614"/>
            <a:ext cx="8486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核心关系</a:t>
            </a:r>
            <a:endParaRPr lang="en-US" sz="1386" dirty="0"/>
          </a:p>
        </p:txBody>
      </p:sp>
      <p:sp>
        <p:nvSpPr>
          <p:cNvPr id="16" name="Shape 14"/>
          <p:cNvSpPr/>
          <p:nvPr/>
        </p:nvSpPr>
        <p:spPr>
          <a:xfrm>
            <a:off x="914400" y="2476104"/>
            <a:ext cx="12801600" cy="902238"/>
          </a:xfrm>
          <a:prstGeom prst="rect">
            <a:avLst/>
          </a:prstGeom>
          <a:solidFill>
            <a:srgbClr val="2742EC">
              <a:alpha val="7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366749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290" y="2751978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80" dirty="0"/>
          </a:p>
        </p:txBody>
      </p:sp>
      <p:sp>
        <p:nvSpPr>
          <p:cNvPr id="19" name="Text 17"/>
          <p:cNvSpPr/>
          <p:nvPr/>
        </p:nvSpPr>
        <p:spPr>
          <a:xfrm>
            <a:off x="1844070" y="2801539"/>
            <a:ext cx="73837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80020" y="2877708"/>
            <a:ext cx="282046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0020" y="2877708"/>
            <a:ext cx="185166" cy="9144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8508" y="2805379"/>
            <a:ext cx="65593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9152138" y="2847259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用户域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12481560" y="2767249"/>
            <a:ext cx="121917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88270" y="2767249"/>
            <a:ext cx="120338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1—N orders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914400" y="3378434"/>
            <a:ext cx="12801600" cy="902330"/>
          </a:xfrm>
          <a:prstGeom prst="rect">
            <a:avLst/>
          </a:prstGeom>
          <a:solidFill>
            <a:srgbClr val="161513">
              <a:alpha val="1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269171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290" y="3654308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80" dirty="0"/>
          </a:p>
        </p:txBody>
      </p:sp>
      <p:sp>
        <p:nvSpPr>
          <p:cNvPr id="29" name="Text 27"/>
          <p:cNvSpPr/>
          <p:nvPr/>
        </p:nvSpPr>
        <p:spPr>
          <a:xfrm>
            <a:off x="1844070" y="3703777"/>
            <a:ext cx="136702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80020" y="3780038"/>
            <a:ext cx="282046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01608" y="3707618"/>
            <a:ext cx="38282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9152138" y="3749497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商品域</a:t>
            </a:r>
            <a:endParaRPr lang="en-US" sz="1380" dirty="0"/>
          </a:p>
        </p:txBody>
      </p:sp>
      <p:sp>
        <p:nvSpPr>
          <p:cNvPr id="33" name="Shape 31"/>
          <p:cNvSpPr/>
          <p:nvPr/>
        </p:nvSpPr>
        <p:spPr>
          <a:xfrm>
            <a:off x="12380976" y="3669487"/>
            <a:ext cx="1420429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487595" y="3669487"/>
            <a:ext cx="142779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1—N products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914400" y="4280764"/>
            <a:ext cx="12801600" cy="9022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171409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6290" y="4556638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80" dirty="0"/>
          </a:p>
        </p:txBody>
      </p:sp>
      <p:sp>
        <p:nvSpPr>
          <p:cNvPr id="38" name="Text 36"/>
          <p:cNvSpPr/>
          <p:nvPr/>
        </p:nvSpPr>
        <p:spPr>
          <a:xfrm>
            <a:off x="1844070" y="4606199"/>
            <a:ext cx="111556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280020" y="4682368"/>
            <a:ext cx="282046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80020" y="4682368"/>
            <a:ext cx="46177" cy="91440"/>
          </a:xfrm>
          <a:prstGeom prst="rect">
            <a:avLst/>
          </a:prstGeom>
          <a:solidFill>
            <a:srgbClr val="161513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5058" y="4609948"/>
            <a:ext cx="51937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680" dirty="0"/>
          </a:p>
        </p:txBody>
      </p:sp>
      <p:sp>
        <p:nvSpPr>
          <p:cNvPr id="42" name="Text 40"/>
          <p:cNvSpPr/>
          <p:nvPr/>
        </p:nvSpPr>
        <p:spPr>
          <a:xfrm>
            <a:off x="9152138" y="4651919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商品域</a:t>
            </a:r>
            <a:endParaRPr lang="en-US" sz="1380" dirty="0"/>
          </a:p>
        </p:txBody>
      </p:sp>
      <p:sp>
        <p:nvSpPr>
          <p:cNvPr id="43" name="Shape 41"/>
          <p:cNvSpPr/>
          <p:nvPr/>
        </p:nvSpPr>
        <p:spPr>
          <a:xfrm>
            <a:off x="12230100" y="4571909"/>
            <a:ext cx="172209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36810" y="4571909"/>
            <a:ext cx="176441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1—N order_items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914400" y="5183002"/>
            <a:ext cx="12801600" cy="902238"/>
          </a:xfrm>
          <a:prstGeom prst="rect">
            <a:avLst/>
          </a:prstGeom>
          <a:solidFill>
            <a:srgbClr val="161513">
              <a:alpha val="1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6073648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6290" y="5458877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80" dirty="0"/>
          </a:p>
        </p:txBody>
      </p:sp>
      <p:sp>
        <p:nvSpPr>
          <p:cNvPr id="48" name="Text 46"/>
          <p:cNvSpPr/>
          <p:nvPr/>
        </p:nvSpPr>
        <p:spPr>
          <a:xfrm>
            <a:off x="1844070" y="5508437"/>
            <a:ext cx="86410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80020" y="5584607"/>
            <a:ext cx="282046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80020" y="5584607"/>
            <a:ext cx="925921" cy="91440"/>
          </a:xfrm>
          <a:prstGeom prst="rect">
            <a:avLst/>
          </a:prstGeom>
          <a:solidFill>
            <a:srgbClr val="161513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91957" y="5512278"/>
            <a:ext cx="79248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</a:t>
            </a:r>
            <a:endParaRPr lang="en-US" sz="1680" dirty="0"/>
          </a:p>
        </p:txBody>
      </p:sp>
      <p:sp>
        <p:nvSpPr>
          <p:cNvPr id="52" name="Text 50"/>
          <p:cNvSpPr/>
          <p:nvPr/>
        </p:nvSpPr>
        <p:spPr>
          <a:xfrm>
            <a:off x="9152138" y="5554157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交易域</a:t>
            </a:r>
            <a:endParaRPr lang="en-US" sz="1380" dirty="0"/>
          </a:p>
        </p:txBody>
      </p:sp>
      <p:sp>
        <p:nvSpPr>
          <p:cNvPr id="53" name="Shape 51"/>
          <p:cNvSpPr/>
          <p:nvPr/>
        </p:nvSpPr>
        <p:spPr>
          <a:xfrm>
            <a:off x="12230100" y="5474147"/>
            <a:ext cx="172209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36810" y="5474147"/>
            <a:ext cx="176441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1—N order_items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914400" y="6085241"/>
            <a:ext cx="12801600" cy="9022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00" y="6975886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6290" y="6361115"/>
            <a:ext cx="43159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80" dirty="0"/>
          </a:p>
        </p:txBody>
      </p:sp>
      <p:sp>
        <p:nvSpPr>
          <p:cNvPr id="58" name="Text 56"/>
          <p:cNvSpPr/>
          <p:nvPr/>
        </p:nvSpPr>
        <p:spPr>
          <a:xfrm>
            <a:off x="1844070" y="6410676"/>
            <a:ext cx="149275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280020" y="6486845"/>
            <a:ext cx="282046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80020" y="6486845"/>
            <a:ext cx="2820467" cy="91440"/>
          </a:xfrm>
          <a:prstGeom prst="rect">
            <a:avLst/>
          </a:prstGeom>
          <a:solidFill>
            <a:srgbClr val="161513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91957" y="6414516"/>
            <a:ext cx="79248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30457</a:t>
            </a:r>
            <a:endParaRPr lang="en-US" sz="1680" dirty="0"/>
          </a:p>
        </p:txBody>
      </p:sp>
      <p:sp>
        <p:nvSpPr>
          <p:cNvPr id="62" name="Text 60"/>
          <p:cNvSpPr/>
          <p:nvPr/>
        </p:nvSpPr>
        <p:spPr>
          <a:xfrm>
            <a:off x="9152138" y="6456396"/>
            <a:ext cx="61722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交易域</a:t>
            </a:r>
            <a:endParaRPr lang="en-US" sz="1380" dirty="0"/>
          </a:p>
        </p:txBody>
      </p:sp>
      <p:sp>
        <p:nvSpPr>
          <p:cNvPr id="63" name="Shape 61"/>
          <p:cNvSpPr/>
          <p:nvPr/>
        </p:nvSpPr>
        <p:spPr>
          <a:xfrm>
            <a:off x="12730643" y="6376386"/>
            <a:ext cx="720913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37353" y="6376386"/>
            <a:ext cx="63253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spc="9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明细行</a:t>
            </a:r>
            <a:endParaRPr lang="en-US" sz="1320" dirty="0"/>
          </a:p>
        </p:txBody>
      </p:sp>
      <p:sp>
        <p:nvSpPr>
          <p:cNvPr id="65" name="Shape 63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金额口径</a:t>
            </a:r>
            <a:endParaRPr lang="en-US" sz="1584" dirty="0"/>
          </a:p>
        </p:txBody>
      </p:sp>
      <p:sp>
        <p:nvSpPr>
          <p:cNvPr id="68" name="Text 66"/>
          <p:cNvSpPr/>
          <p:nvPr/>
        </p:nvSpPr>
        <p:spPr>
          <a:xfrm>
            <a:off x="1826971" y="7258782"/>
            <a:ext cx="6429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subtotal=明细行金额 · total_amount=订单最终实付 · cancelled=不计入实际销售</a:t>
            </a:r>
            <a:endParaRPr lang="en-US" sz="1440" dirty="0"/>
          </a:p>
        </p:txBody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00000">
            <a:off x="13030200" y="97539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96596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079117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安全与可靠性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569550" y="720090"/>
            <a:ext cx="331401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生成 ≠ 可执行 · 确定性代码把关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11232"/>
            <a:ext cx="847347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914400" y="2003725"/>
            <a:ext cx="7656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→ 只读 → Repair（全链路 Trace 留痕）</a:t>
            </a:r>
            <a:endParaRPr lang="en-US" sz="14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20000">
            <a:off x="11597610" y="975390"/>
            <a:ext cx="1432590" cy="14325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355665"/>
            <a:ext cx="113229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SAFETY</a:t>
            </a:r>
            <a:endParaRPr lang="en-US" sz="1452" dirty="0"/>
          </a:p>
        </p:txBody>
      </p:sp>
      <p:sp>
        <p:nvSpPr>
          <p:cNvPr id="13" name="Text 10"/>
          <p:cNvSpPr/>
          <p:nvPr/>
        </p:nvSpPr>
        <p:spPr>
          <a:xfrm>
            <a:off x="914400" y="3654308"/>
            <a:ext cx="151497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安全校验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621310" y="3254715"/>
            <a:ext cx="2033626" cy="758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21310" y="3254715"/>
            <a:ext cx="2033626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3343" y="3254715"/>
            <a:ext cx="11593" cy="75822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21310" y="4001343"/>
            <a:ext cx="2033626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21310" y="3254715"/>
            <a:ext cx="46372" cy="75822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19342" y="3414735"/>
            <a:ext cx="186042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SELECT/WITH 白名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503204" y="3633826"/>
            <a:ext cx="29260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46285" y="351184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66325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15862" y="3364260"/>
            <a:ext cx="1311783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写/多语句拒绝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68622" y="351184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488662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22530" y="3364260"/>
            <a:ext cx="1743121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AST+Schema 校验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590959" y="351184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910999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38524" y="3364260"/>
            <a:ext cx="1555623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LIMIT≤500注入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2013296" y="351184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2333336" y="316894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424776" y="3168945"/>
            <a:ext cx="11997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不安全→拦截</a:t>
            </a:r>
            <a:endParaRPr lang="en-US" sz="1440" dirty="0"/>
          </a:p>
        </p:txBody>
      </p:sp>
      <p:sp>
        <p:nvSpPr>
          <p:cNvPr id="33" name="Shape 30"/>
          <p:cNvSpPr/>
          <p:nvPr/>
        </p:nvSpPr>
        <p:spPr>
          <a:xfrm>
            <a:off x="12333336" y="366427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517130" y="3664275"/>
            <a:ext cx="10149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合法→放行</a:t>
            </a:r>
            <a:endParaRPr lang="en-US" sz="1440" dirty="0"/>
          </a:p>
        </p:txBody>
      </p:sp>
      <p:sp>
        <p:nvSpPr>
          <p:cNvPr id="35" name="Shape 32"/>
          <p:cNvSpPr/>
          <p:nvPr/>
        </p:nvSpPr>
        <p:spPr>
          <a:xfrm>
            <a:off x="914400" y="4296766"/>
            <a:ext cx="12801600" cy="1333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4296766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" y="4689135"/>
            <a:ext cx="73362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只读</a:t>
            </a:r>
            <a:endParaRPr lang="en-US" sz="1452" dirty="0"/>
          </a:p>
        </p:txBody>
      </p:sp>
      <p:sp>
        <p:nvSpPr>
          <p:cNvPr id="38" name="Text 35"/>
          <p:cNvSpPr/>
          <p:nvPr/>
        </p:nvSpPr>
        <p:spPr>
          <a:xfrm>
            <a:off x="914400" y="4987778"/>
            <a:ext cx="100135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只读执行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621310" y="4697730"/>
            <a:ext cx="2841041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21310" y="4697730"/>
            <a:ext cx="2841041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50758" y="4697730"/>
            <a:ext cx="11593" cy="5391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621310" y="5225267"/>
            <a:ext cx="2841041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621310" y="4697730"/>
            <a:ext cx="46372" cy="53913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02736" y="4697730"/>
            <a:ext cx="901050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mode=ro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5553791" y="4845406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5873831" y="4697730"/>
            <a:ext cx="2818364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29875" y="4697730"/>
            <a:ext cx="1506093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query_only=ON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8783635" y="4845406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103675" y="4697730"/>
            <a:ext cx="2818181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000656" y="4697730"/>
            <a:ext cx="1024128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500行截断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12013296" y="4845406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2333336" y="4502506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2424776" y="4502506"/>
            <a:ext cx="11997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写操作→拒绝</a:t>
            </a:r>
            <a:endParaRPr lang="en-US" sz="1440" dirty="0"/>
          </a:p>
        </p:txBody>
      </p:sp>
      <p:sp>
        <p:nvSpPr>
          <p:cNvPr id="54" name="Shape 51"/>
          <p:cNvSpPr/>
          <p:nvPr/>
        </p:nvSpPr>
        <p:spPr>
          <a:xfrm>
            <a:off x="12333336" y="499774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2424776" y="4997745"/>
            <a:ext cx="11997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结果→结构化</a:t>
            </a:r>
            <a:endParaRPr lang="en-US" sz="1440" dirty="0"/>
          </a:p>
        </p:txBody>
      </p:sp>
      <p:sp>
        <p:nvSpPr>
          <p:cNvPr id="56" name="Shape 53"/>
          <p:cNvSpPr/>
          <p:nvPr/>
        </p:nvSpPr>
        <p:spPr>
          <a:xfrm>
            <a:off x="914400" y="5630235"/>
            <a:ext cx="12801600" cy="1333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5630235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14400" y="6022696"/>
            <a:ext cx="113229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REPAIR</a:t>
            </a:r>
            <a:endParaRPr lang="en-US" sz="1452" dirty="0"/>
          </a:p>
        </p:txBody>
      </p:sp>
      <p:sp>
        <p:nvSpPr>
          <p:cNvPr id="59" name="Text 56"/>
          <p:cNvSpPr/>
          <p:nvPr/>
        </p:nvSpPr>
        <p:spPr>
          <a:xfrm>
            <a:off x="914400" y="6321339"/>
            <a:ext cx="122886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有界自修复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2621310" y="6031200"/>
            <a:ext cx="282403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621310" y="6031200"/>
            <a:ext cx="2824033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433750" y="6031200"/>
            <a:ext cx="11593" cy="5391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21310" y="6558737"/>
            <a:ext cx="2824033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621310" y="6031200"/>
            <a:ext cx="46372" cy="53913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455060" y="6031200"/>
            <a:ext cx="1179210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Repair≤1次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5536783" y="617887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5856823" y="6031200"/>
            <a:ext cx="280117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585783" y="6031200"/>
            <a:ext cx="1342979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二次校验+执行</a:t>
            </a:r>
            <a:endParaRPr lang="en-US" sz="1500" dirty="0"/>
          </a:p>
        </p:txBody>
      </p:sp>
      <p:sp>
        <p:nvSpPr>
          <p:cNvPr id="69" name="Text 66"/>
          <p:cNvSpPr/>
          <p:nvPr/>
        </p:nvSpPr>
        <p:spPr>
          <a:xfrm>
            <a:off x="8749436" y="617887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9069476" y="6031200"/>
            <a:ext cx="280117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952787" y="6031200"/>
            <a:ext cx="1034369" cy="5665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失败→诊断</a:t>
            </a:r>
            <a:endParaRPr lang="en-US" sz="1500" dirty="0"/>
          </a:p>
        </p:txBody>
      </p:sp>
      <p:sp>
        <p:nvSpPr>
          <p:cNvPr id="72" name="Text 69"/>
          <p:cNvSpPr/>
          <p:nvPr/>
        </p:nvSpPr>
        <p:spPr>
          <a:xfrm>
            <a:off x="11962089" y="6178875"/>
            <a:ext cx="320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12282129" y="5835975"/>
            <a:ext cx="1433871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2373569" y="5835975"/>
            <a:ext cx="1250991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成功→Result</a:t>
            </a:r>
            <a:endParaRPr lang="en-US" sz="1440" dirty="0"/>
          </a:p>
        </p:txBody>
      </p:sp>
      <p:sp>
        <p:nvSpPr>
          <p:cNvPr id="75" name="Shape 72"/>
          <p:cNvSpPr/>
          <p:nvPr/>
        </p:nvSpPr>
        <p:spPr>
          <a:xfrm>
            <a:off x="12282129" y="6331306"/>
            <a:ext cx="1433871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2399173" y="6331306"/>
            <a:ext cx="1199784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40" b="1" spc="18" kern="0" dirty="0">
                <a:solidFill>
                  <a:srgbClr val="1615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仍失败→诊断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356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6848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前端产品界面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193640" y="720090"/>
            <a:ext cx="38547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真实运行界面 · 分析结果与 SQL 留痕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8719627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 → Agent → SQL → Result → Trace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9695017" y="1600200"/>
            <a:ext cx="33832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主图展示真实分析结果，副图与证据辅助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826410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826410"/>
            <a:ext cx="4183380" cy="2788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219670" y="2826410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9670" y="2826410"/>
            <a:ext cx="4183380" cy="2788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525030" y="2826410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5030" y="2826410"/>
            <a:ext cx="4183380" cy="27889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6590629"/>
            <a:ext cx="413766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6590629"/>
            <a:ext cx="4137660" cy="34779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40467" y="6590629"/>
            <a:ext cx="11593" cy="937992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4400" y="6790152"/>
            <a:ext cx="9967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3754801" y="6864949"/>
            <a:ext cx="116396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非原型 · 真实运行</a:t>
            </a:r>
            <a:endParaRPr lang="en-US" sz="924" dirty="0"/>
          </a:p>
        </p:txBody>
      </p:sp>
      <p:sp>
        <p:nvSpPr>
          <p:cNvPr id="22" name="Text 17"/>
          <p:cNvSpPr/>
          <p:nvPr/>
        </p:nvSpPr>
        <p:spPr>
          <a:xfrm>
            <a:off x="4771339" y="686494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24" dirty="0"/>
          </a:p>
        </p:txBody>
      </p:sp>
      <p:sp>
        <p:nvSpPr>
          <p:cNvPr id="23" name="Text 18"/>
          <p:cNvSpPr/>
          <p:nvPr/>
        </p:nvSpPr>
        <p:spPr>
          <a:xfrm>
            <a:off x="914400" y="7116409"/>
            <a:ext cx="36613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主图</a:t>
            </a:r>
            <a:endParaRPr lang="en-US" sz="990" dirty="0"/>
          </a:p>
        </p:txBody>
      </p:sp>
      <p:sp>
        <p:nvSpPr>
          <p:cNvPr id="24" name="Text 19"/>
          <p:cNvSpPr/>
          <p:nvPr/>
        </p:nvSpPr>
        <p:spPr>
          <a:xfrm>
            <a:off x="914400" y="7352599"/>
            <a:ext cx="146304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自然语言提问真实结果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5250210" y="6590629"/>
            <a:ext cx="413766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250210" y="6590629"/>
            <a:ext cx="4137660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376277" y="6590629"/>
            <a:ext cx="11593" cy="937992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250210" y="6790152"/>
            <a:ext cx="99678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首页概览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8090520" y="6864949"/>
            <a:ext cx="116396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非原型 · 真实运行</a:t>
            </a:r>
            <a:endParaRPr lang="en-US" sz="924" dirty="0"/>
          </a:p>
        </p:txBody>
      </p:sp>
      <p:sp>
        <p:nvSpPr>
          <p:cNvPr id="30" name="Text 25"/>
          <p:cNvSpPr/>
          <p:nvPr/>
        </p:nvSpPr>
        <p:spPr>
          <a:xfrm>
            <a:off x="9107058" y="686494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24" dirty="0"/>
          </a:p>
        </p:txBody>
      </p:sp>
      <p:sp>
        <p:nvSpPr>
          <p:cNvPr id="31" name="Text 26"/>
          <p:cNvSpPr/>
          <p:nvPr/>
        </p:nvSpPr>
        <p:spPr>
          <a:xfrm>
            <a:off x="5250210" y="7116409"/>
            <a:ext cx="36613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副图</a:t>
            </a:r>
            <a:endParaRPr lang="en-US" sz="990" dirty="0"/>
          </a:p>
        </p:txBody>
      </p:sp>
      <p:sp>
        <p:nvSpPr>
          <p:cNvPr id="32" name="Text 27"/>
          <p:cNvSpPr/>
          <p:nvPr/>
        </p:nvSpPr>
        <p:spPr>
          <a:xfrm>
            <a:off x="5250210" y="7352599"/>
            <a:ext cx="64008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指标概览</a:t>
            </a:r>
            <a:endParaRPr lang="en-US" sz="1080" dirty="0"/>
          </a:p>
        </p:txBody>
      </p:sp>
      <p:sp>
        <p:nvSpPr>
          <p:cNvPr id="33" name="Shape 28"/>
          <p:cNvSpPr/>
          <p:nvPr/>
        </p:nvSpPr>
        <p:spPr>
          <a:xfrm>
            <a:off x="9585930" y="6590629"/>
            <a:ext cx="413007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585930" y="6590629"/>
            <a:ext cx="4130070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585930" y="6720108"/>
            <a:ext cx="127101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Trace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12426330" y="6796369"/>
            <a:ext cx="116396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非原型 · 真实运行</a:t>
            </a:r>
            <a:endParaRPr lang="en-US" sz="924" dirty="0"/>
          </a:p>
        </p:txBody>
      </p:sp>
      <p:sp>
        <p:nvSpPr>
          <p:cNvPr id="37" name="Text 32"/>
          <p:cNvSpPr/>
          <p:nvPr/>
        </p:nvSpPr>
        <p:spPr>
          <a:xfrm>
            <a:off x="13442869" y="6796369"/>
            <a:ext cx="18483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24" dirty="0"/>
          </a:p>
        </p:txBody>
      </p:sp>
      <p:sp>
        <p:nvSpPr>
          <p:cNvPr id="38" name="Text 33"/>
          <p:cNvSpPr/>
          <p:nvPr/>
        </p:nvSpPr>
        <p:spPr>
          <a:xfrm>
            <a:off x="9585930" y="7024969"/>
            <a:ext cx="36613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证据</a:t>
            </a:r>
            <a:endParaRPr lang="en-US" sz="990" dirty="0"/>
          </a:p>
        </p:txBody>
      </p:sp>
      <p:sp>
        <p:nvSpPr>
          <p:cNvPr id="39" name="Text 34"/>
          <p:cNvSpPr/>
          <p:nvPr/>
        </p:nvSpPr>
        <p:spPr>
          <a:xfrm>
            <a:off x="9585930" y="7261159"/>
            <a:ext cx="77724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全链路留痕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1809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评测体系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461090" y="720090"/>
            <a:ext cx="27165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ECO-SQL-BENCH V1.1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56952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题 · 冻结基线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2125614"/>
            <a:ext cx="12801600" cy="7543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5680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14234"/>
            <a:ext cx="122862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唯一正式指标</a:t>
            </a:r>
            <a:endParaRPr lang="en-US" sz="1386" dirty="0"/>
          </a:p>
        </p:txBody>
      </p:sp>
      <p:sp>
        <p:nvSpPr>
          <p:cNvPr id="13" name="Text 11"/>
          <p:cNvSpPr/>
          <p:nvPr/>
        </p:nvSpPr>
        <p:spPr>
          <a:xfrm>
            <a:off x="3764310" y="2195886"/>
            <a:ext cx="60716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</a:t>
            </a:r>
            <a:endParaRPr lang="en-US" sz="2040" dirty="0"/>
          </a:p>
        </p:txBody>
      </p:sp>
      <p:sp>
        <p:nvSpPr>
          <p:cNvPr id="14" name="Text 12"/>
          <p:cNvSpPr/>
          <p:nvPr/>
        </p:nvSpPr>
        <p:spPr>
          <a:xfrm>
            <a:off x="3764310" y="2544684"/>
            <a:ext cx="110910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全量 100 题</a:t>
            </a:r>
            <a:endParaRPr lang="en-US" sz="1254" dirty="0"/>
          </a:p>
        </p:txBody>
      </p:sp>
      <p:sp>
        <p:nvSpPr>
          <p:cNvPr id="15" name="Text 13"/>
          <p:cNvSpPr/>
          <p:nvPr/>
        </p:nvSpPr>
        <p:spPr>
          <a:xfrm>
            <a:off x="7086600" y="2195886"/>
            <a:ext cx="141290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分档 · 观测</a:t>
            </a:r>
            <a:endParaRPr lang="en-US" sz="2040" dirty="0"/>
          </a:p>
        </p:txBody>
      </p:sp>
      <p:sp>
        <p:nvSpPr>
          <p:cNvPr id="16" name="Text 14"/>
          <p:cNvSpPr/>
          <p:nvPr/>
        </p:nvSpPr>
        <p:spPr>
          <a:xfrm>
            <a:off x="7086600" y="2544684"/>
            <a:ext cx="191397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 · HARD · P95</a:t>
            </a:r>
            <a:endParaRPr lang="en-US" sz="1254" dirty="0"/>
          </a:p>
        </p:txBody>
      </p:sp>
      <p:sp>
        <p:nvSpPr>
          <p:cNvPr id="17" name="Text 15"/>
          <p:cNvSpPr/>
          <p:nvPr/>
        </p:nvSpPr>
        <p:spPr>
          <a:xfrm>
            <a:off x="10408890" y="2195886"/>
            <a:ext cx="141290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分档 · 判定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0408890" y="2544684"/>
            <a:ext cx="187597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 · 判定 · 目标</a:t>
            </a:r>
            <a:endParaRPr lang="en-US" sz="1254" dirty="0"/>
          </a:p>
        </p:txBody>
      </p:sp>
      <p:sp>
        <p:nvSpPr>
          <p:cNvPr id="19" name="Shape 17"/>
          <p:cNvSpPr/>
          <p:nvPr/>
        </p:nvSpPr>
        <p:spPr>
          <a:xfrm>
            <a:off x="914400" y="2879994"/>
            <a:ext cx="12801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691361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074304"/>
            <a:ext cx="68503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302904"/>
            <a:ext cx="120135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执行准确率</a:t>
            </a:r>
            <a:endParaRPr lang="en-US" sz="1188" dirty="0"/>
          </a:p>
        </p:txBody>
      </p:sp>
      <p:sp>
        <p:nvSpPr>
          <p:cNvPr id="23" name="Shape 21"/>
          <p:cNvSpPr/>
          <p:nvPr/>
        </p:nvSpPr>
        <p:spPr>
          <a:xfrm>
            <a:off x="3627150" y="2879994"/>
            <a:ext cx="3307110" cy="81537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64310" y="3135295"/>
            <a:ext cx="113842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90/100</a:t>
            </a:r>
            <a:endParaRPr lang="en-US" sz="2160" dirty="0"/>
          </a:p>
        </p:txBody>
      </p:sp>
      <p:sp>
        <p:nvSpPr>
          <p:cNvPr id="25" name="Text 23"/>
          <p:cNvSpPr/>
          <p:nvPr/>
        </p:nvSpPr>
        <p:spPr>
          <a:xfrm>
            <a:off x="7086600" y="3135295"/>
            <a:ext cx="1836755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86.67% Hard</a:t>
            </a:r>
            <a:endParaRPr lang="en-US" sz="2160" dirty="0"/>
          </a:p>
        </p:txBody>
      </p:sp>
      <p:sp>
        <p:nvSpPr>
          <p:cNvPr id="26" name="Text 24"/>
          <p:cNvSpPr/>
          <p:nvPr/>
        </p:nvSpPr>
        <p:spPr>
          <a:xfrm>
            <a:off x="10408890" y="3135295"/>
            <a:ext cx="1484071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Extra</a:t>
            </a:r>
            <a:endParaRPr lang="en-US" sz="2160" dirty="0"/>
          </a:p>
        </p:txBody>
      </p:sp>
      <p:sp>
        <p:nvSpPr>
          <p:cNvPr id="27" name="Shape 25"/>
          <p:cNvSpPr/>
          <p:nvPr/>
        </p:nvSpPr>
        <p:spPr>
          <a:xfrm>
            <a:off x="914400" y="3702954"/>
            <a:ext cx="12801600" cy="82305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51441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897264"/>
            <a:ext cx="68503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4125864"/>
            <a:ext cx="143047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执行成功率</a:t>
            </a:r>
            <a:endParaRPr lang="en-US" sz="1188" dirty="0"/>
          </a:p>
        </p:txBody>
      </p:sp>
      <p:sp>
        <p:nvSpPr>
          <p:cNvPr id="31" name="Shape 29"/>
          <p:cNvSpPr/>
          <p:nvPr/>
        </p:nvSpPr>
        <p:spPr>
          <a:xfrm>
            <a:off x="3627150" y="3702954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64310" y="3992545"/>
            <a:ext cx="9098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99/100</a:t>
            </a:r>
            <a:endParaRPr lang="en-US" sz="1680" dirty="0"/>
          </a:p>
        </p:txBody>
      </p:sp>
      <p:sp>
        <p:nvSpPr>
          <p:cNvPr id="33" name="Text 31"/>
          <p:cNvSpPr/>
          <p:nvPr/>
        </p:nvSpPr>
        <p:spPr>
          <a:xfrm>
            <a:off x="7086600" y="3992545"/>
            <a:ext cx="120764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Easy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10408890" y="3992545"/>
            <a:ext cx="1428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93.3% Extra</a:t>
            </a:r>
            <a:endParaRPr lang="en-US" sz="1680" dirty="0"/>
          </a:p>
        </p:txBody>
      </p:sp>
      <p:sp>
        <p:nvSpPr>
          <p:cNvPr id="35" name="Shape 33"/>
          <p:cNvSpPr/>
          <p:nvPr/>
        </p:nvSpPr>
        <p:spPr>
          <a:xfrm>
            <a:off x="914400" y="4526006"/>
            <a:ext cx="12801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33737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4720316"/>
            <a:ext cx="68503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51560" y="4948916"/>
            <a:ext cx="14831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PASS@1 一次生成</a:t>
            </a:r>
            <a:endParaRPr lang="en-US" sz="1188" dirty="0"/>
          </a:p>
        </p:txBody>
      </p:sp>
      <p:sp>
        <p:nvSpPr>
          <p:cNvPr id="39" name="Shape 37"/>
          <p:cNvSpPr/>
          <p:nvPr/>
        </p:nvSpPr>
        <p:spPr>
          <a:xfrm>
            <a:off x="3627150" y="4526006"/>
            <a:ext cx="3307110" cy="81537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764310" y="4815596"/>
            <a:ext cx="9098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90/100</a:t>
            </a:r>
            <a:endParaRPr lang="en-US" sz="1680" dirty="0"/>
          </a:p>
        </p:txBody>
      </p:sp>
      <p:sp>
        <p:nvSpPr>
          <p:cNvPr id="41" name="Text 39"/>
          <p:cNvSpPr/>
          <p:nvPr/>
        </p:nvSpPr>
        <p:spPr>
          <a:xfrm>
            <a:off x="7086600" y="4836033"/>
            <a:ext cx="725211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无重试</a:t>
            </a:r>
            <a:endParaRPr lang="en-US" sz="1680" dirty="0"/>
          </a:p>
        </p:txBody>
      </p:sp>
      <p:sp>
        <p:nvSpPr>
          <p:cNvPr id="42" name="Text 40"/>
          <p:cNvSpPr/>
          <p:nvPr/>
        </p:nvSpPr>
        <p:spPr>
          <a:xfrm>
            <a:off x="10408890" y="4836033"/>
            <a:ext cx="936437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直接通过</a:t>
            </a:r>
            <a:endParaRPr lang="en-US" sz="1680" dirty="0"/>
          </a:p>
        </p:txBody>
      </p:sp>
      <p:sp>
        <p:nvSpPr>
          <p:cNvPr id="43" name="Shape 41"/>
          <p:cNvSpPr/>
          <p:nvPr/>
        </p:nvSpPr>
        <p:spPr>
          <a:xfrm>
            <a:off x="914400" y="5348966"/>
            <a:ext cx="12801600" cy="82305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6160424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5543276"/>
            <a:ext cx="23164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51560" y="5771876"/>
            <a:ext cx="140019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失败</a:t>
            </a:r>
            <a:endParaRPr lang="en-US" sz="1188" dirty="0"/>
          </a:p>
        </p:txBody>
      </p:sp>
      <p:sp>
        <p:nvSpPr>
          <p:cNvPr id="47" name="Shape 45"/>
          <p:cNvSpPr/>
          <p:nvPr/>
        </p:nvSpPr>
        <p:spPr>
          <a:xfrm>
            <a:off x="3627150" y="5348966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64310" y="5662971"/>
            <a:ext cx="63108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0/100</a:t>
            </a:r>
            <a:endParaRPr lang="en-US" sz="1320" dirty="0"/>
          </a:p>
        </p:txBody>
      </p:sp>
      <p:sp>
        <p:nvSpPr>
          <p:cNvPr id="49" name="Text 47"/>
          <p:cNvSpPr/>
          <p:nvPr/>
        </p:nvSpPr>
        <p:spPr>
          <a:xfrm>
            <a:off x="7086600" y="5662971"/>
            <a:ext cx="93116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0</a:t>
            </a:r>
            <a:endParaRPr lang="en-US" sz="1320" dirty="0"/>
          </a:p>
        </p:txBody>
      </p:sp>
      <p:sp>
        <p:nvSpPr>
          <p:cNvPr id="50" name="Text 48"/>
          <p:cNvSpPr/>
          <p:nvPr/>
        </p:nvSpPr>
        <p:spPr>
          <a:xfrm>
            <a:off x="10408890" y="5662971"/>
            <a:ext cx="5943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无异常</a:t>
            </a:r>
            <a:endParaRPr lang="en-US" sz="1320" dirty="0"/>
          </a:p>
        </p:txBody>
      </p:sp>
      <p:sp>
        <p:nvSpPr>
          <p:cNvPr id="51" name="Text 49"/>
          <p:cNvSpPr/>
          <p:nvPr/>
        </p:nvSpPr>
        <p:spPr>
          <a:xfrm>
            <a:off x="1051560" y="6366419"/>
            <a:ext cx="68503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51560" y="6595019"/>
            <a:ext cx="74309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平均延迟</a:t>
            </a:r>
            <a:endParaRPr lang="en-US" sz="1188" dirty="0"/>
          </a:p>
        </p:txBody>
      </p:sp>
      <p:sp>
        <p:nvSpPr>
          <p:cNvPr id="53" name="Shape 51"/>
          <p:cNvSpPr/>
          <p:nvPr/>
        </p:nvSpPr>
        <p:spPr>
          <a:xfrm>
            <a:off x="3627150" y="6172109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764310" y="6461608"/>
            <a:ext cx="1232002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10.5s</a:t>
            </a:r>
            <a:endParaRPr lang="en-US" sz="1680" dirty="0"/>
          </a:p>
        </p:txBody>
      </p:sp>
      <p:sp>
        <p:nvSpPr>
          <p:cNvPr id="55" name="Text 53"/>
          <p:cNvSpPr/>
          <p:nvPr/>
        </p:nvSpPr>
        <p:spPr>
          <a:xfrm>
            <a:off x="7086600" y="6461608"/>
            <a:ext cx="1232002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15.4s</a:t>
            </a:r>
            <a:endParaRPr lang="en-US" sz="1680" dirty="0"/>
          </a:p>
        </p:txBody>
      </p:sp>
      <p:sp>
        <p:nvSpPr>
          <p:cNvPr id="56" name="Text 54"/>
          <p:cNvSpPr/>
          <p:nvPr/>
        </p:nvSpPr>
        <p:spPr>
          <a:xfrm>
            <a:off x="10408890" y="6482136"/>
            <a:ext cx="97237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目标≤8s</a:t>
            </a:r>
            <a:endParaRPr lang="en-US" sz="1680" dirty="0"/>
          </a:p>
        </p:txBody>
      </p:sp>
      <p:sp>
        <p:nvSpPr>
          <p:cNvPr id="57" name="Shape 55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锁定口径</a:t>
            </a:r>
            <a:endParaRPr lang="en-US" sz="1584" dirty="0"/>
          </a:p>
        </p:txBody>
      </p:sp>
      <p:sp>
        <p:nvSpPr>
          <p:cNvPr id="60" name="Text 58"/>
          <p:cNvSpPr/>
          <p:nvPr/>
        </p:nvSpPr>
        <p:spPr>
          <a:xfrm>
            <a:off x="1826971" y="7258782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/ Prompt V1.3 / FEWSHOT_V3(23) / dev-2026-09-14 / Mimo V2.5 Pro</a:t>
            </a:r>
            <a:endParaRPr lang="en-US" sz="1440" dirty="0"/>
          </a:p>
        </p:txBody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00000">
            <a:off x="13030200" y="97539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1809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评测结果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857939" y="720090"/>
            <a:ext cx="2087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难度分层 EX 准确率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26503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评测结果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3018160"/>
            <a:ext cx="7985730" cy="78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91397"/>
            <a:ext cx="798573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85770"/>
            <a:ext cx="63322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193359"/>
            <a:ext cx="933259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25</a:t>
            </a:r>
            <a:endParaRPr lang="en-US" sz="1452" dirty="0"/>
          </a:p>
        </p:txBody>
      </p:sp>
      <p:sp>
        <p:nvSpPr>
          <p:cNvPr id="14" name="Text 12"/>
          <p:cNvSpPr/>
          <p:nvPr/>
        </p:nvSpPr>
        <p:spPr>
          <a:xfrm>
            <a:off x="7307610" y="3155320"/>
            <a:ext cx="60716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040" dirty="0"/>
          </a:p>
        </p:txBody>
      </p:sp>
      <p:sp>
        <p:nvSpPr>
          <p:cNvPr id="15" name="Text 13"/>
          <p:cNvSpPr/>
          <p:nvPr/>
        </p:nvSpPr>
        <p:spPr>
          <a:xfrm>
            <a:off x="7787670" y="3239079"/>
            <a:ext cx="25905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532453" y="3193359"/>
            <a:ext cx="3677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52" dirty="0"/>
          </a:p>
        </p:txBody>
      </p:sp>
      <p:sp>
        <p:nvSpPr>
          <p:cNvPr id="17" name="Shape 15"/>
          <p:cNvSpPr/>
          <p:nvPr/>
        </p:nvSpPr>
        <p:spPr>
          <a:xfrm>
            <a:off x="914400" y="3536259"/>
            <a:ext cx="7985730" cy="12189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536259"/>
            <a:ext cx="7985730" cy="12189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802990"/>
            <a:ext cx="7985730" cy="78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576226"/>
            <a:ext cx="798573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70599"/>
            <a:ext cx="96771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97380" y="3978280"/>
            <a:ext cx="933259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30</a:t>
            </a:r>
            <a:endParaRPr lang="en-US" sz="1452" dirty="0"/>
          </a:p>
        </p:txBody>
      </p:sp>
      <p:sp>
        <p:nvSpPr>
          <p:cNvPr id="23" name="Text 21"/>
          <p:cNvSpPr/>
          <p:nvPr/>
        </p:nvSpPr>
        <p:spPr>
          <a:xfrm>
            <a:off x="7307610" y="3940150"/>
            <a:ext cx="60716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040" dirty="0"/>
          </a:p>
        </p:txBody>
      </p:sp>
      <p:sp>
        <p:nvSpPr>
          <p:cNvPr id="24" name="Text 22"/>
          <p:cNvSpPr/>
          <p:nvPr/>
        </p:nvSpPr>
        <p:spPr>
          <a:xfrm>
            <a:off x="7787670" y="4024000"/>
            <a:ext cx="25905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532453" y="3978280"/>
            <a:ext cx="3677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52" dirty="0"/>
          </a:p>
        </p:txBody>
      </p:sp>
      <p:sp>
        <p:nvSpPr>
          <p:cNvPr id="26" name="Shape 24"/>
          <p:cNvSpPr/>
          <p:nvPr/>
        </p:nvSpPr>
        <p:spPr>
          <a:xfrm>
            <a:off x="914400" y="4321180"/>
            <a:ext cx="7985730" cy="12189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321180"/>
            <a:ext cx="7985730" cy="121890"/>
          </a:xfrm>
          <a:prstGeom prst="rect">
            <a:avLst/>
          </a:prstGeom>
          <a:solidFill>
            <a:srgbClr val="A9A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587819"/>
            <a:ext cx="7985730" cy="78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361056"/>
            <a:ext cx="798573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755520"/>
            <a:ext cx="63322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46890" y="4763110"/>
            <a:ext cx="933259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30</a:t>
            </a:r>
            <a:endParaRPr lang="en-US" sz="1452" dirty="0"/>
          </a:p>
        </p:txBody>
      </p:sp>
      <p:sp>
        <p:nvSpPr>
          <p:cNvPr id="32" name="Text 30"/>
          <p:cNvSpPr/>
          <p:nvPr/>
        </p:nvSpPr>
        <p:spPr>
          <a:xfrm>
            <a:off x="7063740" y="4724979"/>
            <a:ext cx="91546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86.67</a:t>
            </a:r>
            <a:endParaRPr lang="en-US" sz="2040" dirty="0"/>
          </a:p>
        </p:txBody>
      </p:sp>
      <p:sp>
        <p:nvSpPr>
          <p:cNvPr id="33" name="Text 31"/>
          <p:cNvSpPr/>
          <p:nvPr/>
        </p:nvSpPr>
        <p:spPr>
          <a:xfrm>
            <a:off x="7787670" y="4808830"/>
            <a:ext cx="25905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532453" y="4763110"/>
            <a:ext cx="3677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52" dirty="0"/>
          </a:p>
        </p:txBody>
      </p:sp>
      <p:sp>
        <p:nvSpPr>
          <p:cNvPr id="35" name="Shape 33"/>
          <p:cNvSpPr/>
          <p:nvPr/>
        </p:nvSpPr>
        <p:spPr>
          <a:xfrm>
            <a:off x="914400" y="5106010"/>
            <a:ext cx="7985730" cy="12189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106010"/>
            <a:ext cx="6921185" cy="121890"/>
          </a:xfrm>
          <a:prstGeom prst="rect">
            <a:avLst/>
          </a:prstGeom>
          <a:solidFill>
            <a:srgbClr val="8482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5372740"/>
            <a:ext cx="7985730" cy="7848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6145977"/>
            <a:ext cx="798573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540350"/>
            <a:ext cx="135559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Hard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164110" y="5547939"/>
            <a:ext cx="79323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15</a:t>
            </a:r>
            <a:endParaRPr lang="en-US" sz="1452" dirty="0"/>
          </a:p>
        </p:txBody>
      </p:sp>
      <p:sp>
        <p:nvSpPr>
          <p:cNvPr id="41" name="Text 39"/>
          <p:cNvSpPr/>
          <p:nvPr/>
        </p:nvSpPr>
        <p:spPr>
          <a:xfrm>
            <a:off x="7467630" y="5509900"/>
            <a:ext cx="4413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040" dirty="0"/>
          </a:p>
        </p:txBody>
      </p:sp>
      <p:sp>
        <p:nvSpPr>
          <p:cNvPr id="42" name="Text 40"/>
          <p:cNvSpPr/>
          <p:nvPr/>
        </p:nvSpPr>
        <p:spPr>
          <a:xfrm>
            <a:off x="7787670" y="5593659"/>
            <a:ext cx="25905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8532453" y="5547939"/>
            <a:ext cx="3677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52" dirty="0"/>
          </a:p>
        </p:txBody>
      </p:sp>
      <p:sp>
        <p:nvSpPr>
          <p:cNvPr id="44" name="Shape 42"/>
          <p:cNvSpPr/>
          <p:nvPr/>
        </p:nvSpPr>
        <p:spPr>
          <a:xfrm>
            <a:off x="914400" y="5890839"/>
            <a:ext cx="7985730" cy="12189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5890839"/>
            <a:ext cx="4791456" cy="121890"/>
          </a:xfrm>
          <a:prstGeom prst="rect">
            <a:avLst/>
          </a:prstGeom>
          <a:solidFill>
            <a:srgbClr val="605E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6325179"/>
            <a:ext cx="7985730" cy="4327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6325179"/>
            <a:ext cx="798573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647761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观察</a:t>
            </a:r>
            <a:endParaRPr lang="en-US" sz="1584" dirty="0"/>
          </a:p>
        </p:txBody>
      </p:sp>
      <p:sp>
        <p:nvSpPr>
          <p:cNvPr id="49" name="Text 47"/>
          <p:cNvSpPr/>
          <p:nvPr/>
        </p:nvSpPr>
        <p:spPr>
          <a:xfrm>
            <a:off x="1439357" y="6492880"/>
            <a:ext cx="44866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 / Medium 全对；Hard / Extra Hard 的 EX 有所下降</a:t>
            </a:r>
            <a:endParaRPr lang="en-US" sz="1440" dirty="0"/>
          </a:p>
        </p:txBody>
      </p:sp>
      <p:sp>
        <p:nvSpPr>
          <p:cNvPr id="50" name="Text 48"/>
          <p:cNvSpPr/>
          <p:nvPr/>
        </p:nvSpPr>
        <p:spPr>
          <a:xfrm>
            <a:off x="10353660" y="3763945"/>
            <a:ext cx="3035808" cy="2496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5480"/>
              </a:lnSpc>
              <a:buNone/>
            </a:pPr>
            <a:r>
              <a:rPr lang="en-US" sz="18000" b="1" spc="-20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8000" dirty="0"/>
          </a:p>
        </p:txBody>
      </p:sp>
      <p:sp>
        <p:nvSpPr>
          <p:cNvPr id="51" name="Text 49"/>
          <p:cNvSpPr/>
          <p:nvPr/>
        </p:nvSpPr>
        <p:spPr>
          <a:xfrm>
            <a:off x="13374289" y="3940150"/>
            <a:ext cx="341711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040" dirty="0"/>
          </a:p>
        </p:txBody>
      </p:sp>
      <p:sp>
        <p:nvSpPr>
          <p:cNvPr id="52" name="Text 50"/>
          <p:cNvSpPr/>
          <p:nvPr/>
        </p:nvSpPr>
        <p:spPr>
          <a:xfrm>
            <a:off x="9357330" y="5747955"/>
            <a:ext cx="435867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EX 90.00%</a:t>
            </a:r>
            <a:endParaRPr lang="en-US" sz="2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79377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2600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CASE 分析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094324" y="720090"/>
            <a:ext cx="2769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个失败样本 → 3 类机制</a:t>
            </a:r>
            <a:endParaRPr lang="en-US" sz="1584" dirty="0"/>
          </a:p>
        </p:txBody>
      </p:sp>
      <p:sp>
        <p:nvSpPr>
          <p:cNvPr id="9" name="Shape 7"/>
          <p:cNvSpPr/>
          <p:nvPr/>
        </p:nvSpPr>
        <p:spPr>
          <a:xfrm>
            <a:off x="914400" y="7216170"/>
            <a:ext cx="3404677" cy="312450"/>
          </a:xfrm>
          <a:prstGeom prst="rect">
            <a:avLst/>
          </a:prstGeom>
          <a:solidFill>
            <a:srgbClr val="C2F5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7216170"/>
            <a:ext cx="370985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E-0086 / E-0099 / 输出结构</a:t>
            </a:r>
            <a:endParaRPr lang="en-US" sz="1584" dirty="0"/>
          </a:p>
        </p:txBody>
      </p:sp>
      <p:sp>
        <p:nvSpPr>
          <p:cNvPr id="11" name="Text 9"/>
          <p:cNvSpPr/>
          <p:nvPr/>
        </p:nvSpPr>
        <p:spPr>
          <a:xfrm>
            <a:off x="5730270" y="1472223"/>
            <a:ext cx="588261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讲错误机制，而非堆 SQL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5730270" y="2178924"/>
            <a:ext cx="5911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Clean Baseline 最终 10 个 Bad Case 中归纳出 3 类代表性错误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5730270" y="2487534"/>
            <a:ext cx="50474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5749290" y="3078145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3580" y="3161904"/>
            <a:ext cx="15270" cy="63093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9770" y="3055285"/>
            <a:ext cx="984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E-0086</a:t>
            </a:r>
            <a:endParaRPr lang="en-US" sz="1584" dirty="0"/>
          </a:p>
        </p:txBody>
      </p:sp>
      <p:sp>
        <p:nvSpPr>
          <p:cNvPr id="17" name="Text 15"/>
          <p:cNvSpPr/>
          <p:nvPr/>
        </p:nvSpPr>
        <p:spPr>
          <a:xfrm>
            <a:off x="6878117" y="3071881"/>
            <a:ext cx="1428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Fan-out 粒度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6019770" y="3390504"/>
            <a:ext cx="32918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orders×order_items 金额放大 4.14×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749290" y="3853830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3580" y="3937589"/>
            <a:ext cx="15270" cy="63093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9770" y="3830970"/>
            <a:ext cx="984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E-0099</a:t>
            </a:r>
            <a:endParaRPr lang="en-US" sz="1584" dirty="0"/>
          </a:p>
        </p:txBody>
      </p:sp>
      <p:sp>
        <p:nvSpPr>
          <p:cNvPr id="22" name="Text 20"/>
          <p:cNvSpPr/>
          <p:nvPr/>
        </p:nvSpPr>
        <p:spPr>
          <a:xfrm>
            <a:off x="6878117" y="3847566"/>
            <a:ext cx="125120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别名/列引用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6019770" y="4166189"/>
            <a:ext cx="43205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生成后执行报错→触发 Repair，但该样本修复仍失败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5730270" y="4629516"/>
            <a:ext cx="121890" cy="121890"/>
          </a:xfrm>
          <a:prstGeom prst="ellipse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83580" y="4751405"/>
            <a:ext cx="15270" cy="59280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9770" y="4606656"/>
            <a:ext cx="142426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E-0082/83</a:t>
            </a:r>
            <a:endParaRPr lang="en-US" sz="1584" dirty="0"/>
          </a:p>
        </p:txBody>
      </p:sp>
      <p:sp>
        <p:nvSpPr>
          <p:cNvPr id="27" name="Text 25"/>
          <p:cNvSpPr/>
          <p:nvPr/>
        </p:nvSpPr>
        <p:spPr>
          <a:xfrm>
            <a:off x="7254027" y="4623343"/>
            <a:ext cx="94485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输出结构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6019770" y="4941966"/>
            <a:ext cx="28346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数值正确但缺列，需规范输出形状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5749290" y="5405201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9770" y="5382341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改进</a:t>
            </a:r>
            <a:endParaRPr lang="en-US" sz="1584" dirty="0"/>
          </a:p>
        </p:txBody>
      </p:sp>
      <p:sp>
        <p:nvSpPr>
          <p:cNvPr id="31" name="Text 29"/>
          <p:cNvSpPr/>
          <p:nvPr/>
        </p:nvSpPr>
        <p:spPr>
          <a:xfrm>
            <a:off x="6514277" y="5399029"/>
            <a:ext cx="162306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示例库+Prompt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6019770" y="5717652"/>
            <a:ext cx="198424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 case 沉淀反哺迭代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5730270" y="6727058"/>
            <a:ext cx="7985730" cy="8015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30270" y="6727058"/>
            <a:ext cx="798573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0270" y="6881189"/>
            <a:ext cx="8077170" cy="326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52"/>
              </a:lnSpc>
              <a:buNone/>
            </a:pPr>
            <a:r>
              <a:rPr lang="en-US" sz="16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错误集中于复杂聚合、粒度与输出结构问题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5730270" y="7254210"/>
            <a:ext cx="336375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BASELINE V1.1 观察</a:t>
            </a:r>
            <a:endParaRPr lang="en-US" sz="1584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12222510" y="1386870"/>
            <a:ext cx="1493490" cy="1493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070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1098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创新点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711544" y="720090"/>
            <a:ext cx="23466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E-0086 · FAN-OUT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170160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一个案例讲清楚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914400" y="1958483"/>
            <a:ext cx="5089246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× order_items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5626669" y="1958483"/>
            <a:ext cx="641177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｜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914400" y="2454843"/>
            <a:ext cx="4517593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 与真实结果对比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914400" y="3115909"/>
            <a:ext cx="5711982" cy="336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修正为真实口径（DB 直连验证）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914400" y="3729289"/>
            <a:ext cx="1615196" cy="114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8003" y="3729289"/>
            <a:ext cx="11593" cy="1141354"/>
          </a:xfrm>
          <a:prstGeom prst="rect">
            <a:avLst/>
          </a:prstGeom>
          <a:solidFill>
            <a:srgbClr val="F3F2EE">
              <a:alpha val="4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04783"/>
            <a:ext cx="1577797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12"/>
              </a:lnSpc>
              <a:buNone/>
            </a:pPr>
            <a:r>
              <a:rPr lang="en-US" sz="4680" b="1" spc="-17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4.14</a:t>
            </a:r>
            <a:endParaRPr lang="en-US" sz="4680" dirty="0"/>
          </a:p>
        </p:txBody>
      </p:sp>
      <p:sp>
        <p:nvSpPr>
          <p:cNvPr id="17" name="Text 15"/>
          <p:cNvSpPr/>
          <p:nvPr/>
        </p:nvSpPr>
        <p:spPr>
          <a:xfrm>
            <a:off x="2199406" y="4003609"/>
            <a:ext cx="21115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452" dirty="0"/>
          </a:p>
        </p:txBody>
      </p:sp>
      <p:sp>
        <p:nvSpPr>
          <p:cNvPr id="18" name="Text 16"/>
          <p:cNvSpPr/>
          <p:nvPr/>
        </p:nvSpPr>
        <p:spPr>
          <a:xfrm>
            <a:off x="914400" y="4370741"/>
            <a:ext cx="134115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订单×明细 粒度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914400" y="4635917"/>
            <a:ext cx="4608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2742926" y="3729289"/>
            <a:ext cx="3283885" cy="114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15217" y="3729289"/>
            <a:ext cx="11593" cy="1141354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2926" y="3704783"/>
            <a:ext cx="3479749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12"/>
              </a:lnSpc>
              <a:buNone/>
            </a:pPr>
            <a:r>
              <a:rPr lang="en-US" sz="4680" b="1" spc="-175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369854.65</a:t>
            </a:r>
            <a:endParaRPr lang="en-US" sz="4680" dirty="0"/>
          </a:p>
        </p:txBody>
      </p:sp>
      <p:sp>
        <p:nvSpPr>
          <p:cNvPr id="23" name="Text 21"/>
          <p:cNvSpPr/>
          <p:nvPr/>
        </p:nvSpPr>
        <p:spPr>
          <a:xfrm>
            <a:off x="2742926" y="4370741"/>
            <a:ext cx="146486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 累计消费额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6240140" y="3704783"/>
            <a:ext cx="3099359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12"/>
              </a:lnSpc>
              <a:buNone/>
            </a:pPr>
            <a:r>
              <a:rPr lang="en-US" sz="4680" b="1" spc="-17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89397.46</a:t>
            </a:r>
            <a:endParaRPr lang="en-US" sz="4680" dirty="0"/>
          </a:p>
        </p:txBody>
      </p:sp>
      <p:sp>
        <p:nvSpPr>
          <p:cNvPr id="25" name="Text 23"/>
          <p:cNvSpPr/>
          <p:nvPr/>
        </p:nvSpPr>
        <p:spPr>
          <a:xfrm>
            <a:off x="6240140" y="4370741"/>
            <a:ext cx="13716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修正后真实结果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914400" y="6449629"/>
            <a:ext cx="5620542" cy="10789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6449629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6632509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链路</a:t>
            </a:r>
            <a:endParaRPr lang="en-US" sz="1584" dirty="0"/>
          </a:p>
        </p:txBody>
      </p:sp>
      <p:sp>
        <p:nvSpPr>
          <p:cNvPr id="29" name="Text 27"/>
          <p:cNvSpPr/>
          <p:nvPr/>
        </p:nvSpPr>
        <p:spPr>
          <a:xfrm>
            <a:off x="914400" y="7028718"/>
            <a:ext cx="5637276" cy="22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 SQL → Detector → Alarm → FANOUT_RECHECK_HINT → 1 次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14400" y="7293894"/>
            <a:ext cx="18440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再生成 → EX✗→EX✓</a:t>
            </a:r>
            <a:endParaRPr lang="en-US" sz="144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20000">
            <a:off x="914400" y="5516850"/>
            <a:ext cx="990570" cy="99057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083582" y="3893790"/>
            <a:ext cx="6632418" cy="12039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332686" y="3893790"/>
            <a:ext cx="2134118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纯文字案例 · 无配图</a:t>
            </a:r>
            <a:endParaRPr lang="en-US" sz="158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15857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44112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实验边界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368644" y="720090"/>
            <a:ext cx="270474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 · 限制与归因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79286"/>
            <a:ext cx="2801447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→ 93%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776746" y="1600200"/>
            <a:ext cx="29718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观测差异，不代表整体 EX 稳定提升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034174"/>
            <a:ext cx="12801600" cy="3962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0719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33204"/>
            <a:ext cx="52797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限制项</a:t>
            </a:r>
            <a:endParaRPr lang="en-US" sz="1056" dirty="0"/>
          </a:p>
        </p:txBody>
      </p:sp>
      <p:sp>
        <p:nvSpPr>
          <p:cNvPr id="14" name="Text 12"/>
          <p:cNvSpPr/>
          <p:nvPr/>
        </p:nvSpPr>
        <p:spPr>
          <a:xfrm>
            <a:off x="4154942" y="2133204"/>
            <a:ext cx="49597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严重度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6094567" y="2133204"/>
            <a:ext cx="49597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可能性</a:t>
            </a:r>
            <a:endParaRPr lang="en-US" sz="1056" dirty="0"/>
          </a:p>
        </p:txBody>
      </p:sp>
      <p:sp>
        <p:nvSpPr>
          <p:cNvPr id="16" name="Text 14"/>
          <p:cNvSpPr/>
          <p:nvPr/>
        </p:nvSpPr>
        <p:spPr>
          <a:xfrm>
            <a:off x="8034193" y="2133204"/>
            <a:ext cx="36722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触发</a:t>
            </a:r>
            <a:endParaRPr lang="en-US" sz="1056" dirty="0"/>
          </a:p>
        </p:txBody>
      </p:sp>
      <p:sp>
        <p:nvSpPr>
          <p:cNvPr id="17" name="Text 15"/>
          <p:cNvSpPr/>
          <p:nvPr/>
        </p:nvSpPr>
        <p:spPr>
          <a:xfrm>
            <a:off x="11396167" y="2133204"/>
            <a:ext cx="36722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影响</a:t>
            </a:r>
            <a:endParaRPr lang="en-US" sz="1056" dirty="0"/>
          </a:p>
        </p:txBody>
      </p:sp>
      <p:sp>
        <p:nvSpPr>
          <p:cNvPr id="18" name="Shape 16"/>
          <p:cNvSpPr/>
          <p:nvPr/>
        </p:nvSpPr>
        <p:spPr>
          <a:xfrm>
            <a:off x="914400" y="2430384"/>
            <a:ext cx="12801600" cy="1549451"/>
          </a:xfrm>
          <a:prstGeom prst="rect">
            <a:avLst/>
          </a:prstGeom>
          <a:solidFill>
            <a:srgbClr val="6E85FF">
              <a:alpha val="14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968242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094695"/>
            <a:ext cx="3103382" cy="2133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094695"/>
            <a:ext cx="46372" cy="21333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094695"/>
            <a:ext cx="105915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n=1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15494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496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498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500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9502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456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58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460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7462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34647" y="3140415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34193" y="3128985"/>
            <a:ext cx="121767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E-0086 命中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96167" y="310228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</a:t>
            </a:r>
            <a:endParaRPr lang="en-US" sz="1188" dirty="0"/>
          </a:p>
        </p:txBody>
      </p:sp>
      <p:sp>
        <p:nvSpPr>
          <p:cNvPr id="35" name="Text 33"/>
          <p:cNvSpPr/>
          <p:nvPr/>
        </p:nvSpPr>
        <p:spPr>
          <a:xfrm>
            <a:off x="11541008" y="3128985"/>
            <a:ext cx="1092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+1pt 直接归因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3979926"/>
            <a:ext cx="12801600" cy="154963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5517967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644146"/>
            <a:ext cx="8534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OFF/ON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15494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1496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7498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3500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95022" y="4689866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9456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58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460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7462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34647" y="4689866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34193" y="4678436"/>
            <a:ext cx="100584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非严格单变量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396167" y="4651736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</a:t>
            </a:r>
            <a:endParaRPr lang="en-US" sz="1188" dirty="0"/>
          </a:p>
        </p:txBody>
      </p:sp>
      <p:sp>
        <p:nvSpPr>
          <p:cNvPr id="51" name="Text 49"/>
          <p:cNvSpPr/>
          <p:nvPr/>
        </p:nvSpPr>
        <p:spPr>
          <a:xfrm>
            <a:off x="11541008" y="4678436"/>
            <a:ext cx="85341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机制层观测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" y="5529468"/>
            <a:ext cx="12801600" cy="15494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7067326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6193780"/>
            <a:ext cx="48765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15494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1496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7498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35002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95022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9456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5458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1460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7462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34647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34193" y="6228070"/>
            <a:ext cx="145694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 orders×items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396167" y="6201369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</a:t>
            </a:r>
            <a:endParaRPr lang="en-US" sz="1188" dirty="0"/>
          </a:p>
        </p:txBody>
      </p:sp>
      <p:sp>
        <p:nvSpPr>
          <p:cNvPr id="67" name="Text 65"/>
          <p:cNvSpPr/>
          <p:nvPr/>
        </p:nvSpPr>
        <p:spPr>
          <a:xfrm>
            <a:off x="11541008" y="6228070"/>
            <a:ext cx="121767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子查询剪枝·盲区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结论限制</a:t>
            </a:r>
            <a:endParaRPr lang="en-US" sz="1584" dirty="0"/>
          </a:p>
        </p:txBody>
      </p:sp>
      <p:sp>
        <p:nvSpPr>
          <p:cNvPr id="71" name="Text 69"/>
          <p:cNvSpPr/>
          <p:nvPr/>
        </p:nvSpPr>
        <p:spPr>
          <a:xfrm>
            <a:off x="1826971" y="7275424"/>
            <a:ext cx="4608576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 orders×items · 超时/管道禁止表述「Hint 提升 3 个百分点」</a:t>
            </a:r>
            <a:endParaRPr lang="en-US" sz="1260" dirty="0"/>
          </a:p>
        </p:txBody>
      </p:sp>
      <p:pic>
        <p:nvPicPr>
          <p:cNvPr id="7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20000">
            <a:off x="13411230" y="761970"/>
            <a:ext cx="883950" cy="883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6351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31536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清单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2108393" y="720090"/>
            <a:ext cx="18467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条真实验证问题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80783"/>
            <a:ext cx="2465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 Demo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440430" y="1615470"/>
            <a:ext cx="47015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全部来自 Task 23 E2E Smoke 实测（真实 Mimo 全链路）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1645920" y="1988454"/>
            <a:ext cx="11582430" cy="52657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3510" y="1996044"/>
            <a:ext cx="5783580" cy="26252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25496" y="1996044"/>
            <a:ext cx="11593" cy="2625242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53510" y="4609693"/>
            <a:ext cx="5783580" cy="11593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8370" y="2302728"/>
            <a:ext cx="5257800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280" b="1" spc="-2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哪个地区的用户最多？</a:t>
            </a:r>
            <a:endParaRPr lang="en-US" sz="2280" dirty="0"/>
          </a:p>
        </p:txBody>
      </p:sp>
      <p:sp>
        <p:nvSpPr>
          <p:cNvPr id="16" name="Text 14"/>
          <p:cNvSpPr/>
          <p:nvPr/>
        </p:nvSpPr>
        <p:spPr>
          <a:xfrm>
            <a:off x="1958370" y="2665842"/>
            <a:ext cx="88384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普通查询</a:t>
            </a:r>
            <a:endParaRPr lang="en-US" sz="1452" dirty="0"/>
          </a:p>
        </p:txBody>
      </p:sp>
      <p:sp>
        <p:nvSpPr>
          <p:cNvPr id="17" name="Text 15"/>
          <p:cNvSpPr/>
          <p:nvPr/>
        </p:nvSpPr>
        <p:spPr>
          <a:xfrm>
            <a:off x="1958370" y="3039191"/>
            <a:ext cx="4206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246 行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1958370" y="3973617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3973617"/>
            <a:ext cx="80711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2910810" y="3973617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09930" y="3973617"/>
            <a:ext cx="8915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437090" y="1996044"/>
            <a:ext cx="5783580" cy="2625242"/>
          </a:xfrm>
          <a:prstGeom prst="rect">
            <a:avLst/>
          </a:prstGeom>
          <a:solidFill>
            <a:srgbClr val="2742EC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7090" y="4609693"/>
            <a:ext cx="578358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1950" y="2302728"/>
            <a:ext cx="5265390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280" b="1" spc="-29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年每月销售额？</a:t>
            </a:r>
            <a:endParaRPr lang="en-US" sz="2280" dirty="0"/>
          </a:p>
        </p:txBody>
      </p:sp>
      <p:sp>
        <p:nvSpPr>
          <p:cNvPr id="25" name="Text 23"/>
          <p:cNvSpPr/>
          <p:nvPr/>
        </p:nvSpPr>
        <p:spPr>
          <a:xfrm>
            <a:off x="7741950" y="2665842"/>
            <a:ext cx="1169297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聚合 / 时间</a:t>
            </a:r>
            <a:endParaRPr lang="en-US" sz="1452" dirty="0"/>
          </a:p>
        </p:txBody>
      </p:sp>
      <p:sp>
        <p:nvSpPr>
          <p:cNvPr id="26" name="Text 24"/>
          <p:cNvSpPr/>
          <p:nvPr/>
        </p:nvSpPr>
        <p:spPr>
          <a:xfrm>
            <a:off x="7741950" y="3039191"/>
            <a:ext cx="4206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12 行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7741950" y="3973617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0980" y="3973617"/>
            <a:ext cx="80711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8694390" y="3973617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93510" y="3973617"/>
            <a:ext cx="8915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1653510" y="4621286"/>
            <a:ext cx="5783580" cy="262533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25496" y="4621286"/>
            <a:ext cx="11593" cy="2625334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58370" y="4927879"/>
            <a:ext cx="5257800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280" b="1" spc="-2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近30天销量 Top5？</a:t>
            </a:r>
            <a:endParaRPr lang="en-US" sz="2280" dirty="0"/>
          </a:p>
        </p:txBody>
      </p:sp>
      <p:sp>
        <p:nvSpPr>
          <p:cNvPr id="34" name="Text 32"/>
          <p:cNvSpPr/>
          <p:nvPr/>
        </p:nvSpPr>
        <p:spPr>
          <a:xfrm>
            <a:off x="1958370" y="5290993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排名</a:t>
            </a:r>
            <a:endParaRPr lang="en-US" sz="1452" dirty="0"/>
          </a:p>
        </p:txBody>
      </p:sp>
      <p:sp>
        <p:nvSpPr>
          <p:cNvPr id="35" name="Text 33"/>
          <p:cNvSpPr/>
          <p:nvPr/>
        </p:nvSpPr>
        <p:spPr>
          <a:xfrm>
            <a:off x="1958370" y="5664434"/>
            <a:ext cx="4206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5 行</a:t>
            </a:r>
            <a:endParaRPr lang="en-US" sz="1440" dirty="0"/>
          </a:p>
        </p:txBody>
      </p:sp>
      <p:sp>
        <p:nvSpPr>
          <p:cNvPr id="36" name="Shape 34"/>
          <p:cNvSpPr/>
          <p:nvPr/>
        </p:nvSpPr>
        <p:spPr>
          <a:xfrm>
            <a:off x="1958370" y="6606540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6606540"/>
            <a:ext cx="80711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2910810" y="6606540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09930" y="6606540"/>
            <a:ext cx="8915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7741950" y="4927879"/>
            <a:ext cx="5265390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280" b="1" spc="-2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哪个类目销售额最高？</a:t>
            </a:r>
            <a:endParaRPr lang="en-US" sz="2280" dirty="0"/>
          </a:p>
        </p:txBody>
      </p:sp>
      <p:sp>
        <p:nvSpPr>
          <p:cNvPr id="41" name="Text 39"/>
          <p:cNvSpPr/>
          <p:nvPr/>
        </p:nvSpPr>
        <p:spPr>
          <a:xfrm>
            <a:off x="7741950" y="5290993"/>
            <a:ext cx="1126884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多表 JOIN</a:t>
            </a:r>
            <a:endParaRPr lang="en-US" sz="1452" dirty="0"/>
          </a:p>
        </p:txBody>
      </p:sp>
      <p:sp>
        <p:nvSpPr>
          <p:cNvPr id="42" name="Text 40"/>
          <p:cNvSpPr/>
          <p:nvPr/>
        </p:nvSpPr>
        <p:spPr>
          <a:xfrm>
            <a:off x="7741950" y="5664434"/>
            <a:ext cx="4206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1 行</a:t>
            </a:r>
            <a:endParaRPr lang="en-US" sz="1440" dirty="0"/>
          </a:p>
        </p:txBody>
      </p:sp>
      <p:sp>
        <p:nvSpPr>
          <p:cNvPr id="43" name="Shape 41"/>
          <p:cNvSpPr/>
          <p:nvPr/>
        </p:nvSpPr>
        <p:spPr>
          <a:xfrm>
            <a:off x="7741950" y="6606540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0980" y="6606540"/>
            <a:ext cx="80711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8694390" y="6606540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93510" y="6606540"/>
            <a:ext cx="8915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11200120" y="7239030"/>
            <a:ext cx="239924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REPAIR/E3 证据讲解</a:t>
            </a:r>
            <a:endParaRPr lang="en-US" sz="1584" dirty="0"/>
          </a:p>
        </p:txBody>
      </p:sp>
      <p:sp>
        <p:nvSpPr>
          <p:cNvPr id="48" name="Text 46"/>
          <p:cNvSpPr/>
          <p:nvPr/>
        </p:nvSpPr>
        <p:spPr>
          <a:xfrm>
            <a:off x="1645920" y="7239030"/>
            <a:ext cx="2739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不作为稳定现场交互 DEMO</a:t>
            </a:r>
            <a:endParaRPr lang="en-US" sz="1584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12207240" y="845454"/>
            <a:ext cx="1341150" cy="1341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3346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82788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总结 · 三问三答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548427" y="720090"/>
            <a:ext cx="362125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DEFENSE · 面向电商分析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780798"/>
            <a:ext cx="7261860" cy="3151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784"/>
              </a:lnSpc>
              <a:buNone/>
            </a:pPr>
            <a:r>
              <a:rPr lang="en-US" sz="22800" b="1" spc="-200" kern="0" dirty="0">
                <a:solidFill>
                  <a:srgbClr val="274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</a:t>
            </a:r>
            <a:endParaRPr lang="en-US" sz="22800" dirty="0"/>
          </a:p>
        </p:txBody>
      </p:sp>
      <p:sp>
        <p:nvSpPr>
          <p:cNvPr id="10" name="Text 8"/>
          <p:cNvSpPr/>
          <p:nvPr/>
        </p:nvSpPr>
        <p:spPr>
          <a:xfrm>
            <a:off x="7293894" y="2072459"/>
            <a:ext cx="1211580" cy="1277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spc="-200" kern="0" dirty="0">
                <a:solidFill>
                  <a:srgbClr val="274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14400" y="4316544"/>
            <a:ext cx="6284946" cy="76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760" b="1" spc="-34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面向电商分析的 Text2SQLAgent。</a:t>
            </a:r>
            <a:endParaRPr lang="en-US" sz="276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20000">
            <a:off x="3749040" y="1337310"/>
            <a:ext cx="1904970" cy="190497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01684" y="2937510"/>
            <a:ext cx="4814316" cy="10134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01684" y="2937510"/>
            <a:ext cx="11593" cy="10134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36024" y="293751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总结</a:t>
            </a:r>
            <a:endParaRPr lang="en-US" sz="1584" dirty="0"/>
          </a:p>
        </p:txBody>
      </p:sp>
      <p:sp>
        <p:nvSpPr>
          <p:cNvPr id="16" name="Text 13"/>
          <p:cNvSpPr/>
          <p:nvPr/>
        </p:nvSpPr>
        <p:spPr>
          <a:xfrm>
            <a:off x="9336024" y="3371850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E3：验证典型 Fan-out 风险检测与条件干预机制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9336024" y="3680460"/>
            <a:ext cx="339333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 可执行 · 可验证 · 可纠错 · 可评测</a:t>
            </a:r>
            <a:endParaRPr lang="en-US" sz="1620" dirty="0"/>
          </a:p>
        </p:txBody>
      </p:sp>
      <p:sp>
        <p:nvSpPr>
          <p:cNvPr id="18" name="Shape 15"/>
          <p:cNvSpPr/>
          <p:nvPr/>
        </p:nvSpPr>
        <p:spPr>
          <a:xfrm>
            <a:off x="914400" y="563883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5837690"/>
            <a:ext cx="2474976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spc="-96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Text2SQL</a:t>
            </a:r>
            <a:endParaRPr lang="en-US" sz="3840" dirty="0"/>
          </a:p>
        </p:txBody>
      </p:sp>
      <p:sp>
        <p:nvSpPr>
          <p:cNvPr id="20" name="Text 17"/>
          <p:cNvSpPr/>
          <p:nvPr/>
        </p:nvSpPr>
        <p:spPr>
          <a:xfrm>
            <a:off x="3328142" y="6012180"/>
            <a:ext cx="84551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040" dirty="0"/>
          </a:p>
        </p:txBody>
      </p:sp>
      <p:sp>
        <p:nvSpPr>
          <p:cNvPr id="21" name="Text 18"/>
          <p:cNvSpPr/>
          <p:nvPr/>
        </p:nvSpPr>
        <p:spPr>
          <a:xfrm>
            <a:off x="914400" y="6400800"/>
            <a:ext cx="390640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我们做了什么？</a:t>
            </a:r>
            <a:endParaRPr lang="en-US" sz="1452" dirty="0"/>
          </a:p>
        </p:txBody>
      </p:sp>
      <p:sp>
        <p:nvSpPr>
          <p:cNvPr id="22" name="Shape 19"/>
          <p:cNvSpPr/>
          <p:nvPr/>
        </p:nvSpPr>
        <p:spPr>
          <a:xfrm>
            <a:off x="5064679" y="5814030"/>
            <a:ext cx="4158051" cy="1714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64679" y="5814030"/>
            <a:ext cx="11593" cy="171450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07579" y="5960654"/>
            <a:ext cx="57790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spc="-96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</a:t>
            </a:r>
            <a:endParaRPr lang="en-US" sz="3840" dirty="0"/>
          </a:p>
        </p:txBody>
      </p:sp>
      <p:sp>
        <p:nvSpPr>
          <p:cNvPr id="25" name="Text 22"/>
          <p:cNvSpPr/>
          <p:nvPr/>
        </p:nvSpPr>
        <p:spPr>
          <a:xfrm>
            <a:off x="5407579" y="6661724"/>
            <a:ext cx="57790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spc="-96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</a:t>
            </a:r>
            <a:endParaRPr lang="en-US" sz="3840" dirty="0"/>
          </a:p>
        </p:txBody>
      </p:sp>
      <p:sp>
        <p:nvSpPr>
          <p:cNvPr id="26" name="Text 23"/>
          <p:cNvSpPr/>
          <p:nvPr/>
        </p:nvSpPr>
        <p:spPr>
          <a:xfrm>
            <a:off x="6254679" y="6151031"/>
            <a:ext cx="292717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生成→安全→执行→修复</a:t>
            </a:r>
            <a:endParaRPr lang="en-US" sz="2040" dirty="0"/>
          </a:p>
        </p:txBody>
      </p:sp>
      <p:sp>
        <p:nvSpPr>
          <p:cNvPr id="27" name="Text 24"/>
          <p:cNvSpPr/>
          <p:nvPr/>
        </p:nvSpPr>
        <p:spPr>
          <a:xfrm>
            <a:off x="6254679" y="6461927"/>
            <a:ext cx="86484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→评测</a:t>
            </a:r>
            <a:endParaRPr lang="en-US" sz="2040" dirty="0"/>
          </a:p>
        </p:txBody>
      </p:sp>
      <p:sp>
        <p:nvSpPr>
          <p:cNvPr id="28" name="Text 25"/>
          <p:cNvSpPr/>
          <p:nvPr/>
        </p:nvSpPr>
        <p:spPr>
          <a:xfrm>
            <a:off x="5407579" y="7277070"/>
            <a:ext cx="390659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核心价值？</a:t>
            </a:r>
            <a:endParaRPr lang="en-US" sz="1452" dirty="0"/>
          </a:p>
        </p:txBody>
      </p:sp>
      <p:sp>
        <p:nvSpPr>
          <p:cNvPr id="29" name="Shape 26"/>
          <p:cNvSpPr/>
          <p:nvPr/>
        </p:nvSpPr>
        <p:spPr>
          <a:xfrm>
            <a:off x="9557949" y="5814030"/>
            <a:ext cx="4158051" cy="1714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57949" y="5814030"/>
            <a:ext cx="11593" cy="171450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00849" y="5837690"/>
            <a:ext cx="1589593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spc="-96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3840" dirty="0"/>
          </a:p>
        </p:txBody>
      </p:sp>
      <p:sp>
        <p:nvSpPr>
          <p:cNvPr id="32" name="Text 29"/>
          <p:cNvSpPr/>
          <p:nvPr/>
        </p:nvSpPr>
        <p:spPr>
          <a:xfrm>
            <a:off x="11459992" y="6012180"/>
            <a:ext cx="4470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</a:t>
            </a:r>
            <a:endParaRPr lang="en-US" sz="2040" dirty="0"/>
          </a:p>
        </p:txBody>
      </p:sp>
      <p:sp>
        <p:nvSpPr>
          <p:cNvPr id="33" name="Text 30"/>
          <p:cNvSpPr/>
          <p:nvPr/>
        </p:nvSpPr>
        <p:spPr>
          <a:xfrm>
            <a:off x="9900849" y="6400800"/>
            <a:ext cx="390659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如何证明？100 题 · ECO-SQL V1.1</a:t>
            </a:r>
            <a:endParaRPr lang="en-US" sz="14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9784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8223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THANKS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2940589" y="72009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谢谢聆听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69166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</a:t>
            </a:r>
            <a:endParaRPr lang="en-US" sz="5520" dirty="0"/>
          </a:p>
        </p:txBody>
      </p:sp>
      <p:sp>
        <p:nvSpPr>
          <p:cNvPr id="10" name="Text 8"/>
          <p:cNvSpPr/>
          <p:nvPr/>
        </p:nvSpPr>
        <p:spPr>
          <a:xfrm>
            <a:off x="914400" y="2219248"/>
            <a:ext cx="4637562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THANK</a:t>
            </a:r>
            <a:endParaRPr lang="en-US" sz="5520" dirty="0"/>
          </a:p>
        </p:txBody>
      </p:sp>
      <p:sp>
        <p:nvSpPr>
          <p:cNvPr id="11" name="Text 9"/>
          <p:cNvSpPr/>
          <p:nvPr/>
        </p:nvSpPr>
        <p:spPr>
          <a:xfrm>
            <a:off x="914400" y="2989904"/>
            <a:ext cx="174869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5520" dirty="0"/>
          </a:p>
        </p:txBody>
      </p:sp>
      <p:sp>
        <p:nvSpPr>
          <p:cNvPr id="12" name="Text 10"/>
          <p:cNvSpPr/>
          <p:nvPr/>
        </p:nvSpPr>
        <p:spPr>
          <a:xfrm>
            <a:off x="2571659" y="2969331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</a:t>
            </a:r>
            <a:endParaRPr lang="en-US" sz="5520" dirty="0"/>
          </a:p>
        </p:txBody>
      </p:sp>
      <p:sp>
        <p:nvSpPr>
          <p:cNvPr id="13" name="Text 11"/>
          <p:cNvSpPr/>
          <p:nvPr/>
        </p:nvSpPr>
        <p:spPr>
          <a:xfrm>
            <a:off x="3258739" y="2969331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5520" dirty="0"/>
          </a:p>
        </p:txBody>
      </p:sp>
      <p:sp>
        <p:nvSpPr>
          <p:cNvPr id="14" name="Text 12"/>
          <p:cNvSpPr/>
          <p:nvPr/>
        </p:nvSpPr>
        <p:spPr>
          <a:xfrm>
            <a:off x="3945819" y="2969331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endParaRPr lang="en-US" sz="5520" dirty="0"/>
          </a:p>
        </p:txBody>
      </p:sp>
      <p:sp>
        <p:nvSpPr>
          <p:cNvPr id="15" name="Text 13"/>
          <p:cNvSpPr/>
          <p:nvPr/>
        </p:nvSpPr>
        <p:spPr>
          <a:xfrm>
            <a:off x="4632990" y="2969331"/>
            <a:ext cx="146550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指正</a:t>
            </a:r>
            <a:endParaRPr lang="en-US" sz="5520" dirty="0"/>
          </a:p>
        </p:txBody>
      </p:sp>
      <p:sp>
        <p:nvSpPr>
          <p:cNvPr id="16" name="Text 14"/>
          <p:cNvSpPr/>
          <p:nvPr/>
        </p:nvSpPr>
        <p:spPr>
          <a:xfrm>
            <a:off x="914400" y="3964747"/>
            <a:ext cx="5416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Text2SQL 的电商智能数据分析 Agent —— 课程项目最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914400" y="4273357"/>
            <a:ext cx="7086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终答辩</a:t>
            </a:r>
            <a:endParaRPr lang="en-US" sz="1620" dirty="0"/>
          </a:p>
        </p:txBody>
      </p:sp>
      <p:sp>
        <p:nvSpPr>
          <p:cNvPr id="18" name="Shape 16"/>
          <p:cNvSpPr/>
          <p:nvPr/>
        </p:nvSpPr>
        <p:spPr>
          <a:xfrm>
            <a:off x="914400" y="7124730"/>
            <a:ext cx="6413327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7269480"/>
            <a:ext cx="1464225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报告人：何钊新</a:t>
            </a:r>
            <a:endParaRPr lang="en-US" sz="1518" dirty="0"/>
          </a:p>
        </p:txBody>
      </p:sp>
      <p:sp>
        <p:nvSpPr>
          <p:cNvPr id="20" name="Text 18"/>
          <p:cNvSpPr/>
          <p:nvPr/>
        </p:nvSpPr>
        <p:spPr>
          <a:xfrm>
            <a:off x="2603571" y="7269480"/>
            <a:ext cx="216749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数据科学与大数据技术</a:t>
            </a:r>
            <a:endParaRPr lang="en-US" sz="1518" dirty="0"/>
          </a:p>
        </p:txBody>
      </p:sp>
      <p:sp>
        <p:nvSpPr>
          <p:cNvPr id="21" name="Text 19"/>
          <p:cNvSpPr/>
          <p:nvPr/>
        </p:nvSpPr>
        <p:spPr>
          <a:xfrm>
            <a:off x="4872838" y="7269480"/>
            <a:ext cx="148889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年 9 月</a:t>
            </a:r>
            <a:endParaRPr lang="en-US" sz="1518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">
            <a:off x="1219170" y="4114800"/>
            <a:ext cx="1600200" cy="16002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937266" y="1463040"/>
            <a:ext cx="5778734" cy="6065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37266" y="1463040"/>
            <a:ext cx="11593" cy="60654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71606" y="2388138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数据来源</a:t>
            </a:r>
            <a:endParaRPr lang="en-US" sz="1584" dirty="0"/>
          </a:p>
        </p:txBody>
      </p:sp>
      <p:sp>
        <p:nvSpPr>
          <p:cNvPr id="26" name="Text 23"/>
          <p:cNvSpPr/>
          <p:nvPr/>
        </p:nvSpPr>
        <p:spPr>
          <a:xfrm>
            <a:off x="8371606" y="2952049"/>
            <a:ext cx="75700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1386" dirty="0"/>
          </a:p>
        </p:txBody>
      </p:sp>
      <p:sp>
        <p:nvSpPr>
          <p:cNvPr id="27" name="Text 24"/>
          <p:cNvSpPr/>
          <p:nvPr/>
        </p:nvSpPr>
        <p:spPr>
          <a:xfrm>
            <a:off x="8371606" y="3195919"/>
            <a:ext cx="115797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386" dirty="0"/>
          </a:p>
        </p:txBody>
      </p:sp>
      <p:sp>
        <p:nvSpPr>
          <p:cNvPr id="28" name="Text 25"/>
          <p:cNvSpPr/>
          <p:nvPr/>
        </p:nvSpPr>
        <p:spPr>
          <a:xfrm>
            <a:off x="9423166" y="2982498"/>
            <a:ext cx="336133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reports/eval/clean_baseline_v1_1</a:t>
            </a:r>
            <a:endParaRPr lang="en-US" sz="1440" dirty="0"/>
          </a:p>
        </p:txBody>
      </p:sp>
      <p:sp>
        <p:nvSpPr>
          <p:cNvPr id="29" name="Shape 26"/>
          <p:cNvSpPr/>
          <p:nvPr/>
        </p:nvSpPr>
        <p:spPr>
          <a:xfrm>
            <a:off x="8371606" y="3561679"/>
            <a:ext cx="5344394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71606" y="3561679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71606" y="3691158"/>
            <a:ext cx="81333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冻结</a:t>
            </a:r>
            <a:endParaRPr lang="en-US" sz="1386" dirty="0"/>
          </a:p>
        </p:txBody>
      </p:sp>
      <p:sp>
        <p:nvSpPr>
          <p:cNvPr id="32" name="Text 29"/>
          <p:cNvSpPr/>
          <p:nvPr/>
        </p:nvSpPr>
        <p:spPr>
          <a:xfrm>
            <a:off x="9423166" y="3721699"/>
            <a:ext cx="344180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reports/eval/E3_FINAL_FREEZE.md</a:t>
            </a:r>
            <a:endParaRPr lang="en-US" sz="1440" dirty="0"/>
          </a:p>
        </p:txBody>
      </p:sp>
      <p:sp>
        <p:nvSpPr>
          <p:cNvPr id="33" name="Shape 30"/>
          <p:cNvSpPr/>
          <p:nvPr/>
        </p:nvSpPr>
        <p:spPr>
          <a:xfrm>
            <a:off x="8371606" y="4078224"/>
            <a:ext cx="5344394" cy="7391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71606" y="4078224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1606" y="4207794"/>
            <a:ext cx="8486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验收与缺</a:t>
            </a:r>
            <a:endParaRPr lang="en-US" sz="1386" dirty="0"/>
          </a:p>
        </p:txBody>
      </p:sp>
      <p:sp>
        <p:nvSpPr>
          <p:cNvPr id="36" name="Text 33"/>
          <p:cNvSpPr/>
          <p:nvPr/>
        </p:nvSpPr>
        <p:spPr>
          <a:xfrm>
            <a:off x="8371606" y="4451665"/>
            <a:ext cx="27870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口</a:t>
            </a:r>
            <a:endParaRPr lang="en-US" sz="1386" dirty="0"/>
          </a:p>
        </p:txBody>
      </p:sp>
      <p:sp>
        <p:nvSpPr>
          <p:cNvPr id="37" name="Text 34"/>
          <p:cNvSpPr/>
          <p:nvPr/>
        </p:nvSpPr>
        <p:spPr>
          <a:xfrm>
            <a:off x="9423166" y="4238244"/>
            <a:ext cx="322051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FINAL_ACCEPTANCE / GAP_CHECK</a:t>
            </a:r>
            <a:endParaRPr lang="en-US" sz="1440" dirty="0"/>
          </a:p>
        </p:txBody>
      </p:sp>
      <p:sp>
        <p:nvSpPr>
          <p:cNvPr id="38" name="Shape 35"/>
          <p:cNvSpPr/>
          <p:nvPr/>
        </p:nvSpPr>
        <p:spPr>
          <a:xfrm>
            <a:off x="8371606" y="5046025"/>
            <a:ext cx="5344394" cy="155749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71606" y="5046025"/>
            <a:ext cx="5344394" cy="23186"/>
          </a:xfrm>
          <a:prstGeom prst="rect">
            <a:avLst/>
          </a:prstGeom>
          <a:solidFill>
            <a:srgbClr val="2742EC"/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71606" y="5244084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说明</a:t>
            </a:r>
            <a:endParaRPr lang="en-US" sz="1584" dirty="0"/>
          </a:p>
        </p:txBody>
      </p:sp>
      <p:sp>
        <p:nvSpPr>
          <p:cNvPr id="41" name="Text 38"/>
          <p:cNvSpPr/>
          <p:nvPr/>
        </p:nvSpPr>
        <p:spPr>
          <a:xfrm>
            <a:off x="8371606" y="5617525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42" name="Text 39"/>
          <p:cNvSpPr/>
          <p:nvPr/>
        </p:nvSpPr>
        <p:spPr>
          <a:xfrm>
            <a:off x="8713683" y="5655564"/>
            <a:ext cx="271028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API Key 不出现于任何文档</a:t>
            </a:r>
            <a:endParaRPr lang="en-US" sz="1440" dirty="0"/>
          </a:p>
        </p:txBody>
      </p:sp>
      <p:sp>
        <p:nvSpPr>
          <p:cNvPr id="43" name="Text 40"/>
          <p:cNvSpPr/>
          <p:nvPr/>
        </p:nvSpPr>
        <p:spPr>
          <a:xfrm>
            <a:off x="8371606" y="5974050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84" dirty="0"/>
          </a:p>
        </p:txBody>
      </p:sp>
      <p:sp>
        <p:nvSpPr>
          <p:cNvPr id="44" name="Text 41"/>
          <p:cNvSpPr/>
          <p:nvPr/>
        </p:nvSpPr>
        <p:spPr>
          <a:xfrm>
            <a:off x="8713683" y="6012180"/>
            <a:ext cx="225856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 为机制验证·非全局增益</a:t>
            </a:r>
            <a:endParaRPr lang="en-US" sz="1440" dirty="0"/>
          </a:p>
        </p:txBody>
      </p:sp>
      <p:sp>
        <p:nvSpPr>
          <p:cNvPr id="45" name="Text 42"/>
          <p:cNvSpPr/>
          <p:nvPr/>
        </p:nvSpPr>
        <p:spPr>
          <a:xfrm>
            <a:off x="8371606" y="6330666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84" dirty="0"/>
          </a:p>
        </p:txBody>
      </p:sp>
      <p:sp>
        <p:nvSpPr>
          <p:cNvPr id="46" name="Text 43"/>
          <p:cNvSpPr/>
          <p:nvPr/>
        </p:nvSpPr>
        <p:spPr>
          <a:xfrm>
            <a:off x="8713683" y="6368796"/>
            <a:ext cx="19202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未实现能力已如实披露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基于Text2SQL的电商智能数据分析Agent</dc:title>
  <dc:subject>Editable PPTX export</dc:subject>
  <dc:creator>Dashi PPT</dc:creator>
  <cp:lastModifiedBy>Dashi PPT</cp:lastModifiedBy>
  <cp:revision>1</cp:revision>
  <dcterms:created xsi:type="dcterms:W3CDTF">2026-09-17T08:26:05Z</dcterms:created>
  <dcterms:modified xsi:type="dcterms:W3CDTF">2026-09-17T08:26:05Z</dcterms:modified>
</cp:coreProperties>
</file>